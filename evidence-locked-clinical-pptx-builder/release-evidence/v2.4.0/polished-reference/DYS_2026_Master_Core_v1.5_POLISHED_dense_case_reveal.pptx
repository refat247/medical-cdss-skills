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Lst>
  <p:notesMasterIdLst>
    <p:notesMasterId r:id="rId19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notesMaster" Target="notesMasters/notesMaster1.xml"/><Relationship Id="rId196" Type="http://schemas.openxmlformats.org/officeDocument/2006/relationships/presProps" Target="presProps.xml"/><Relationship Id="rId197" Type="http://schemas.openxmlformats.org/officeDocument/2006/relationships/viewProps" Target="viewProps.xml"/><Relationship Id="rId198" Type="http://schemas.openxmlformats.org/officeDocument/2006/relationships/theme" Target="theme/theme1.xml"/><Relationship Id="rId19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DYS_CASE_001
ROLE: CASE_DECIDE
PROMPT: An adult presents for lipid screening. At what age and interval should lipid screening occur, and when is more frequent screening indicated?
FULL_EXPECTED_ANSWER: In adults, screening with a lipid profile is recommended beginning at age 19 y and at least every 5 y thereafter to identify treatable ASCVD risk, with frequent screening recommended for individuals with additional ASCVD risk factors.
SOURCE_PROVENANCE: PDF p11/e1164 §3.1 recommendation 1
SOURCE_IDS: SOURCE_A
DECISION_NODE_IDS: DN_3_1_R01
COR/LOE: 1/B-NR
THRESHOLD_TIMING_DOSE: 19 y; 5 y
TERMINOLOGY: pediatric
EVIDENCE_STATUS: SOURCE_LOCKED_AUDITED; AUDIT_STATUS: PASS
REVEAL_PART: N/A
TEACHING_RULE: Preserve all source qualifiers. Do not introduce outside clinical knowledge.
---
CASE_ID: DYS_CASE_002
ROLE: CASE_DECIDE
PROMPT: Consider children 9 to 11 y of age not previously tested. What lipid screening is indicated?
FULL_EXPECTED_ANSWER: In children 9 to 11 y of age not previously tested, it is recommended to screen with a lipid profile to identify familial hypercholesterolemia (FH) and other significant lipid disorders.
SOURCE_PROVENANCE: PDF p11/e1164 §3.1 recommendation 2
SOURCE_IDS: SOURCE_A
DECISION_NODE_IDS: DN_3_1_R02
COR/LOE: 1/B-NR
THRESHOLD_TIMING_DOSE: 9 to 11 y
TERMINOLOGY: pediatric
EVIDENCE_STATUS: SOURCE_LOCKED_AUDITED; AUDIT_STATUS: PASS
REVEAL_PART: N/A
TEACHING_RULE: Preserve all source qualifiers. Do not introduce outside clinical knowledge.
---
CASE_ID: DYS_CASE_003
ROLE: CASE_DECIDE
PROMPT: Consider individuals with first- or second-degree relatives with premature ASCVD, severe hypercholesterolemia, or FH. When and how should relatives be screened for FH?
FULL_EXPECTED_ANSWER: In individuals with first- or second-degree relatives with premature ASCVD, severe hypercholesterolemia, or FH, it is reasonable to perform screening with a single lipid profile (eg, cascade screening) starting at ≥2 y of age to identify FH.
SOURCE_PROVENANCE: PDF p11/e1164 §3.1 recommendation 3
SOURCE_IDS: SOURCE_A
DECISION_NODE_IDS: DN_3_1_R03
COR/LOE: 2a/B-NR
THRESHOLD_TIMING_DOSE: ≥2 y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DYS_CASE_001
ROLE: SOURCE_REVEAL
PROMPT: An adult presents for lipid screening. At what age and interval should lipid screening occur, and when is more frequent screening indicated?
FULL_EXPECTED_ANSWER: In adults, screening with a lipid profile is recommended beginning at age 19 y and at least every 5 y thereafter to identify treatable ASCVD risk, with frequent screening recommended for individuals with additional ASCVD risk factors.
SOURCE_PROVENANCE: PDF p11/e1164 §3.1 recommendation 1
SOURCE_IDS: SOURCE_A
DECISION_NODE_IDS: DN_3_1_R01
COR/LOE: 1/B-NR
THRESHOLD_TIMING_DOSE: 19 y; 5 y
TERMINOLOGY: pediatric
EVIDENCE_STATUS: SOURCE_LOCKED_AUDITED; AUDIT_STATUS: PASS
REVEAL_PART: N/A
TEACHING_RULE: Preserve all source qualifiers. Do not introduce outside clinical knowledge.
---
CASE_ID: DYS_CASE_002
ROLE: SOURCE_REVEAL
PROMPT: Consider children 9 to 11 y of age not previously tested. What lipid screening is indicated?
FULL_EXPECTED_ANSWER: In children 9 to 11 y of age not previously tested, it is recommended to screen with a lipid profile to identify familial hypercholesterolemia (FH) and other significant lipid disorders.
SOURCE_PROVENANCE: PDF p11/e1164 §3.1 recommendation 2
SOURCE_IDS: SOURCE_A
DECISION_NODE_IDS: DN_3_1_R02
COR/LOE: 1/B-NR
THRESHOLD_TIMING_DOSE: 9 to 11 y
TERMINOLOGY: pediatric
EVIDENCE_STATUS: SOURCE_LOCKED_AUDITED; AUDIT_STATUS: PASS
REVEAL_PART: N/A
TEACHING_RULE: Preserve all source qualifiers. Do not introduce outside clinical knowledge.
---
CASE_ID: DYS_CASE_003
ROLE: SOURCE_REVEAL
PROMPT: Consider individuals with first- or second-degree relatives with premature ASCVD, severe hypercholesterolemia, or FH. When and how should relatives be screened for FH?
FULL_EXPECTED_ANSWER: In individuals with first- or second-degree relatives with premature ASCVD, severe hypercholesterolemia, or FH, it is reasonable to perform screening with a single lipid profile (eg, cascade screening) starting at ≥2 y of age to identify FH.
SOURCE_PROVENANCE: PDF p11/e1164 §3.1 recommendation 3
SOURCE_IDS: SOURCE_A
DECISION_NODE_IDS: DN_3_1_R03
COR/LOE: 2a/B-NR
THRESHOLD_TIMING_DOSE: ≥2 y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DYS_CASE_162
ROLE: CASE_DECIDE
PROMPT: A child is undergoing routine lipid screening. Which lipid tests does the guideline use, and is apoB part of routine pediatric screening?
FULL_EXPECTED_ANSWER: ApoB measurement is not part of routine pediatric lipid screening; pediatric screening can use nonfasting TC/HDL-C to calculate non-HDL-C or a fasting lipid profile.
SOURCE_PROVENANCE: §3.1 supportive text, PDF p12/e1165
SOURCE_IDS: SOURCE_A
DECISION_NODE_IDS: DN_3_1_PED_APOB_NOT_ROUTINE
COR/LOE: N/A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DYS_CASE_162
ROLE: SOURCE_REVEAL
PROMPT: A child is undergoing routine lipid screening. Which lipid tests does the guideline use, and is apoB part of routine pediatric screening?
FULL_EXPECTED_ANSWER: ApoB measurement is not part of routine pediatric lipid screening; pediatric screening can use nonfasting TC/HDL-C to calculate non-HDL-C or a fasting lipid profile.
SOURCE_PROVENANCE: §3.1 supportive text, PDF p12/e1165
SOURCE_IDS: SOURCE_A
DECISION_NODE_IDS: DN_3_1_PED_APOB_NOT_ROUTINE
COR/LOE: N/A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DYS_CASE_004
ROLE: CASE_DECIDE
PROMPT: An adult or child needs a baseline lipid assessment. Which lipid profile is appropriate, and what clinical decisions should it support?
FULL_EXPECTED_ANSWER: In adults and children, a standard nonfasting or fasting lipid profile is recommended to document baseline lipid levels, estimate ASCVD risk, and guide initiation of LLT.
SOURCE_PROVENANCE: PDF p13/e1166 §3.2 recommendation 1
SOURCE_IDS: SOURCE_A
DECISION_NODE_IDS: DN_3_2_R01
COR/LOE: 1/B-NR
THRESHOLD_TIMING_DOSE: N/A
TERMINOLOGY: pediatric
EVIDENCE_STATUS: SOURCE_LOCKED_AUDITED; AUDIT_STATUS: PASS
REVEAL_PART: N/A
TEACHING_RULE: Preserve all source qualifiers. Do not introduce outside clinical knowledge.
---
CASE_ID: DYS_CASE_005
ROLE: CASE_DECIDE
PROMPT: Consider adults and children with a family history of dyslipidemia or premature ASCVD, a personally known or suspected disorder in TG metabolism, or whose nonfasting lipid profile reveals a TG level ≥400 mg/dL (≥4.5 mmol/L). When is a fasting lipid profile indicated?
FULL_EXPECTED_ANSWER: In adults and children with a family history of dyslipidemia or premature ASCVD, a personally known or suspected disorder in TG metabolism, or whose nonfasting lipid profile reveals a TG level ≥400 mg/dL (≥4.5 mmol/L), a fasting lipid profile should be performed to more accurately estimate the LDL-C level.
SOURCE_PROVENANCE: PDF p13/e1166 §3.2 recommendation 2
SOURCE_IDS: SOURCE_A
DECISION_NODE_IDS: DN_3_2_R02
COR/LOE: 1/B-NR
THRESHOLD_TIMING_DOSE: ≥400 mg/dL; ≥4.5 mmol/L
TERMINOLOGY: pediatric
EVIDENCE_STATUS: SOURCE_LOCKED_AUDITED; AUDIT_STATUS: PASS
REVEAL_PART: N/A
TEACHING_RULE: Preserve all source qualifiers. Do not introduce outside clinical knowledge.
---
CASE_ID: DYS_CASE_006
ROLE: CASE_DECIDE
PROMPT: An adult or child has a standard lipid profile and needs an LDL-C estimate. How do the Martin/Hopkins and Sampson/NIH equations compare with Friedewald calculation for this decision?
FULL_EXPECTED_ANSWER: In adults and children who have undergone a standard lipid profile, use of either the Martin/Hopkins equation or the Sampson/National Institutes of Health (NIH) equation is preferred over calculation by the Friedewald equation to estimate LDL-C.
SOURCE_PROVENANCE: PDF p13/e1166 §3.2 recommendation 3
SOURCE_IDS: SOURCE_A
DECISION_NODE_IDS: DN_3_2_R03
COR/LOE: 1/B-NR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DYS_CASE_004
ROLE: SOURCE_REVEAL
PROMPT: An adult or child needs a baseline lipid assessment. Which lipid profile is appropriate, and what clinical decisions should it support?
FULL_EXPECTED_ANSWER: In adults and children, a standard nonfasting or fasting lipid profile is recommended to document baseline lipid levels, estimate ASCVD risk, and guide initiation of LLT.
SOURCE_PROVENANCE: PDF p13/e1166 §3.2 recommendation 1
SOURCE_IDS: SOURCE_A
DECISION_NODE_IDS: DN_3_2_R01
COR/LOE: 1/B-NR
THRESHOLD_TIMING_DOSE: N/A
TERMINOLOGY: pediatric
EVIDENCE_STATUS: SOURCE_LOCKED_AUDITED; AUDIT_STATUS: PASS
REVEAL_PART: N/A
TEACHING_RULE: Preserve all source qualifiers. Do not introduce outside clinical knowledge.
---
CASE_ID: DYS_CASE_005
ROLE: SOURCE_REVEAL
PROMPT: Consider adults and children with a family history of dyslipidemia or premature ASCVD, a personally known or suspected disorder in TG metabolism, or whose nonfasting lipid profile reveals a TG level ≥400 mg/dL (≥4.5 mmol/L). When is a fasting lipid profile indicated?
FULL_EXPECTED_ANSWER: In adults and children with a family history of dyslipidemia or premature ASCVD, a personally known or suspected disorder in TG metabolism, or whose nonfasting lipid profile reveals a TG level ≥400 mg/dL (≥4.5 mmol/L), a fasting lipid profile should be performed to more accurately estimate the LDL-C level.
SOURCE_PROVENANCE: PDF p13/e1166 §3.2 recommendation 2
SOURCE_IDS: SOURCE_A
DECISION_NODE_IDS: DN_3_2_R02
COR/LOE: 1/B-NR
THRESHOLD_TIMING_DOSE: ≥400 mg/dL; ≥4.5 mmol/L
TERMINOLOGY: pediatric
EVIDENCE_STATUS: SOURCE_LOCKED_AUDITED; AUDIT_STATUS: PASS
REVEAL_PART: N/A
TEACHING_RULE: Preserve all source qualifiers. Do not introduce outside clinical knowledge.
---
CASE_ID: DYS_CASE_006
ROLE: SOURCE_REVEAL
PROMPT: An adult or child has a standard lipid profile and needs an LDL-C estimate. How do the Martin/Hopkins and Sampson/NIH equations compare with Friedewald calculation for this decision?
FULL_EXPECTED_ANSWER: In adults and children who have undergone a standard lipid profile, use of either the Martin/Hopkins equation or the Sampson/National Institutes of Health (NIH) equation is preferred over calculation by the Friedewald equation to estimate LDL-C.
SOURCE_PROVENANCE: PDF p13/e1166 §3.2 recommendation 3
SOURCE_IDS: SOURCE_A
DECISION_NODE_IDS: DN_3_2_R03
COR/LOE: 1/B-NR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DYS_CASE_007
ROLE: CASE_DECIDE
PROMPT: An adult or child has a standard lipid profile and needs an LDL-C estimate. How do the Martin/Hopkins and Sampson/NIH equations compare with direct LDL-C measurement other than beta-quantification?
FULL_EXPECTED_ANSWER: In adults and children who have undergone a standard lipid profile, use of either the Martin/Hopkins equation or Sampson/NIH equation is preferred over direct LDL-C measurement (other than by beta-quantification) to estimate LDL-C.
SOURCE_PROVENANCE: PDF p13/e1166 §3.2 recommendation 4
SOURCE_IDS: SOURCE_A
DECISION_NODE_IDS: DN_3_2_R04
COR/LOE: 1/B-NR
THRESHOLD_TIMING_DOSE: N/A
TERMINOLOGY: pediatric
EVIDENCE_STATUS: SOURCE_LOCKED_AUDITED; AUDIT_STATUS: PASS
REVEAL_PART: N/A
TEACHING_RULE: Preserve all source qualifiers. Do not introduce outside clinical knowledge.
---
CASE_ID: DYS_CASE_008
ROLE: CASE_DECIDE
PROMPT: Consider adults and children who have undergone a standard lipid profile. What role does non–HDL-C reporting have after a standard lipid profile?
FULL_EXPECTED_ANSWER: In adults and children who have undergone a standard lipid profile, reporting of non–HDL-C is recommended for ASCVD risk assessment and to guide initiation and monitoring of LLT.
SOURCE_PROVENANCE: PDF p13/e1166 §3.2 recommendation 5
SOURCE_IDS: SOURCE_A
DECISION_NODE_IDS: DN_3_2_R05
COR/LOE: 1/B-NR
THRESHOLD_TIMING_DOSE: N/A
TERMINOLOGY: pediatric
EVIDENCE_STATUS: SOURCE_LOCKED_AUDITED; AUDIT_STATUS: PASS
REVEAL_PART: N/A
TEACHING_RULE: Preserve all source qualifiers. Do not introduce outside clinical knowledge.
---
CASE_ID: DYS_CASE_009
ROLE: CASE_DECIDE
PROMPT: Consider adults and children. Should advanced lipoprotein testing be used routinely for ASCVD risk assessment?
FULL_EXPECTED_ANSWER: In adults and children, routine advanced lipoprotein testing (eg, gradient gel electrophoresis, density gradient ultracentrifugation, nuclear magnetic resonance spectroscopy, ion mobility analysis) to assess lipoprotein subclasses and parameters such as LDL particle size is not recommended to estimate ASCVD risk and guide initiation of LLT.
SOURCE_PROVENANCE: PDF p13/e1166 §3.2 recommendation 6
SOURCE_IDS: SOURCE_A
DECISION_NODE_IDS: DN_3_2_R06
COR/LOE: 3: No Benefit/B-NR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DYS_CASE_007
ROLE: SOURCE_REVEAL
PROMPT: An adult or child has a standard lipid profile and needs an LDL-C estimate. How do the Martin/Hopkins and Sampson/NIH equations compare with direct LDL-C measurement other than beta-quantification?
FULL_EXPECTED_ANSWER: In adults and children who have undergone a standard lipid profile, use of either the Martin/Hopkins equation or Sampson/NIH equation is preferred over direct LDL-C measurement (other than by beta-quantification) to estimate LDL-C.
SOURCE_PROVENANCE: PDF p13/e1166 §3.2 recommendation 4
SOURCE_IDS: SOURCE_A
DECISION_NODE_IDS: DN_3_2_R04
COR/LOE: 1/B-NR
THRESHOLD_TIMING_DOSE: N/A
TERMINOLOGY: pediatric
EVIDENCE_STATUS: SOURCE_LOCKED_AUDITED; AUDIT_STATUS: PASS
REVEAL_PART: N/A
TEACHING_RULE: Preserve all source qualifiers. Do not introduce outside clinical knowledge.
---
CASE_ID: DYS_CASE_008
ROLE: SOURCE_REVEAL
PROMPT: Consider adults and children who have undergone a standard lipid profile. What role does non–HDL-C reporting have after a standard lipid profile?
FULL_EXPECTED_ANSWER: In adults and children who have undergone a standard lipid profile, reporting of non–HDL-C is recommended for ASCVD risk assessment and to guide initiation and monitoring of LLT.
SOURCE_PROVENANCE: PDF p13/e1166 §3.2 recommendation 5
SOURCE_IDS: SOURCE_A
DECISION_NODE_IDS: DN_3_2_R05
COR/LOE: 1/B-NR
THRESHOLD_TIMING_DOSE: N/A
TERMINOLOGY: pediatric
EVIDENCE_STATUS: SOURCE_LOCKED_AUDITED; AUDIT_STATUS: PASS
REVEAL_PART: N/A
TEACHING_RULE: Preserve all source qualifiers. Do not introduce outside clinical knowledge.
---
CASE_ID: DYS_CASE_009
ROLE: SOURCE_REVEAL
PROMPT: Consider adults and children. Should advanced lipoprotein testing be used routinely for ASCVD risk assessment?
FULL_EXPECTED_ANSWER: In adults and children, routine advanced lipoprotein testing (eg, gradient gel electrophoresis, density gradient ultracentrifugation, nuclear magnetic resonance spectroscopy, ion mobility analysis) to assess lipoprotein subclasses and parameters such as LDL particle size is not recommended to estimate ASCVD risk and guide initiation of LLT.
SOURCE_PROVENANCE: PDF p13/e1166 §3.2 recommendation 6
SOURCE_IDS: SOURCE_A
DECISION_NODE_IDS: DN_3_2_R06
COR/LOE: 3: No Benefit/B-NR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DYS_CASE_010
ROLE: CASE_DECIDE
PROMPT: An adult on LLT, particularly with ASCVD, CKM syndrome, type 2 diabetes, and/or elevated TG, has achieved LDL-C and/or non–HDL-C goals. What role does apoB measurement have in deciding on further treatment intensification?
FULL_EXPECTED_ANSWER: In adults on LLT, particularly those with ASCVD, CKM syndrome, type 2 diabetes, and/or elevated TG, measurement of apoB is reasonable to guide decisions regarding further therapeutic intensification once LDL-C and/or non–HDL-C goals are achieved.
SOURCE_PROVENANCE: PDF p14/e1167 §3.3 recommendation 1
SOURCE_IDS: SOURCE_A
DECISION_NODE_IDS: DN_3_3_R01
COR/LOE: 2a/B-NR
THRESHOLD_TIMING_DOSE: N/A
TERMINOLOGY: ASCVD
EVIDENCE_STATUS: SOURCE_LOCKED_AUDITED; AUDIT_STATUS: PASS
REVEAL_PART: N/A
TEACHING_RULE: Preserve all source qualifiers. Do not introduce outside clinical knowledge.
---
CASE_ID: DYS_CASE_011
ROLE: CASE_DECIDE
PROMPT: An adult not taking LLT needs ASCVD risk assessment. What role, if any, does apoB measurement have in risk assessment and treatment decisions?
FULL_EXPECTED_ANSWER: In adults not on LLT, measurement of apoB may be reasonable to enhance ASCVD risk assessment, guide decisions about initiation of LLT, and characterize inherited lipid disorders.
SOURCE_PROVENANCE: PDF p14/e1167 §3.3 recommendation 2
SOURCE_IDS: SOURCE_A
DECISION_NODE_IDS: DN_3_3_R02
COR/LOE: 2b/B-NR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DYS_CASE_010
ROLE: SOURCE_REVEAL
PROMPT: An adult on LLT, particularly with ASCVD, CKM syndrome, type 2 diabetes, and/or elevated TG, has achieved LDL-C and/or non–HDL-C goals. What role does apoB measurement have in deciding on further treatment intensification?
FULL_EXPECTED_ANSWER: In adults on LLT, particularly those with ASCVD, CKM syndrome, type 2 diabetes, and/or elevated TG, measurement of apoB is reasonable to guide decisions regarding further therapeutic intensification once LDL-C and/or non–HDL-C goals are achieved.
SOURCE_PROVENANCE: PDF p14/e1167 §3.3 recommendation 1
SOURCE_IDS: SOURCE_A
DECISION_NODE_IDS: DN_3_3_R01
COR/LOE: 2a/B-NR
THRESHOLD_TIMING_DOSE: N/A
TERMINOLOGY: ASCVD
EVIDENCE_STATUS: SOURCE_LOCKED_AUDITED; AUDIT_STATUS: PASS
REVEAL_PART: N/A
TEACHING_RULE: Preserve all source qualifiers. Do not introduce outside clinical knowledge.
---
CASE_ID: DYS_CASE_011
ROLE: SOURCE_REVEAL
PROMPT: An adult not taking LLT needs ASCVD risk assessment. What role, if any, does apoB measurement have in risk assessment and treatment decisions?
FULL_EXPECTED_ANSWER: In adults not on LLT, measurement of apoB may be reasonable to enhance ASCVD risk assessment, guide decisions about initiation of LLT, and characterize inherited lipid disorders.
SOURCE_PROVENANCE: PDF p14/e1167 §3.3 recommendation 2
SOURCE_IDS: SOURCE_A
DECISION_NODE_IDS: DN_3_3_R02
COR/LOE: 2b/B-NR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DYS_CASE_012
ROLE: CASE_DECIDE
PROMPT: An adult is undergoing ASCVD risk assessment with Lp(a) testing under consideration. What Lp(a) testing and fasting decisions apply?
FULL_EXPECTED_ANSWER: In all adults, measurement of Lp(a) concentration is recommended at least once for ASCVD risk assessment. || Fasting is not required for Lp(a) testing.
SOURCE_PROVENANCE: PDF p15/e1168 §3.4 recommendation 1; §3.4 supportive text, PDF p16/e1169
SOURCE_IDS: SOURCE_A
DECISION_NODE_IDS: DN_3_4_R01;DN_3_4_LPA_NO_FASTING
COR/LOE: 1/B-NR
THRESHOLD_TIMING_DOSE: N/A
TERMINOLOGY: ASCVD / Lp(a)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DYS_CASE_012
ROLE: SOURCE_REVEAL
PROMPT: An adult is undergoing ASCVD risk assessment with Lp(a) testing under consideration. What Lp(a) testing and fasting decisions apply?
FULL_EXPECTED_ANSWER: In all adults, measurement of Lp(a) concentration is recommended at least once for ASCVD risk assessment. || Fasting is not required for Lp(a) testing.
SOURCE_PROVENANCE: PDF p15/e1168 §3.4 recommendation 1; §3.4 supportive text, PDF p16/e1169
SOURCE_IDS: SOURCE_A
DECISION_NODE_IDS: DN_3_4_R01;DN_3_4_LPA_NO_FASTING
COR/LOE: 1/B-NR
THRESHOLD_TIMING_DOSE: N/A
TERMINOLOGY: ASCVD / Lp(a)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DYS_CASE_012
ROLE: SOURCE_REVEAL
PROMPT: An adult is undergoing ASCVD risk assessment with Lp(a) testing under consideration. What Lp(a) testing and fasting decisions apply?
FULL_EXPECTED_ANSWER: In all adults, measurement of Lp(a) concentration is recommended at least once for ASCVD risk assessment. || Fasting is not required for Lp(a) testing.
SOURCE_PROVENANCE: PDF p15/e1168 §3.4 recommendation 1; §3.4 supportive text, PDF p16/e1169
SOURCE_IDS: SOURCE_A
DECISION_NODE_IDS: DN_3_4_R01;DN_3_4_LPA_NO_FASTING
COR/LOE: 1/B-NR
THRESHOLD_TIMING_DOSE: N/A
TERMINOLOGY: ASCVD / Lp(a)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DYS_CASE_013
ROLE: CASE_DECIDE
PROMPT: Consider individuals with FH, premature ASCVD, or high Lp(a). What family screening for elevated Lp(a) is indicated?
FULL_EXPECTED_ANSWER: In individuals with FH, premature ASCVD, or high Lp(a), cascade testing of first-degree family members for high Lp(a) concentration is recommended to identify those at increased ASCVD risk.
SOURCE_PROVENANCE: PDF p15/e1168 §3.4 recommendation 2
SOURCE_IDS: SOURCE_A
DECISION_NODE_IDS: DN_3_4_R02
COR/LOE: 1/B-NR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DYS_CASE_013
ROLE: SOURCE_REVEAL
PROMPT: Consider individuals with FH, premature ASCVD, or high Lp(a). What family screening for elevated Lp(a) is indicated?
FULL_EXPECTED_ANSWER: In individuals with FH, premature ASCVD, or high Lp(a), cascade testing of first-degree family members for high Lp(a) concentration is recommended to identify those at increased ASCVD risk.
SOURCE_PROVENANCE: PDF p15/e1168 §3.4 recommendation 2
SOURCE_IDS: SOURCE_A
DECISION_NODE_IDS: DN_3_4_R02
COR/LOE: 1/B-NR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DYS_CASE_014
ROLE: CASE_DECIDE
PROMPT: An individual is undergoing Lp(a) assessment. Which assay characteristics matter, and what role does genetic testing have?
FULL_EXPECTED_ANSWER: For individuals undergoing measurement of Lp(a), use of laboratories employing assays that are insensitive to apolipoprotein(a) [apo(a)] isoforms and traceable to official reference standard materials is recommended to more accurately measure Lp(a) and characterize ASCVD risk. || Genetic testing for Lp(a) is not advised for clinical purposes because measured Lp(a) concentration is sufficient for ASCVD risk assessment.
SOURCE_PROVENANCE: PDF p15/e1168 §3.4 recommendation 3; §3.4 supportive text, PDF p16/e1169
SOURCE_IDS: SOURCE_A
DECISION_NODE_IDS: DN_3_4_R03;DN_3_4_LPA_GENETIC_NOT_ADVISED
COR/LOE: 1/B-NR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DYS_CASE_014
ROLE: SOURCE_REVEAL
PROMPT: An individual is undergoing Lp(a) assessment. Which assay characteristics matter, and what role does genetic testing have?
FULL_EXPECTED_ANSWER: For individuals undergoing measurement of Lp(a), use of laboratories employing assays that are insensitive to apolipoprotein(a) [apo(a)] isoforms and traceable to official reference standard materials is recommended to more accurately measure Lp(a) and characterize ASCVD risk. || Genetic testing for Lp(a) is not advised for clinical purposes because measured Lp(a) concentration is sufficient for ASCVD risk assessment.
SOURCE_PROVENANCE: PDF p15/e1168 §3.4 recommendation 3; §3.4 supportive text, PDF p16/e1169
SOURCE_IDS: SOURCE_A
DECISION_NODE_IDS: DN_3_4_R03;DN_3_4_LPA_GENETIC_NOT_ADVISED
COR/LOE: 1/B-NR
THRESHOLD_TIMING_DOSE: N/A
TERMINOLOGY: ASCVD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DYS_CASE_014
ROLE: SOURCE_REVEAL
PROMPT: An individual is undergoing Lp(a) assessment. Which assay characteristics matter, and what role does genetic testing have?
FULL_EXPECTED_ANSWER: For individuals undergoing measurement of Lp(a), use of laboratories employing assays that are insensitive to apolipoprotein(a) [apo(a)] isoforms and traceable to official reference standard materials is recommended to more accurately measure Lp(a) and characterize ASCVD risk. || Genetic testing for Lp(a) is not advised for clinical purposes because measured Lp(a) concentration is sufficient for ASCVD risk assessment.
SOURCE_PROVENANCE: PDF p15/e1168 §3.4 recommendation 3; §3.4 supportive text, PDF p16/e1169
SOURCE_IDS: SOURCE_A
DECISION_NODE_IDS: DN_3_4_R03;DN_3_4_LPA_GENETIC_NOT_ADVISED
COR/LOE: 1/B-NR
THRESHOLD_TIMING_DOSE: N/A
TERMINOLOGY: ASCVD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DYS_CASE_015
ROLE: CASE_DECIDE
PROMPT: An individual on lipid-lowering therapy has recently started treatment or had a dose adjustment. When should lipid profiles be checked to assess efficacy and adherence?
FULL_EXPECTED_ANSWER: In individuals on LLT, clinicians should perform a lipid profile 4 to 12 wk after initiation or dose adjustment and every 6 to 12 mo thereafter to assess efficacy and adherence to LLTs.
SOURCE_PROVENANCE: PDF p16/e1169 §3.5 recommendation 1
SOURCE_IDS: SOURCE_A
DECISION_NODE_IDS: DN_3_5_R01
COR/LOE: 1/A
THRESHOLD_TIMING_DOSE: 4 to 12 wk; 6 to 12 mo
TERMINOLOGY: 3.5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DYS_CASE_015
ROLE: SOURCE_REVEAL
PROMPT: An individual on lipid-lowering therapy has recently started treatment or had a dose adjustment. When should lipid profiles be checked to assess efficacy and adherence?
FULL_EXPECTED_ANSWER: In individuals on LLT, clinicians should perform a lipid profile 4 to 12 wk after initiation or dose adjustment and every 6 to 12 mo thereafter to assess efficacy and adherence to LLTs.
SOURCE_PROVENANCE: PDF p16/e1169 §3.5 recommendation 1
SOURCE_IDS: SOURCE_A
DECISION_NODE_IDS: DN_3_5_R01
COR/LOE: 1/A
THRESHOLD_TIMING_DOSE: 4 to 12 wk; 6 to 12 mo
TERMINOLOGY: 3.5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DYS_CASE_016
ROLE: CASE_DECIDE
PROMPT: Consider children and healthy adults. Which lifelong health behaviors should be addressed?
FULL_EXPECTED_ANSWER: In children and healthy adults, healthy dietary patterns, regular physical activity, maintenance of a healthy weight, healthy sleep, stress management, and avoidance of tobacco products should be promoted and reinforced lifelong to reduce the risk for dyslipidemia and ASCVD.
SOURCE_PROVENANCE: PDF p18/e1171 §4.1.1 recommendation 1
SOURCE_IDS: SOURCE_A
DECISION_NODE_IDS: DN_4_1_1_R01
COR/LOE: 1/A
THRESHOLD_TIMING_DOSE: N/A
TERMINOLOGY: pediatric
EVIDENCE_STATUS: SOURCE_LOCKED_AUDITED; AUDIT_STATUS: PASS
REVEAL_PART: N/A
TEACHING_RULE: Preserve all source qualifiers. Do not introduce outside clinical knowledge.
---
CASE_ID: DYS_CASE_017
ROLE: CASE_DECIDE
PROMPT: Consider adults and children with or without ASCVD. What dietary pattern should be addressed?
FULL_EXPECTED_ANSWER: In adults and children with or without ASCVD, a diet emphasizing intake of fruits, vegetables, nuts, legumes, whole grains, and fiber, while replacing saturated and trans fats with dietary monounsaturated and polyunsaturated fats, is recommended to decrease LDL-C levels and reduce ASCVD risk.
SOURCE_PROVENANCE: PDF p18/e1171 §4.1.2.1 recommendation 1
SOURCE_IDS: SOURCE_A
DECISION_NODE_IDS: DN_4_1_2_1_R01
COR/LOE: 1/B-R
THRESHOLD_TIMING_DOSE: N/A
TERMINOLOGY: pediatric
EVIDENCE_STATUS: SOURCE_LOCKED_AUDITED; AUDIT_STATUS: PASS
REVEAL_PART: N/A
TEACHING_RULE: Preserve all source qualifiers. Do not introduce outside clinical knowledge.
---
CASE_ID: DYS_CASE_018
ROLE: CASE_DECIDE
PROMPT: Consider adults with fasting TG levels of 150 to 499 mg/dL (1.7–5.6 mmol/L). What dietary approach applies to this TG range?
FULL_EXPECTED_ANSWER: In adults with fasting TG levels of 150 to 499 mg/dL (1.7–5.6 mmol/L), a diet that is low in added sugar, refined carbohydrates, and saturated fat, and that minimizes alcohol (Figure 2) is beneficial to reduce TG and ASCVD risk.
SOURCE_PROVENANCE: PDF p19/e1172 §4.1.2.2 recommendation 1
SOURCE_IDS: SOURCE_A
DECISION_NODE_IDS: DN_4_1_2_2_R01
COR/LOE: 1/A
THRESHOLD_TIMING_DOSE: 150 to 499 mg/dL; 1.7–5.6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DYS_CASE_016
ROLE: SOURCE_REVEAL
PROMPT: Consider children and healthy adults. Which lifelong health behaviors should be addressed?
FULL_EXPECTED_ANSWER: In children and healthy adults, healthy dietary patterns, regular physical activity, maintenance of a healthy weight, healthy sleep, stress management, and avoidance of tobacco products should be promoted and reinforced lifelong to reduce the risk for dyslipidemia and ASCVD.
SOURCE_PROVENANCE: PDF p18/e1171 §4.1.1 recommendation 1
SOURCE_IDS: SOURCE_A
DECISION_NODE_IDS: DN_4_1_1_R01
COR/LOE: 1/A
THRESHOLD_TIMING_DOSE: N/A
TERMINOLOGY: pediatric
EVIDENCE_STATUS: SOURCE_LOCKED_AUDITED; AUDIT_STATUS: PASS
REVEAL_PART: N/A
TEACHING_RULE: Preserve all source qualifiers. Do not introduce outside clinical knowledge.
---
CASE_ID: DYS_CASE_017
ROLE: SOURCE_REVEAL
PROMPT: Consider adults and children with or without ASCVD. What dietary pattern should be addressed?
FULL_EXPECTED_ANSWER: In adults and children with or without ASCVD, a diet emphasizing intake of fruits, vegetables, nuts, legumes, whole grains, and fiber, while replacing saturated and trans fats with dietary monounsaturated and polyunsaturated fats, is recommended to decrease LDL-C levels and reduce ASCVD risk.
SOURCE_PROVENANCE: PDF p18/e1171 §4.1.2.1 recommendation 1
SOURCE_IDS: SOURCE_A
DECISION_NODE_IDS: DN_4_1_2_1_R01
COR/LOE: 1/B-R
THRESHOLD_TIMING_DOSE: N/A
TERMINOLOGY: pediatric
EVIDENCE_STATUS: SOURCE_LOCKED_AUDITED; AUDIT_STATUS: PASS
REVEAL_PART: N/A
TEACHING_RULE: Preserve all source qualifiers. Do not introduce outside clinical knowledge.
---
CASE_ID: DYS_CASE_018
ROLE: SOURCE_REVEAL
PROMPT: Consider adults with fasting TG levels of 150 to 499 mg/dL (1.7–5.6 mmol/L). What dietary approach applies to this TG range?
FULL_EXPECTED_ANSWER: In adults with fasting TG levels of 150 to 499 mg/dL (1.7–5.6 mmol/L), a diet that is low in added sugar, refined carbohydrates, and saturated fat, and that minimizes alcohol (Figure 2) is beneficial to reduce TG and ASCVD risk.
SOURCE_PROVENANCE: PDF p19/e1172 §4.1.2.2 recommendation 1
SOURCE_IDS: SOURCE_A
DECISION_NODE_IDS: DN_4_1_2_2_R01
COR/LOE: 1/A
THRESHOLD_TIMING_DOSE: 150 to 499 mg/dL; 1.7–5.6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DYS_CASE_019
ROLE: CASE_DECIDE
PROMPT: Consider adults with fasting TG levels of 500 to 999 mg/dL (5.7–11.3 mmol/L). What dietary approach applies to this TG range?
FULL_EXPECTED_ANSWER: In adults with fasting TG levels of 500 to 999 mg/dL (5.7–11.3 mmol/L), a diet that is low in added sugar, refined carbohydrates, and saturated fat, with no alcohol and individualized limitation of total fat (Figure 2) is beneficial to reduce TG for the reduction of ASCVD risk and risk of pancreatitis.
SOURCE_PROVENANCE: PDF p20/e1173 §4.1.2.2 recommendation 2
SOURCE_IDS: SOURCE_A
DECISION_NODE_IDS: DN_4_1_2_2_R02
COR/LOE: 1/B-NR
THRESHOLD_TIMING_DOSE: 500 to 999 mg/dL; 5.7–11.3 mmol/L
TERMINOLOGY: hypertriglyceridemia
EVIDENCE_STATUS: SOURCE_LOCKED_AUDITED; AUDIT_STATUS: PASS
REVEAL_PART: N/A
TEACHING_RULE: Preserve all source qualifiers. Do not introduce outside clinical knowledge.
---
CASE_ID: DYS_CASE_020
ROLE: CASE_DECIDE
PROMPT: Consider adults with fasting TG levels of ≥1000 mg/dL (11.3 mmol/L). What dietary approach applies to this TG range?
FULL_EXPECTED_ANSWER: In adults with fasting TG levels of ≥1000 mg/dL (11.3 mmol/L), a diet that is very low in total fat and refined carbohydrates, with elimination of alcohol and added sugars (Figure 2) is beneficial to reduce TG and risk for pancreatitis.
SOURCE_PROVENANCE: PDF p20/e1173 §4.1.2.2 recommendation 3
SOURCE_IDS: SOURCE_A
DECISION_NODE_IDS: DN_4_1_2_2_R03
COR/LOE: 1/B-NR
THRESHOLD_TIMING_DOSE: ≥1000 mg; 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DYS_CASE_019
ROLE: SOURCE_REVEAL
PROMPT: Consider adults with fasting TG levels of 500 to 999 mg/dL (5.7–11.3 mmol/L). What dietary approach applies to this TG range?
FULL_EXPECTED_ANSWER: In adults with fasting TG levels of 500 to 999 mg/dL (5.7–11.3 mmol/L), a diet that is low in added sugar, refined carbohydrates, and saturated fat, with no alcohol and individualized limitation of total fat (Figure 2) is beneficial to reduce TG for the reduction of ASCVD risk and risk of pancreatitis.
SOURCE_PROVENANCE: PDF p20/e1173 §4.1.2.2 recommendation 2
SOURCE_IDS: SOURCE_A
DECISION_NODE_IDS: DN_4_1_2_2_R02
COR/LOE: 1/B-NR
THRESHOLD_TIMING_DOSE: 500 to 999 mg/dL; 5.7–11.3 mmol/L
TERMINOLOGY: hypertriglyceridemia
EVIDENCE_STATUS: SOURCE_LOCKED_AUDITED; AUDIT_STATUS: PASS
REVEAL_PART: N/A
TEACHING_RULE: Preserve all source qualifiers. Do not introduce outside clinical knowledge.
---
CASE_ID: DYS_CASE_020
ROLE: SOURCE_REVEAL
PROMPT: Consider adults with fasting TG levels of ≥1000 mg/dL (11.3 mmol/L). What dietary approach applies to this TG range?
FULL_EXPECTED_ANSWER: In adults with fasting TG levels of ≥1000 mg/dL (11.3 mmol/L), a diet that is very low in total fat and refined carbohydrates, with elimination of alcohol and added sugars (Figure 2) is beneficial to reduce TG and risk for pancreatitis.
SOURCE_PROVENANCE: PDF p20/e1173 §4.1.2.2 recommendation 3
SOURCE_IDS: SOURCE_A
DECISION_NODE_IDS: DN_4_1_2_2_R03
COR/LOE: 1/B-NR
THRESHOLD_TIMING_DOSE: ≥1000 mg; 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DYS_CASE_021
ROLE: CASE_DECIDE
PROMPT: An adult has fasting TG ≥150 mg/dL (1.7 mmol/L) or nonfasting TG ≥175 mg/dL (2 mmol/L), with overweight/obesity or CKM-related lifestyle factors. Which lifestyle and physical-activity measures reduce TG?
FULL_EXPECTED_ANSWER: In adults with fasting TG levels ≥150 mg/dL (1.7 mmol/L) or nonfasting TG levels ≥175 mg/dL (2 mmol/L), improvement in lifestyle factors related to overweight/obesity and CKM syndrome, weight loss of 5% to 10%, moderate-to-vigorous intensity physical activity of ≥150 min/wk, and upper and lower body resistance exercise 2 d/wk (Figure 2) are beneficial to reduce TG.
SOURCE_PROVENANCE: PDF p20/e1173 §4.1.2.2 recommendation 4
SOURCE_IDS: SOURCE_A
DECISION_NODE_IDS: DN_4_1_2_2_R04
COR/LOE: 1/B-NR
THRESHOLD_TIMING_DOSE: ≥150 mg/dL; 1.7 mmol/L; ≥175 mg; 2 mmol/L; 5%; 10%; ≥150 min/wk; 2 d/wk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DYS_CASE_021
ROLE: SOURCE_REVEAL
PROMPT: An adult has fasting TG ≥150 mg/dL (1.7 mmol/L) or nonfasting TG ≥175 mg/dL (2 mmol/L), with overweight/obesity or CKM-related lifestyle factors. Which lifestyle and physical-activity measures reduce TG?
FULL_EXPECTED_ANSWER: In adults with fasting TG levels ≥150 mg/dL (1.7 mmol/L) or nonfasting TG levels ≥175 mg/dL (2 mmol/L), improvement in lifestyle factors related to overweight/obesity and CKM syndrome, weight loss of 5% to 10%, moderate-to-vigorous intensity physical activity of ≥150 min/wk, and upper and lower body resistance exercise 2 d/wk (Figure 2) are beneficial to reduce TG.
SOURCE_PROVENANCE: PDF p20/e1173 §4.1.2.2 recommendation 4
SOURCE_IDS: SOURCE_A
DECISION_NODE_IDS: DN_4_1_2_2_R04
COR/LOE: 1/B-NR
THRESHOLD_TIMING_DOSE: ≥150 mg/dL; 1.7 mmol/L; ≥175 mg; 2 mmol/L; 5%; 10%; ≥150 min/wk; 2 d/wk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DYS_CASE_022
ROLE: CASE_DECIDE
PROMPT: Consider individuals with overweight or obesity and dyslipidemia. What weight-management approach applies?
FULL_EXPECTED_ANSWER: In individuals with overweight or obesity and dyslipidemia, counseling and treatment to achieve weight reduction and maintenance of a healthy weight are recommended to improve dyslipidemia.
SOURCE_PROVENANCE: PDF p21/e1174 §4.1.3 recommendation 1
SOURCE_IDS: SOURCE_A
DECISION_NODE_IDS: DN_4_1_3_R01
COR/LOE: 1/B-NR
THRESHOLD_TIMING_DOSE: N/A
TERMINOLOGY: 4.1.3
EVIDENCE_STATUS: SOURCE_LOCKED_AUDITED; AUDIT_STATUS: PASS
REVEAL_PART: N/A
TEACHING_RULE: Preserve all source qualifiers. Do not introduce outside clinical knowledge.
---
CASE_ID: DYS_CASE_023
ROLE: CASE_DECIDE
PROMPT: An individual with dyslipidemia is discussing a physical activity program. What physical activity approach applies?
FULL_EXPECTED_ANSWER: In individuals with dyslipidemia, regular physical activity that includes moderate-to-vigorous intensity aerobic exercise for ≥150 min/wk along with upper and lower body resistance exercise 2 d/wk should be recommended as part of a program to improve blood lipids and cardiovascular health.
SOURCE_PROVENANCE: PDF p21/e1174 §4.1.4 recommendation 1
SOURCE_IDS: SOURCE_A
DECISION_NODE_IDS: DN_4_1_4_R01
COR/LOE: 1/B-R
THRESHOLD_TIMING_DOSE: ≥150 min/wk; 2 d/wk
TERMINOLOGY: 4.1.4
EVIDENCE_STATUS: SOURCE_LOCKED_AUDITED; AUDIT_STATUS: PASS
REVEAL_PART: N/A
TEACHING_RULE: Preserve all source qualifiers. Do not introduce outside clinical knowledge.
---
CASE_ID: DYS_CASE_024
ROLE: CASE_DECIDE
PROMPT: An individual with dyslipidemia is considering a dietary supplement to lower LDL-C or TG. Should dietary supplements be used for that purpose?
FULL_EXPECTED_ANSWER: In individuals with dyslipidemia, the use of dietary supplements is not recommended to lower LDL-C or TG based on limited and inconsistent data and/or limited benefits in lipid-lowering and reduction in ASCVD risk.
SOURCE_PROVENANCE: PDF p22/e1175 §4.1.5 recommendation 1
SOURCE_IDS: SOURCE_A
DECISION_NODE_IDS: DN_4_1_5_R01
COR/LOE: 3: No Benefit/B-R
THRESHOLD_TIMING_DOSE: N/A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DYS_CASE_022
ROLE: SOURCE_REVEAL
PROMPT: Consider individuals with overweight or obesity and dyslipidemia. What weight-management approach applies?
FULL_EXPECTED_ANSWER: In individuals with overweight or obesity and dyslipidemia, counseling and treatment to achieve weight reduction and maintenance of a healthy weight are recommended to improve dyslipidemia.
SOURCE_PROVENANCE: PDF p21/e1174 §4.1.3 recommendation 1
SOURCE_IDS: SOURCE_A
DECISION_NODE_IDS: DN_4_1_3_R01
COR/LOE: 1/B-NR
THRESHOLD_TIMING_DOSE: N/A
TERMINOLOGY: 4.1.3
EVIDENCE_STATUS: SOURCE_LOCKED_AUDITED; AUDIT_STATUS: PASS
REVEAL_PART: N/A
TEACHING_RULE: Preserve all source qualifiers. Do not introduce outside clinical knowledge.
---
CASE_ID: DYS_CASE_023
ROLE: SOURCE_REVEAL
PROMPT: An individual with dyslipidemia is discussing a physical activity program. What physical activity approach applies?
FULL_EXPECTED_ANSWER: In individuals with dyslipidemia, regular physical activity that includes moderate-to-vigorous intensity aerobic exercise for ≥150 min/wk along with upper and lower body resistance exercise 2 d/wk should be recommended as part of a program to improve blood lipids and cardiovascular health.
SOURCE_PROVENANCE: PDF p21/e1174 §4.1.4 recommendation 1
SOURCE_IDS: SOURCE_A
DECISION_NODE_IDS: DN_4_1_4_R01
COR/LOE: 1/B-R
THRESHOLD_TIMING_DOSE: ≥150 min/wk; 2 d/wk
TERMINOLOGY: 4.1.4
EVIDENCE_STATUS: SOURCE_LOCKED_AUDITED; AUDIT_STATUS: PASS
REVEAL_PART: N/A
TEACHING_RULE: Preserve all source qualifiers. Do not introduce outside clinical knowledge.
---
CASE_ID: DYS_CASE_024
ROLE: SOURCE_REVEAL
PROMPT: An individual with dyslipidemia is considering a dietary supplement to lower LDL-C or TG. Should dietary supplements be used for that purpose?
FULL_EXPECTED_ANSWER: In individuals with dyslipidemia, the use of dietary supplements is not recommended to lower LDL-C or TG based on limited and inconsistent data and/or limited benefits in lipid-lowering and reduction in ASCVD risk.
SOURCE_PROVENANCE: PDF p22/e1175 §4.1.5 recommendation 1
SOURCE_IDS: SOURCE_A
DECISION_NODE_IDS: DN_4_1_5_R01
COR/LOE: 3: No Benefit/B-R
THRESHOLD_TIMING_DOSE: N/A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DYS_CASE_025
ROLE: CASE_DECIDE
PROMPT: Consider individuals with fasting TG ≥1000 mg/dL (11.3 mmol/L). What nutrition referral, if any, applies?
FULL_EXPECTED_ANSWER: In individuals with fasting TG ≥1000 mg/dL (11.3 mmol/L), referral to an RDN is recommended to create an individualized treatment plan aimed at reducing TG and the risk of pancreatitis.
SOURCE_PROVENANCE: PDF p23/e1176 §4.1.6 recommendation 1
SOURCE_IDS: SOURCE_A
DECISION_NODE_IDS: DN_4_1_6_R01
COR/LOE: 1/B-NR
THRESHOLD_TIMING_DOSE: ≥1000 mg/dL; 11.3 mmol/L
TERMINOLOGY: hypertriglyceridemia
EVIDENCE_STATUS: SOURCE_LOCKED_AUDITED; AUDIT_STATUS: PASS
REVEAL_PART: N/A
TEACHING_RULE: Preserve all source qualifiers. Do not introduce outside clinical knowledge.
---
CASE_ID: DYS_CASE_026
ROLE: CASE_DECIDE
PROMPT: Consider individuals with fasting TG ≥150 to 999 mg/dL (≥1.7–11.3 mmol/L) and features of the CKM syndrome. What nutrition referral, if any, applies?
FULL_EXPECTED_ANSWER: In individuals with fasting TG ≥150 to 999 mg/dL (≥1.7–11.3 mmol/L) and features of the CKM syndrome, referral to an RDN to provide counseling on evidence-based dietary patterns can be beneficial to improve lipoprotein levels and reduce the risk of pancreatitis.
SOURCE_PROVENANCE: PDF p23/e1176 §4.1.6 recommendation 2
SOURCE_IDS: SOURCE_A
DECISION_NODE_IDS: DN_4_1_6_R02
COR/LOE: 2a/B-NR
THRESHOLD_TIMING_DOSE: ≥150 to 999 mg; ≥1.7–11.3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DYS_CASE_025
ROLE: SOURCE_REVEAL
PROMPT: Consider individuals with fasting TG ≥1000 mg/dL (11.3 mmol/L). What nutrition referral, if any, applies?
FULL_EXPECTED_ANSWER: In individuals with fasting TG ≥1000 mg/dL (11.3 mmol/L), referral to an RDN is recommended to create an individualized treatment plan aimed at reducing TG and the risk of pancreatitis.
SOURCE_PROVENANCE: PDF p23/e1176 §4.1.6 recommendation 1
SOURCE_IDS: SOURCE_A
DECISION_NODE_IDS: DN_4_1_6_R01
COR/LOE: 1/B-NR
THRESHOLD_TIMING_DOSE: ≥1000 mg/dL; 11.3 mmol/L
TERMINOLOGY: hypertriglyceridemia
EVIDENCE_STATUS: SOURCE_LOCKED_AUDITED; AUDIT_STATUS: PASS
REVEAL_PART: N/A
TEACHING_RULE: Preserve all source qualifiers. Do not introduce outside clinical knowledge.
---
CASE_ID: DYS_CASE_026
ROLE: SOURCE_REVEAL
PROMPT: Consider individuals with fasting TG ≥150 to 999 mg/dL (≥1.7–11.3 mmol/L) and features of the CKM syndrome. What nutrition referral, if any, applies?
FULL_EXPECTED_ANSWER: In individuals with fasting TG ≥150 to 999 mg/dL (≥1.7–11.3 mmol/L) and features of the CKM syndrome, referral to an RDN to provide counseling on evidence-based dietary patterns can be beneficial to improve lipoprotein levels and reduce the risk of pancreatitis.
SOURCE_PROVENANCE: PDF p23/e1176 §4.1.6 recommendation 2
SOURCE_IDS: SOURCE_A
DECISION_NODE_IDS: DN_4_1_6_R02
COR/LOE: 2a/B-NR
THRESHOLD_TIMING_DOSE: ≥150 to 999 mg; ≥1.7–11.3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DYS_CASE_134
ROLE: CASE_DECIDE
PROMPT: You are choosing statin therapy. What statin dose ranges, schedules, and intensity framework apply?
FULL_EXPECTED_ANSWER: Use source-listed statin dose ranges and once-/twice-daily schedules; statins are described as first-line for ASCVD risk reduction in nearly all patients, with expected LDL-C reduction 18%-55%. || Choose source-listed statin doses according to intended LDL-C reduction: high intensity ≥50%, moderate 30%-49%, low &lt;30%.
SOURCE_PROVENANCE: Table 5, PDF p24/e1177; Table 6, PDF p27/e1180
SOURCE_IDS: SOURCE_A
DECISION_NODE_IDS: DN_T5_STATINS;DN_T6_STATIN_INTENSITY
COR/LOE: N/A
THRESHOLD_TIMING_DOSE: Atorvastatin 10–80; fluvastatin 20–80; lovastatin 10–80; pitavastatin 1–4; pravastatin 10–80; rosuvastatin 5–40; simvastatin 5–40 mg; high ≥50%; moderate 30%-49%; low &lt;30%
TERMINOLOGY: ASCVD / TREATMENT_TABLE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DYS_CASE_134
ROLE: SOURCE_REVEAL
PROMPT: You are choosing statin therapy. What statin dose ranges, schedules, and intensity framework apply?
FULL_EXPECTED_ANSWER: Use source-listed statin dose ranges and once-/twice-daily schedules; statins are described as first-line for ASCVD risk reduction in nearly all patients, with expected LDL-C reduction 18%-55%. || Choose source-listed statin doses according to intended LDL-C reduction: high intensity ≥50%, moderate 30%-49%, low &lt;30%.
SOURCE_PROVENANCE: Table 5, PDF p24/e1177; Table 6, PDF p27/e1180
SOURCE_IDS: SOURCE_A
DECISION_NODE_IDS: DN_T5_STATINS;DN_T6_STATIN_INTENSITY
COR/LOE: N/A
THRESHOLD_TIMING_DOSE: Atorvastatin 10–80; fluvastatin 20–80; lovastatin 10–80; pitavastatin 1–4; pravastatin 10–80; rosuvastatin 5–40; simvastatin 5–40 mg; high ≥50%; moderate 30%-49%; low &lt;30%
TERMINOLOGY: ASCVD / TREATMENT_TABLE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DYS_CASE_134
ROLE: SOURCE_REVEAL
PROMPT: You are choosing statin therapy. What statin dose ranges, schedules, and intensity framework apply?
FULL_EXPECTED_ANSWER: Use source-listed statin dose ranges and once-/twice-daily schedules; statins are described as first-line for ASCVD risk reduction in nearly all patients, with expected LDL-C reduction 18%-55%. || Choose source-listed statin doses according to intended LDL-C reduction: high intensity ≥50%, moderate 30%-49%, low &lt;30%.
SOURCE_PROVENANCE: Table 5, PDF p24/e1177; Table 6, PDF p27/e1180
SOURCE_IDS: SOURCE_A
DECISION_NODE_IDS: DN_T5_STATINS;DN_T6_STATIN_INTENSITY
COR/LOE: N/A
THRESHOLD_TIMING_DOSE: Atorvastatin 10–80; fluvastatin 20–80; lovastatin 10–80; pitavastatin 1–4; pravastatin 10–80; rosuvastatin 5–40; simvastatin 5–40 mg; high ≥50%; moderate 30%-49%; low &lt;30%
TERMINOLOGY: ASCVD / TREATMENT_TABLE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DYS_CASE_135
ROLE: CASE_DECIDE
PROMPT: You are using ezetimibe in a guideline-supported pathway. What dose and approximate LDL-C reduction apply?
FULL_EXPECTED_ANSWER: Ezetimibe is listed at 10 mg once daily, with expected LDL-C reduction about 18% as monotherapy and about 25% incremental when combined with statin therapy.
SOURCE_PROVENANCE: Table 5, PDF p24/e1177
SOURCE_IDS: SOURCE_A
DECISION_NODE_IDS: DN_T5_EZETIMIBE
COR/LOE: N/A
THRESHOLD_TIMING_DOSE: 10 mg once daily; ~18% monotherapy; ~25% incremental
TERMINOLOGY: MEDICATION_TABLE
EVIDENCE_STATUS: SOURCE_LOCKED_AUDITED; AUDIT_STATUS: PASS
REVEAL_PART: N/A
TEACHING_RULE: Preserve all source qualifiers. Do not introduce outside clinical knowledge.
---
CASE_ID: DYS_CASE_136
ROLE: CASE_DECIDE
PROMPT: You are selecting a PCSK9 monoclonal antibody. What alirocumab/evolocumab schedules and approximate LDL-C reduction apply?
FULL_EXPECTED_ANSWER: Source-listed PCSK9 monoclonal antibody dosing: alirocumab 75–150 mg every 2 weeks or 300 mg every 4 weeks; evolocumab 140 mg every 2 weeks; expected LDL-C reduction 45%-64%.
SOURCE_PROVENANCE: Table 5, PDF p24/e1177
SOURCE_IDS: SOURCE_A
DECISION_NODE_IDS: DN_T5_PCSK9_MAB
COR/LOE: N/A
THRESHOLD_TIMING_DOSE: alirocumab 75–150 mg q2wk or 300 mg q4wk; evolocumab 140 mg q2wk
TERMINOLOGY: MEDICATION_TABLE
EVIDENCE_STATUS: SOURCE_LOCKED_AUDITED; AUDIT_STATUS: PASS
REVEAL_PART: N/A
TEACHING_RULE: Preserve all source qualifiers. Do not introduce outside clinical knowledge.
---
CASE_ID: DYS_CASE_137
ROLE: CASE_DECIDE
PROMPT: You are considering bempedoic acid. What dose and LDL-C reduction ranges apply?
FULL_EXPECTED_ANSWER: Bempedoic acid is listed at 180 mg once daily; expected LDL-C reduction 21%-24% as monotherapy in statin-attributed side effects and 17%-18% incremental with a statin.
SOURCE_PROVENANCE: Table 5, PDF p24/e1177
SOURCE_IDS: SOURCE_A
DECISION_NODE_IDS: DN_T5_BEMPEDOIC
COR/LOE: N/A
THRESHOLD_TIMING_DOSE: 180 mg once daily
TERMINOLOGY: MEDICATION_TABLE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DYS_CASE_135
ROLE: SOURCE_REVEAL
PROMPT: You are using ezetimibe in a guideline-supported pathway. What dose and approximate LDL-C reduction apply?
FULL_EXPECTED_ANSWER: Ezetimibe is listed at 10 mg once daily, with expected LDL-C reduction about 18% as monotherapy and about 25% incremental when combined with statin therapy.
SOURCE_PROVENANCE: Table 5, PDF p24/e1177
SOURCE_IDS: SOURCE_A
DECISION_NODE_IDS: DN_T5_EZETIMIBE
COR/LOE: N/A
THRESHOLD_TIMING_DOSE: 10 mg once daily; ~18% monotherapy; ~25% incremental
TERMINOLOGY: MEDICATION_TABLE
EVIDENCE_STATUS: SOURCE_LOCKED_AUDITED; AUDIT_STATUS: PASS
REVEAL_PART: N/A
TEACHING_RULE: Preserve all source qualifiers. Do not introduce outside clinical knowledge.
---
CASE_ID: DYS_CASE_136
ROLE: SOURCE_REVEAL
PROMPT: You are selecting a PCSK9 monoclonal antibody. What alirocumab/evolocumab schedules and approximate LDL-C reduction apply?
FULL_EXPECTED_ANSWER: Source-listed PCSK9 monoclonal antibody dosing: alirocumab 75–150 mg every 2 weeks or 300 mg every 4 weeks; evolocumab 140 mg every 2 weeks; expected LDL-C reduction 45%-64%.
SOURCE_PROVENANCE: Table 5, PDF p24/e1177
SOURCE_IDS: SOURCE_A
DECISION_NODE_IDS: DN_T5_PCSK9_MAB
COR/LOE: N/A
THRESHOLD_TIMING_DOSE: alirocumab 75–150 mg q2wk or 300 mg q4wk; evolocumab 140 mg q2wk
TERMINOLOGY: MEDICATION_TABLE
EVIDENCE_STATUS: SOURCE_LOCKED_AUDITED; AUDIT_STATUS: PASS
REVEAL_PART: N/A
TEACHING_RULE: Preserve all source qualifiers. Do not introduce outside clinical knowledge.
---
CASE_ID: DYS_CASE_137
ROLE: SOURCE_REVEAL
PROMPT: You are considering bempedoic acid. What dose and LDL-C reduction ranges apply?
FULL_EXPECTED_ANSWER: Bempedoic acid is listed at 180 mg once daily; expected LDL-C reduction 21%-24% as monotherapy in statin-attributed side effects and 17%-18% incremental with a statin.
SOURCE_PROVENANCE: Table 5, PDF p24/e1177
SOURCE_IDS: SOURCE_A
DECISION_NODE_IDS: DN_T5_BEMPEDOIC
COR/LOE: N/A
THRESHOLD_TIMING_DOSE: 180 mg once daily
TERMINOLOGY: MEDICATION_TABLE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DYS_CASE_138
ROLE: CASE_DECIDE
PROMPT: You are considering inclisiran. What initial and maintenance dosing schedule and LDL-C reduction apply?
FULL_EXPECTED_ANSWER: Inclisiran is listed at 284 mg initially, a second dose at 3 months, then every 6 months; expected LDL-C reduction 48%-52%; cardiovascular outcomes trials are in progress.
SOURCE_PROVENANCE: Table 5, PDF p24/e1177
SOURCE_IDS: SOURCE_A;SOURCE_B
DECISION_NODE_IDS: DN_T5_INCLISIRAN
COR/LOE: N/A
THRESHOLD_TIMING_DOSE: 284 mg initial; 3 mo; then q6mo
TERMINOLOGY: MEDICATION_TABLE
EVIDENCE_STATUS: SOURCE_LOCKED_AUDITED; AUDIT_STATUS: PASS
REVEAL_PART: N/A
TEACHING_RULE: Preserve all source qualifiers. Do not introduce outside clinical knowledge.
---
CASE_ID: DYS_CASE_139
ROLE: CASE_DECIDE
PROMPT: You are prescribing a bile acid sequestrant. What corrected dose and frequency values apply to cholestyramine, colesevelam, and colestipol?
FULL_EXPECTED_ANSWER: Use the corrected bile-acid-sequestrant dose/frequency data: cholestyramine 8–16 g in 1 to 4 equally divided doses; colesevelam 3.75 g in 1 or 2 equally divided doses; colestipol 2–16 g in 1 or 2 equally divided doses. Avoid if TG ≥300 mg/dL per Table 5 comments.
SOURCE_PROVENANCE: Table 5, PDF p24/e1177; SOURCE_B correction p1/e393
SOURCE_IDS: SOURCE_A;SOURCE_B
DECISION_NODE_IDS: DN_T5_BILE_ACID_SEQUESTRANTS
COR/LOE: N/A
THRESHOLD_TIMING_DOSE: cholestyramine 8–16 g / 1–4 divided; colesevelam 3.75 g / 1–2 divided; colestipol 2–16 g / 1–2 divided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DYS_CASE_138
ROLE: SOURCE_REVEAL
PROMPT: You are considering inclisiran. What initial and maintenance dosing schedule and LDL-C reduction apply?
FULL_EXPECTED_ANSWER: Inclisiran is listed at 284 mg initially, a second dose at 3 months, then every 6 months; expected LDL-C reduction 48%-52%; cardiovascular outcomes trials are in progress.
SOURCE_PROVENANCE: Table 5, PDF p24/e1177
SOURCE_IDS: SOURCE_A;SOURCE_B
DECISION_NODE_IDS: DN_T5_INCLISIRAN
COR/LOE: N/A
THRESHOLD_TIMING_DOSE: 284 mg initial; 3 mo; then q6mo
TERMINOLOGY: MEDICATION_TABLE
EVIDENCE_STATUS: SOURCE_LOCKED_AUDITED; AUDIT_STATUS: PASS
REVEAL_PART: N/A
TEACHING_RULE: Preserve all source qualifiers. Do not introduce outside clinical knowledge.
---
CASE_ID: DYS_CASE_139
ROLE: SOURCE_REVEAL
PROMPT: You are prescribing a bile acid sequestrant. What corrected dose and frequency values apply to cholestyramine, colesevelam, and colestipol?
FULL_EXPECTED_ANSWER: Use the corrected bile-acid-sequestrant dose/frequency data: cholestyramine 8–16 g in 1 to 4 equally divided doses; colesevelam 3.75 g in 1 or 2 equally divided doses; colestipol 2–16 g in 1 or 2 equally divided doses. Avoid if TG ≥300 mg/dL per Table 5 comments.
SOURCE_PROVENANCE: Table 5, PDF p24/e1177; SOURCE_B correction p1/e393
SOURCE_IDS: SOURCE_A;SOURCE_B
DECISION_NODE_IDS: DN_T5_BILE_ACID_SEQUESTRANTS
COR/LOE: N/A
THRESHOLD_TIMING_DOSE: cholestyramine 8–16 g / 1–4 divided; colesevelam 3.75 g / 1–2 divided; colestipol 2–16 g / 1–2 divided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DYS_CASE_142
ROLE: CASE_DECIDE
PROMPT: An adult with severe hypertriglyceridemia is being considered for a fibrate; another adult taking a statin seeks ASCVD risk reduction. How do the fibrate decisions differ?
FULL_EXPECTED_ANSWER: Fibrates are listed as a first-line option for severe hypertriglyceridemia (≥500 mg/dL, especially ≥1000 mg/dL), with expected TG reduction 30%-50%; gemfibrozil should not be combined with statin therapy. || Fibrates and niacin are not recommended for routine ASCVD-risk reduction when added to statin therapy because proven event reduction is lacking.
SOURCE_PROVENANCE: Table 5, PDF p25/e1178; §4.2.1.3, PDF p27/e1180
SOURCE_IDS: SOURCE_A
DECISION_NODE_IDS: DN_T5_FIBRATES;DN_4_2_1_3_FIBRATE_NIACIN_NOT_ROUTINE_ASCVD
COR/LOE: N/A
THRESHOLD_TIMING_DOSE: TG ≥500 mg/dL, especially ≥1000; fenofibrate 40–200 mg qd; fenofibric acid 35–135 qd; gemfibrozil 600 mg BID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DYS_CASE_142
ROLE: SOURCE_REVEAL
PROMPT: An adult with severe hypertriglyceridemia is being considered for a fibrate; another adult taking a statin seeks ASCVD risk reduction. How do the fibrate decisions differ?
FULL_EXPECTED_ANSWER: Fibrates are listed as a first-line option for severe hypertriglyceridemia (≥500 mg/dL, especially ≥1000 mg/dL), with expected TG reduction 30%-50%; gemfibrozil should not be combined with statin therapy. || Fibrates and niacin are not recommended for routine ASCVD-risk reduction when added to statin therapy because proven event reduction is lacking.
SOURCE_PROVENANCE: Table 5, PDF p25/e1178; §4.2.1.3, PDF p27/e1180
SOURCE_IDS: SOURCE_A
DECISION_NODE_IDS: DN_T5_FIBRATES;DN_4_2_1_3_FIBRATE_NIACIN_NOT_ROUTINE_ASCVD
COR/LOE: N/A
THRESHOLD_TIMING_DOSE: TG ≥500 mg/dL, especially ≥1000; fenofibrate 40–200 mg qd; fenofibric acid 35–135 qd; gemfibrozil 600 mg BID
TERMINOLOGY: hypertriglyceridemia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DYS_CASE_142
ROLE: SOURCE_REVEAL
PROMPT: An adult with severe hypertriglyceridemia is being considered for a fibrate; another adult taking a statin seeks ASCVD risk reduction. How do the fibrate decisions differ?
FULL_EXPECTED_ANSWER: Fibrates are listed as a first-line option for severe hypertriglyceridemia (≥500 mg/dL, especially ≥1000 mg/dL), with expected TG reduction 30%-50%; gemfibrozil should not be combined with statin therapy. || Fibrates and niacin are not recommended for routine ASCVD-risk reduction when added to statin therapy because proven event reduction is lacking.
SOURCE_PROVENANCE: Table 5, PDF p25/e1178; §4.2.1.3, PDF p27/e1180
SOURCE_IDS: SOURCE_A
DECISION_NODE_IDS: DN_T5_FIBRATES;DN_4_2_1_3_FIBRATE_NIACIN_NOT_ROUTINE_ASCVD
COR/LOE: N/A
THRESHOLD_TIMING_DOSE: TG ≥500 mg/dL, especially ≥1000; fenofibrate 40–200 mg qd; fenofibric acid 35–135 qd; gemfibrozil 600 mg BID
TERMINOLOGY: hypertriglyceridemia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DYS_CASE_144
ROLE: CASE_DECIDE
PROMPT: An adult with severe hypertriglyceridemia is being considered for niacin; another adult taking a statin seeks ASCVD risk reduction. How do the niacin decisions differ?
FULL_EXPECTED_ANSWER: Niacin is described as a last-line agent for severe hypertriglyceridemia because of poor tolerability and adverse effects; CVOTs show no cardiovascular-event reduction when added to statin therapy in secondary prevention. || Niacin should generally be avoided because of poor tolerability and adverse effects with or without statin therapy.
SOURCE_PROVENANCE: Table 5, PDF p26/e1179; §4.2.1.3, PDF p27/e1180
SOURCE_IDS: SOURCE_A
DECISION_NODE_IDS: DN_T5_NIACIN;DN_4_2_1_3_NIACIN_AVOID
COR/LOE: N/A
THRESHOLD_TIMING_DOSE: ER 500–2000 mg qd; IR 250–6000 mg BID–TID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DYS_CASE_144
ROLE: SOURCE_REVEAL
PROMPT: An adult with severe hypertriglyceridemia is being considered for niacin; another adult taking a statin seeks ASCVD risk reduction. How do the niacin decisions differ?
FULL_EXPECTED_ANSWER: Niacin is described as a last-line agent for severe hypertriglyceridemia because of poor tolerability and adverse effects; CVOTs show no cardiovascular-event reduction when added to statin therapy in secondary prevention. || Niacin should generally be avoided because of poor tolerability and adverse effects with or without statin therapy.
SOURCE_PROVENANCE: Table 5, PDF p26/e1179; §4.2.1.3, PDF p27/e1180
SOURCE_IDS: SOURCE_A
DECISION_NODE_IDS: DN_T5_NIACIN;DN_4_2_1_3_NIACIN_AVOID
COR/LOE: N/A
THRESHOLD_TIMING_DOSE: ER 500–2000 mg qd; IR 250–6000 mg BID–TID
TERMINOLOGY: hypertriglyceridemia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DYS_CASE_144
ROLE: SOURCE_REVEAL
PROMPT: An adult with severe hypertriglyceridemia is being considered for niacin; another adult taking a statin seeks ASCVD risk reduction. How do the niacin decisions differ?
FULL_EXPECTED_ANSWER: Niacin is described as a last-line agent for severe hypertriglyceridemia because of poor tolerability and adverse effects; CVOTs show no cardiovascular-event reduction when added to statin therapy in secondary prevention. || Niacin should generally be avoided because of poor tolerability and adverse effects with or without statin therapy.
SOURCE_PROVENANCE: Table 5, PDF p26/e1179; §4.2.1.3, PDF p27/e1180
SOURCE_IDS: SOURCE_A
DECISION_NODE_IDS: DN_T5_NIACIN;DN_4_2_1_3_NIACIN_AVOID
COR/LOE: N/A
THRESHOLD_TIMING_DOSE: ER 500–2000 mg qd; IR 250–6000 mg BID–TID
TERMINOLOGY: hypertriglyceridemia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DYS_CASE_155
ROLE: CASE_DECIDE
PROMPT: A patient is being managed for rosuvastatin use across ancestry groups. How should rosuvastatin initiation account for ancestry?
FULL_EXPECTED_ANSWER: Some individuals of Chinese, Japanese, or Korean ancestry may have higher rosuvastatin concentrations and may benefit from starting rosuvastatin at a lower dose.
SOURCE_PROVENANCE: Table 21, PDF p69/e1222; §4.2.1.1 p26/e1179
SOURCE_IDS: SOURCE_A
DECISION_NODE_IDS: DN_T21_ROSUVASTATIN_ANCESTRY
COR/LOE: N/A
THRESHOLD_TIMING_DOSE: lower starting dose
TERMINOLOGY: Chinese/Japanese/Korean ancestry
EVIDENCE_STATUS: SOURCE_LOCKED_AUDITED; AUDIT_STATUS: PASS
REVEAL_PART: N/A
TEACHING_RULE: Preserve all source qualifiers. Do not introduce outside clinical knowledge.
---
CASE_ID: DYS_CASE_165
ROLE: CASE_DECIDE
PROMPT: A patient has TG ≥500 mg/dL and needs ASCVD-risk management. What role do statins have relative to TG-lowering drugs?
FULL_EXPECTED_ANSWER: Statins remain first-line therapy for patients with TG ≥500 mg/dL to reduce ASCVD risk, even though they lower TG less than fibrates or omega-3 fatty acids.
SOURCE_PROVENANCE: §4.2.1.3, PDF p27/e1180
SOURCE_IDS: SOURCE_A
DECISION_NODE_IDS: DN_4_2_1_3_STATIN_FIRST_LINE_TG500
COR/LOE: N/A
THRESHOLD_TIMING_DOSE: TG ≥500 mg/dL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DYS_CASE_155
ROLE: SOURCE_REVEAL
PROMPT: A patient is being managed for rosuvastatin use across ancestry groups. How should rosuvastatin initiation account for ancestry?
FULL_EXPECTED_ANSWER: Some individuals of Chinese, Japanese, or Korean ancestry may have higher rosuvastatin concentrations and may benefit from starting rosuvastatin at a lower dose.
SOURCE_PROVENANCE: Table 21, PDF p69/e1222; §4.2.1.1 p26/e1179
SOURCE_IDS: SOURCE_A
DECISION_NODE_IDS: DN_T21_ROSUVASTATIN_ANCESTRY
COR/LOE: N/A
THRESHOLD_TIMING_DOSE: lower starting dose
TERMINOLOGY: Chinese/Japanese/Korean ancestry
EVIDENCE_STATUS: SOURCE_LOCKED_AUDITED; AUDIT_STATUS: PASS
REVEAL_PART: N/A
TEACHING_RULE: Preserve all source qualifiers. Do not introduce outside clinical knowledge.
---
CASE_ID: DYS_CASE_165
ROLE: SOURCE_REVEAL
PROMPT: A patient has TG ≥500 mg/dL and needs ASCVD-risk management. What role do statins have relative to TG-lowering drugs?
FULL_EXPECTED_ANSWER: Statins remain first-line therapy for patients with TG ≥500 mg/dL to reduce ASCVD risk, even though they lower TG less than fibrates or omega-3 fatty acids.
SOURCE_PROVENANCE: §4.2.1.3, PDF p27/e1180
SOURCE_IDS: SOURCE_A
DECISION_NODE_IDS: DN_4_2_1_3_STATIN_FIRST_LINE_TG500
COR/LOE: N/A
THRESHOLD_TIMING_DOSE: TG ≥500 mg/dL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DYS_CASE_027
ROLE: CASE_DECIDE
PROMPT: Consider an individual with dyslipidemia. What should the clinician–patient risk discussion cover?
FULL_EXPECTED_ANSWER: In individuals with dyslipidemia, clinicians and their patients should engage in a discussion of the patient’s ASCVD risk, healthy lifestyle as the foundation of risk reduction, expected risk reduction benefits from LLT, possible harms and DDI, costs, and patient preferences to make individualized treatment decisions and/or consider additional options for evaluation to aid in decision-making.
SOURCE_PROVENANCE: PDF p29/e1182 §4.2.3.1 recommendation 1
SOURCE_IDS: SOURCE_A
DECISION_NODE_IDS: DN_4_2_3_1_R01
COR/LOE: 1/B-NR
THRESHOLD_TIMING_DOSE: N/A
TERMINOLOGY: ASCVD
EVIDENCE_STATUS: SOURCE_LOCKED_AUDITED; AUDIT_STATUS: PASS
REVEAL_PART: N/A
TEACHING_RULE: Preserve all source qualifiers. Do not introduce outside clinical knowledge.
---
CASE_ID: DYS_CASE_028
ROLE: CASE_DECIDE
PROMPT: Consider adults aged 30 to 79 y without ASCVD or subclinical atherosclerosis and with an LDL-C level between 70 and 189 mg/dL (1.8–4.9 mmol/L). Which risk-estimation method and time horizon apply?
FULL_EXPECTED_ANSWER: In adults aged 30 to 79 y without ASCVD or subclinical atherosclerosis and with an LDL-C level between 70 and 189 mg/dL (1.8–4.9 mmol/L), the PREVENT-ASCVD equations should be used to estimate 10-y ASCVD risk, with categorization as having low (&lt;3%), borderline (3% to &lt;5%), intermediate (5% to &lt;10%), or high (≥10%) 10-y estimated ASCVD risk.
SOURCE_PROVENANCE: PDF p30/e1183 §4.2.3.2 recommendation 1
SOURCE_IDS: SOURCE_A
DECISION_NODE_IDS: DN_4_2_3_2_R01
COR/LOE: 1/B-NR
THRESHOLD_TIMING_DOSE: 30 to 79 y; 189 mg/dL; 1.8–4.9 mmol/L; &lt;3%; 3%; &lt;5%; 5%; &lt;10%; ≥10%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DYS_CASE_027
ROLE: SOURCE_REVEAL
PROMPT: Consider an individual with dyslipidemia. What should the clinician–patient risk discussion cover?
FULL_EXPECTED_ANSWER: In individuals with dyslipidemia, clinicians and their patients should engage in a discussion of the patient’s ASCVD risk, healthy lifestyle as the foundation of risk reduction, expected risk reduction benefits from LLT, possible harms and DDI, costs, and patient preferences to make individualized treatment decisions and/or consider additional options for evaluation to aid in decision-making.
SOURCE_PROVENANCE: PDF p29/e1182 §4.2.3.1 recommendation 1
SOURCE_IDS: SOURCE_A
DECISION_NODE_IDS: DN_4_2_3_1_R01
COR/LOE: 1/B-NR
THRESHOLD_TIMING_DOSE: N/A
TERMINOLOGY: ASCVD
EVIDENCE_STATUS: SOURCE_LOCKED_AUDITED; AUDIT_STATUS: PASS
REVEAL_PART: N/A
TEACHING_RULE: Preserve all source qualifiers. Do not introduce outside clinical knowledge.
---
CASE_ID: DYS_CASE_028
ROLE: SOURCE_REVEAL
PROMPT: Consider adults aged 30 to 79 y without ASCVD or subclinical atherosclerosis and with an LDL-C level between 70 and 189 mg/dL (1.8–4.9 mmol/L). Which risk-estimation method and time horizon apply?
FULL_EXPECTED_ANSWER: In adults aged 30 to 79 y without ASCVD or subclinical atherosclerosis and with an LDL-C level between 70 and 189 mg/dL (1.8–4.9 mmol/L), the PREVENT-ASCVD equations should be used to estimate 10-y ASCVD risk, with categorization as having low (&lt;3%), borderline (3% to &lt;5%), intermediate (5% to &lt;10%), or high (≥10%) 10-y estimated ASCVD risk.
SOURCE_PROVENANCE: PDF p30/e1183 §4.2.3.2 recommendation 1
SOURCE_IDS: SOURCE_A
DECISION_NODE_IDS: DN_4_2_3_2_R01
COR/LOE: 1/B-NR
THRESHOLD_TIMING_DOSE: 30 to 79 y; 189 mg/dL; 1.8–4.9 mmol/L; &lt;3%; 3%; &lt;5%; 5%; &lt;10%; ≥10%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DYS_CASE_029
ROLE: CASE_DECIDE
PROMPT: Consider adults without ASCVD with a borderline 10-y ASCVD risk estimate (3% to &lt;5%) by the PREVENT-ASCVD equations. How should risk enhancers inform the LLT discussion?
FULL_EXPECTED_ANSWER: In adults without ASCVD with a borderline 10-y ASCVD risk estimate (3% to &lt;5%) by the PREVENT-ASCVD equations, consideration of risk enhancers is reasonable to personalize risk assessment and the potential benefit of initiating LLT as an adjunct to lifestyle management to reduce ASCVD risk (Table 13).
SOURCE_PROVENANCE: PDF p33/e1186 §4.2.3.3 recommendation 1
SOURCE_IDS: SOURCE_A
DECISION_NODE_IDS: DN_4_2_3_3_R01
COR/LOE: 2a/B-NR
THRESHOLD_TIMING_DOSE: 3%; &lt;5%
TERMINOLOGY: ASCVD
EVIDENCE_STATUS: SOURCE_LOCKED_AUDITED; AUDIT_STATUS: PASS
REVEAL_PART: N/A
TEACHING_RULE: Preserve all source qualifiers. Do not introduce outside clinical knowledge.
---
CASE_ID: DYS_CASE_030
ROLE: CASE_DECIDE
PROMPT: An adult without ASCVD has a borderline 10-y ASCVD risk estimate (3% to &lt;5%) by PREVENT-ASCVD; hsCRP is ≥2 mg/L on 2 successive occasions with no identifiable underlying cause. What statin intensity is supported to reduce ASCVD events?
FULL_EXPECTED_ANSWER: In adults without ASCVD with a borderline 10-y ASCVD risk estimate (3% to &lt;5%) by the PREVENT-ASCVD equations, if high-sensitivity C-reactive protein (hsCRP) is measured and is ≥2 mg/L on 2 successive occasions with no identifiable underlying cause of hsCRP elevation, high-intensity statin therapy can be useful to reduce the risk of ASCVD events.
SOURCE_PROVENANCE: PDF p33/e1186 §4.2.3.3 recommendation 2
SOURCE_IDS: SOURCE_A
DECISION_NODE_IDS: DN_4_2_3_3_R02
COR/LOE: 2a/B-R
THRESHOLD_TIMING_DOSE: 3%; &lt;5%; ≥2 mg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DYS_CASE_029
ROLE: SOURCE_REVEAL
PROMPT: Consider adults without ASCVD with a borderline 10-y ASCVD risk estimate (3% to &lt;5%) by the PREVENT-ASCVD equations. How should risk enhancers inform the LLT discussion?
FULL_EXPECTED_ANSWER: In adults without ASCVD with a borderline 10-y ASCVD risk estimate (3% to &lt;5%) by the PREVENT-ASCVD equations, consideration of risk enhancers is reasonable to personalize risk assessment and the potential benefit of initiating LLT as an adjunct to lifestyle management to reduce ASCVD risk (Table 13).
SOURCE_PROVENANCE: PDF p33/e1186 §4.2.3.3 recommendation 1
SOURCE_IDS: SOURCE_A
DECISION_NODE_IDS: DN_4_2_3_3_R01
COR/LOE: 2a/B-NR
THRESHOLD_TIMING_DOSE: 3%; &lt;5%
TERMINOLOGY: ASCVD
EVIDENCE_STATUS: SOURCE_LOCKED_AUDITED; AUDIT_STATUS: PASS
REVEAL_PART: N/A
TEACHING_RULE: Preserve all source qualifiers. Do not introduce outside clinical knowledge.
---
CASE_ID: DYS_CASE_030
ROLE: SOURCE_REVEAL
PROMPT: An adult without ASCVD has a borderline 10-y ASCVD risk estimate (3% to &lt;5%) by PREVENT-ASCVD; hsCRP is ≥2 mg/L on 2 successive occasions with no identifiable underlying cause. What statin intensity is supported to reduce ASCVD events?
FULL_EXPECTED_ANSWER: In adults without ASCVD with a borderline 10-y ASCVD risk estimate (3% to &lt;5%) by the PREVENT-ASCVD equations, if high-sensitivity C-reactive protein (hsCRP) is measured and is ≥2 mg/L on 2 successive occasions with no identifiable underlying cause of hsCRP elevation, high-intensity statin therapy can be useful to reduce the risk of ASCVD events.
SOURCE_PROVENANCE: PDF p33/e1186 §4.2.3.3 recommendation 2
SOURCE_IDS: SOURCE_A
DECISION_NODE_IDS: DN_4_2_3_3_R02
COR/LOE: 2a/B-R
THRESHOLD_TIMING_DOSE: 3%; &lt;5%; ≥2 mg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DYS_CASE_031
ROLE: CASE_DECIDE
PROMPT: Consider adults without ASCVD. How should reproductive history inform ASCVD risk assessment?
FULL_EXPECTED_ANSWER: In adults without ASCVD, consideration of reproductive risk markers, such as early menopause (&lt;45 y) and history of adverse pregnancy outcomes (gestational hypertension, preeclampsia, gestational diabetes, preterm delivery) is reasonable to personalize ASCVD risk assessment when considering the potential benefit of initiating LLT as an adjunct to lifestyle management for primary ASCVD prevention.
SOURCE_PROVENANCE: PDF p36/e1189 §4.2.3.4 recommendation 1
SOURCE_IDS: SOURCE_A
DECISION_NODE_IDS: DN_4_2_3_4_R01
COR/LOE: 2a/B-NR
THRESHOLD_TIMING_DOSE: &lt;45 y
TERMINOLOGY: pregnancy/lactation
EVIDENCE_STATUS: SOURCE_LOCKED_AUDITED; AUDIT_STATUS: PASS
REVEAL_PART: N/A
TEACHING_RULE: Preserve all source qualifiers. Do not introduce outside clinical knowledge.
---
CASE_ID: DYS_CASE_032
ROLE: CASE_DECIDE
PROMPT: Consider adults at intermediate risk and select adults at borderline risk with no prior ASCVD, if the decision regarding LLT remains uncertain. What additional risk assessment can guide an uncertain LLT decision?
FULL_EXPECTED_ANSWER: In adults at intermediate risk and select adults at borderline risk with no prior ASCVD, if the decision regarding LLT remains uncertain, a CAC score should be used for further risk stratification and to guide the decision to withhold, postpone, or initiate therapy.
SOURCE_PROVENANCE: PDF p36/e1189 §4.2.3.6 recommendation 1
SOURCE_IDS: SOURCE_A
DECISION_NODE_IDS: DN_4_2_3_6_R01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DYS_CASE_031
ROLE: SOURCE_REVEAL
PROMPT: Consider adults without ASCVD. How should reproductive history inform ASCVD risk assessment?
FULL_EXPECTED_ANSWER: In adults without ASCVD, consideration of reproductive risk markers, such as early menopause (&lt;45 y) and history of adverse pregnancy outcomes (gestational hypertension, preeclampsia, gestational diabetes, preterm delivery) is reasonable to personalize ASCVD risk assessment when considering the potential benefit of initiating LLT as an adjunct to lifestyle management for primary ASCVD prevention.
SOURCE_PROVENANCE: PDF p36/e1189 §4.2.3.4 recommendation 1
SOURCE_IDS: SOURCE_A
DECISION_NODE_IDS: DN_4_2_3_4_R01
COR/LOE: 2a/B-NR
THRESHOLD_TIMING_DOSE: &lt;45 y
TERMINOLOGY: pregnancy/lactation
EVIDENCE_STATUS: SOURCE_LOCKED_AUDITED; AUDIT_STATUS: PASS
REVEAL_PART: N/A
TEACHING_RULE: Preserve all source qualifiers. Do not introduce outside clinical knowledge.
---
CASE_ID: DYS_CASE_032
ROLE: SOURCE_REVEAL
PROMPT: Consider adults at intermediate risk and select adults at borderline risk with no prior ASCVD, if the decision regarding LLT remains uncertain. What additional risk assessment can guide an uncertain LLT decision?
FULL_EXPECTED_ANSWER: In adults at intermediate risk and select adults at borderline risk with no prior ASCVD, if the decision regarding LLT remains uncertain, a CAC score should be used for further risk stratification and to guide the decision to withhold, postpone, or initiate therapy.
SOURCE_PROVENANCE: PDF p36/e1189 §4.2.3.6 recommendation 1
SOURCE_IDS: SOURCE_A
DECISION_NODE_IDS: DN_4_2_3_6_R01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DYS_CASE_033
ROLE: CASE_DECIDE
PROMPT: Consider adults at intermediate risk or select adults at borderline risk who undergo CAC testing, the CAC score is 0 Agatston units (AU), there is preference to avoid LLT and focus on lifestyle management, and no higher risk conditions (FH or severe hypercholesterolemia &gt;190 mg/dL, diabetes and age &gt;40 y, current cigarette smoking, strong family history of premature ASCVD) are present. What LLT decision and follow-up apply with this CAC result?
FULL_EXPECTED_ANSWER: In adults at intermediate risk or select adults at borderline risk who undergo CAC testing, if the CAC score is 0 Agatston units (AU), and there is preference to avoid LLT and focus on lifestyle management, and no higher risk conditions (FH or severe hypercholesterolemia &gt;190 mg/dL, diabetes and age &gt;40 y, current cigarette smoking, strong family history of premature ASCVD) are present, it is reasonable to defer therapy and reassess with repeat CAC testing in 3 to 7 y to personalize management.
SOURCE_PROVENANCE: PDF p37/e1190 §4.2.3.6 recommendation 2
SOURCE_IDS: SOURCE_A
DECISION_NODE_IDS: DN_4_2_3_6_R02
COR/LOE: 2a/B-NR
THRESHOLD_TIMING_DOSE: &gt;190 mg/dL; &gt;40 y; 3 to 7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DYS_CASE_033
ROLE: SOURCE_REVEAL
PROMPT: Consider adults at intermediate risk or select adults at borderline risk who undergo CAC testing, the CAC score is 0 Agatston units (AU), there is preference to avoid LLT and focus on lifestyle management, and no higher risk conditions (FH or severe hypercholesterolemia &gt;190 mg/dL, diabetes and age &gt;40 y, current cigarette smoking, strong family history of premature ASCVD) are present. What LLT decision and follow-up apply with this CAC result?
FULL_EXPECTED_ANSWER: In adults at intermediate risk or select adults at borderline risk who undergo CAC testing, if the CAC score is 0 Agatston units (AU), and there is preference to avoid LLT and focus on lifestyle management, and no higher risk conditions (FH or severe hypercholesterolemia &gt;190 mg/dL, diabetes and age &gt;40 y, current cigarette smoking, strong family history of premature ASCVD) are present, it is reasonable to defer therapy and reassess with repeat CAC testing in 3 to 7 y to personalize management.
SOURCE_PROVENANCE: PDF p37/e1190 §4.2.3.6 recommendation 2
SOURCE_IDS: SOURCE_A
DECISION_NODE_IDS: DN_4_2_3_6_R02
COR/LOE: 2a/B-NR
THRESHOLD_TIMING_DOSE: &gt;190 mg/dL; &gt;40 y; 3 to 7 y
TERMINOLOGY: ASCVD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DYS_CASE_033
ROLE: SOURCE_REVEAL
PROMPT: Consider adults at intermediate risk or select adults at borderline risk who undergo CAC testing, the CAC score is 0 Agatston units (AU), there is preference to avoid LLT and focus on lifestyle management, and no higher risk conditions (FH or severe hypercholesterolemia &gt;190 mg/dL, diabetes and age &gt;40 y, current cigarette smoking, strong family history of premature ASCVD) are present. What LLT decision and follow-up apply with this CAC result?
FULL_EXPECTED_ANSWER: In adults at intermediate risk or select adults at borderline risk who undergo CAC testing, if the CAC score is 0 Agatston units (AU), and there is preference to avoid LLT and focus on lifestyle management, and no higher risk conditions (FH or severe hypercholesterolemia &gt;190 mg/dL, diabetes and age &gt;40 y, current cigarette smoking, strong family history of premature ASCVD) are present, it is reasonable to defer therapy and reassess with repeat CAC testing in 3 to 7 y to personalize management.
SOURCE_PROVENANCE: PDF p37/e1190 §4.2.3.6 recommendation 2
SOURCE_IDS: SOURCE_A
DECISION_NODE_IDS: DN_4_2_3_6_R02
COR/LOE: 2a/B-NR
THRESHOLD_TIMING_DOSE: &gt;190 mg/dL; &gt;40 y; 3 to 7 y
TERMINOLOGY: ASCVD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DYS_CASE_034
ROLE: CASE_DECIDE
PROMPT: Consider adults at intermediate risk and select adults at borderline risk, if the CAC score is &gt;0 AU. What LLT decision follows this CAC result?
FULL_EXPECTED_ANSWER: In adults at intermediate risk and select adults at borderline risk, if the CAC score is &gt;0 AU, it is recommended to initiate LLT, particularly if the CAC score is ≥100 AU or ≥75th standardized percentile to reduce ASCVD risk.
SOURCE_PROVENANCE: PDF p37/e1190 §4.2.3.6 recommendation 3
SOURCE_IDS: SOURCE_A
DECISION_NODE_IDS: DN_4_2_3_6_R03
COR/LOE: 1/B-NR
THRESHOLD_TIMING_DOSE: &gt;0 AU; ≥100 AU
TERMINOLOGY: ASCVD
EVIDENCE_STATUS: SOURCE_LOCKED_AUDITED; AUDIT_STATUS: PASS
REVEAL_PART: N/A
TEACHING_RULE: Preserve all source qualifiers. Do not introduce outside clinical knowledge.
---
CASE_ID: DYS_CASE_035
ROLE: CASE_DECIDE
PROMPT: Consider adults at intermediate or high risk with no prior ASCVD, if there is uncertainty about the intensity of LLT. What additional risk assessment can guide LLT intensity?
FULL_EXPECTED_ANSWER: In adults at intermediate or high risk with no prior ASCVD, if there is uncertainty about the intensity of LLT, a CAC score can be useful to refine treatment goals and decide whether to intensify LLT.
SOURCE_PROVENANCE: PDF p37/e1190 §4.2.3.6 recommendation 4
SOURCE_IDS: SOURCE_A
DECISION_NODE_IDS: DN_4_2_3_6_R04
COR/LOE: 2a/B-NR
THRESHOLD_TIMING_DOSE: N/A
TERMINOLOGY: ASCVD
EVIDENCE_STATUS: SOURCE_LOCKED_AUDITED; AUDIT_STATUS: PASS
REVEAL_PART: N/A
TEACHING_RULE: Preserve all source qualifiers. Do not introduce outside clinical knowledge.
---
CASE_ID: DYS_CASE_036
ROLE: CASE_DECIDE
PROMPT: Consider adults with no prior ASCVD, if incidental CAC is identified on noncardiac computed tomography (CT) scans (eg, by visual estimation or a validated artificial-intelligence–based algorithm). How should incidental CAC affect risk interpretation?
FULL_EXPECTED_ANSWER: In adults with no prior ASCVD, if incidental CAC is identified on noncardiac computed tomography (CT) scans (eg, by visual estimation or a validated artificial-intelligence–based algorithm), the presence of coronary atherosclerosis should be considered during decision-making about initiation or intensification of LLT to reduce ASCVD risk.
SOURCE_PROVENANCE: PDF p37/e1190 §4.2.3.6 recommendation 5
SOURCE_IDS: SOURCE_A
DECISION_NODE_IDS: DN_4_2_3_6_R05
COR/LOE: 1/B-NR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DYS_CASE_034
ROLE: SOURCE_REVEAL
PROMPT: Consider adults at intermediate risk and select adults at borderline risk, if the CAC score is &gt;0 AU. What LLT decision follows this CAC result?
FULL_EXPECTED_ANSWER: In adults at intermediate risk and select adults at borderline risk, if the CAC score is &gt;0 AU, it is recommended to initiate LLT, particularly if the CAC score is ≥100 AU or ≥75th standardized percentile to reduce ASCVD risk.
SOURCE_PROVENANCE: PDF p37/e1190 §4.2.3.6 recommendation 3
SOURCE_IDS: SOURCE_A
DECISION_NODE_IDS: DN_4_2_3_6_R03
COR/LOE: 1/B-NR
THRESHOLD_TIMING_DOSE: &gt;0 AU; ≥100 AU
TERMINOLOGY: ASCVD
EVIDENCE_STATUS: SOURCE_LOCKED_AUDITED; AUDIT_STATUS: PASS
REVEAL_PART: N/A
TEACHING_RULE: Preserve all source qualifiers. Do not introduce outside clinical knowledge.
---
CASE_ID: DYS_CASE_035
ROLE: SOURCE_REVEAL
PROMPT: Consider adults at intermediate or high risk with no prior ASCVD, if there is uncertainty about the intensity of LLT. What additional risk assessment can guide LLT intensity?
FULL_EXPECTED_ANSWER: In adults at intermediate or high risk with no prior ASCVD, if there is uncertainty about the intensity of LLT, a CAC score can be useful to refine treatment goals and decide whether to intensify LLT.
SOURCE_PROVENANCE: PDF p37/e1190 §4.2.3.6 recommendation 4
SOURCE_IDS: SOURCE_A
DECISION_NODE_IDS: DN_4_2_3_6_R04
COR/LOE: 2a/B-NR
THRESHOLD_TIMING_DOSE: N/A
TERMINOLOGY: ASCVD
EVIDENCE_STATUS: SOURCE_LOCKED_AUDITED; AUDIT_STATUS: PASS
REVEAL_PART: N/A
TEACHING_RULE: Preserve all source qualifiers. Do not introduce outside clinical knowledge.
---
CASE_ID: DYS_CASE_036
ROLE: SOURCE_REVEAL
PROMPT: Consider adults with no prior ASCVD, if incidental CAC is identified on noncardiac computed tomography (CT) scans (eg, by visual estimation or a validated artificial-intelligence–based algorithm). How should incidental CAC affect risk interpretation?
FULL_EXPECTED_ANSWER: In adults with no prior ASCVD, if incidental CAC is identified on noncardiac computed tomography (CT) scans (eg, by visual estimation or a validated artificial-intelligence–based algorithm), the presence of coronary atherosclerosis should be considered during decision-making about initiation or intensification of LLT to reduce ASCVD risk.
SOURCE_PROVENANCE: PDF p37/e1190 §4.2.3.6 recommendation 5
SOURCE_IDS: SOURCE_A
DECISION_NODE_IDS: DN_4_2_3_6_R05
COR/LOE: 1/B-NR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DYS_CASE_037
ROLE: CASE_DECIDE
PROMPT: Consider adults with no prior ASCVD who are likely to have a high burden of noncalcified plaque (eg, inflammatory disorders, persons living with HIV, and diabetes). What imaging approach, if any, can inform risk?
FULL_EXPECTED_ANSWER: In adults with no prior ASCVD who are likely to have a high burden of noncalcified plaque (eg, inflammatory disorders, persons living with HIV, and diabetes), selective use of coronary computed tomography angiography (CCTA) may be useful to inform risk assessment and guide decisions regarding treatment intensity of LLT.
SOURCE_PROVENANCE: PDF p37/e1190 §4.2.3.6 recommendation 6
SOURCE_IDS: SOURCE_A
DECISION_NODE_IDS: DN_4_2_3_6_R06
COR/LOE: 2b/B-NR
THRESHOLD_TIMING_DOSE: N/A
TERMINOLOGY: ASCVD
EVIDENCE_STATUS: SOURCE_LOCKED_AUDITED; AUDIT_STATUS: PASS
REVEAL_PART: N/A
TEACHING_RULE: Preserve all source qualifiers. Do not introduce outside clinical knowledge.
---
CASE_ID: DYS_CASE_147
ROLE: CASE_DECIDE
PROMPT: Primary-prevention ASCVD risk is being personalized using risk enhancers. Which risk enhancers and thresholds affect the discussion?
FULL_EXPECTED_ANSWER: When personalizing primary-prevention risk, consider source-listed risk enhancers including premature family ASCVD, higher-risk ancestry, high PRS if measured, chronic inflammatory disease, Lp(a) ≥125 nmol/L or ≥50 mg/dL, hsCRP ≥2 mg/L on &gt;1 occasion, persistently elevated TG (≥175 mg/dL nonfasting or ≥150 mg/dL fasting), CKM syndrome, LDL-C 160–189 mg/dL/non-HDL-C 190–219 mg/dL/apoB ≥120 mg/dL, and reproductive risk markers.
SOURCE_PROVENANCE: Table 13, PDF p35/e1188
SOURCE_IDS: SOURCE_A
DECISION_NODE_IDS: DN_T13_RISK_ENHANCERS
COR/LOE: N/A
THRESHOLD_TIMING_DOSE: Lp(a) ≥125 nmol/L or ≥50 mg/dL; hsCRP ≥2 mg/L &gt;1 occasion; TG ≥175 nonfasting or ≥150 fasting; LDL 160–189; non-HDL 190–219; apoB ≥120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DYS_CASE_037
ROLE: SOURCE_REVEAL
PROMPT: Consider adults with no prior ASCVD who are likely to have a high burden of noncalcified plaque (eg, inflammatory disorders, persons living with HIV, and diabetes). What imaging approach, if any, can inform risk?
FULL_EXPECTED_ANSWER: In adults with no prior ASCVD who are likely to have a high burden of noncalcified plaque (eg, inflammatory disorders, persons living with HIV, and diabetes), selective use of coronary computed tomography angiography (CCTA) may be useful to inform risk assessment and guide decisions regarding treatment intensity of LLT.
SOURCE_PROVENANCE: PDF p37/e1190 §4.2.3.6 recommendation 6
SOURCE_IDS: SOURCE_A
DECISION_NODE_IDS: DN_4_2_3_6_R06
COR/LOE: 2b/B-NR
THRESHOLD_TIMING_DOSE: N/A
TERMINOLOGY: ASCVD
EVIDENCE_STATUS: SOURCE_LOCKED_AUDITED; AUDIT_STATUS: PASS
REVEAL_PART: N/A
TEACHING_RULE: Preserve all source qualifiers. Do not introduce outside clinical knowledge.
---
CASE_ID: DYS_CASE_147
ROLE: SOURCE_REVEAL
PROMPT: Primary-prevention ASCVD risk is being personalized using risk enhancers. Which risk enhancers and thresholds affect the discussion?
FULL_EXPECTED_ANSWER: When personalizing primary-prevention risk, consider source-listed risk enhancers including premature family ASCVD, higher-risk ancestry, high PRS if measured, chronic inflammatory disease, Lp(a) ≥125 nmol/L or ≥50 mg/dL, hsCRP ≥2 mg/L on &gt;1 occasion, persistently elevated TG (≥175 mg/dL nonfasting or ≥150 mg/dL fasting), CKM syndrome, LDL-C 160–189 mg/dL/non-HDL-C 190–219 mg/dL/apoB ≥120 mg/dL, and reproductive risk markers.
SOURCE_PROVENANCE: Table 13, PDF p35/e1188
SOURCE_IDS: SOURCE_A
DECISION_NODE_IDS: DN_T13_RISK_ENHANCERS
COR/LOE: N/A
THRESHOLD_TIMING_DOSE: Lp(a) ≥125 nmol/L or ≥50 mg/dL; hsCRP ≥2 mg/L &gt;1 occasion; TG ≥175 nonfasting or ≥150 fasting; LDL 160–189; non-HDL 190–219; apoB ≥120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DYS_CASE_148
ROLE: CASE_DECIDE
PROMPT: Reproductive history is being considered during primary-prevention ASCVD risk personalization. Which reproductive risk markers affect the discussion?
FULL_EXPECTED_ANSWER: Reproductive risk markers include hypertensive disorders of pregnancy, gestational diabetes, small-for-gestational-age infant (&lt;10th percentile), preterm delivery (&lt;37 weeks), recurrent spontaneous pregnancy loss, early menarche (&lt;10 y), early menopause (&lt;45 y; particularly &lt;40), and polycystic ovary syndrome/irregular menses.
SOURCE_PROVENANCE: Table 14, PDF p36/e1189
SOURCE_IDS: SOURCE_A
DECISION_NODE_IDS: DN_T14_REPRODUCTIVE_MARKERS
COR/LOE: N/A
THRESHOLD_TIMING_DOSE: SGA &lt;10th percentile; preterm &lt;37 wk; menarche &lt;10 y; menopause &lt;45 y (especially &lt;40)
TERMINOLOGY: pregnancy/lactation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DYS_CASE_148
ROLE: SOURCE_REVEAL
PROMPT: Reproductive history is being considered during primary-prevention ASCVD risk personalization. Which reproductive risk markers affect the discussion?
FULL_EXPECTED_ANSWER: Reproductive risk markers include hypertensive disorders of pregnancy, gestational diabetes, small-for-gestational-age infant (&lt;10th percentile), preterm delivery (&lt;37 weeks), recurrent spontaneous pregnancy loss, early menarche (&lt;10 y), early menopause (&lt;45 y; particularly &lt;40), and polycystic ovary syndrome/irregular menses.
SOURCE_PROVENANCE: Table 14, PDF p36/e1189
SOURCE_IDS: SOURCE_A
DECISION_NODE_IDS: DN_T14_REPRODUCTIVE_MARKERS
COR/LOE: N/A
THRESHOLD_TIMING_DOSE: SGA &lt;10th percentile; preterm &lt;37 wk; menarche &lt;10 y; menopause &lt;45 y (especially &lt;40)
TERMINOLOGY: pregnancy/lactation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DYS_CASE_038
ROLE: CASE_DECIDE
PROMPT: Consider adults being assessed for primary prevention of ASCVD. What health-behavior discussion accompanies LLT consideration?
FULL_EXPECTED_ANSWER: In adults being assessed for primary prevention of ASCVD, health behavior recommendations should be provided in addition to a benefit-risk discussion for consideration of LLT (Section 4.1.2, “Dietary Approaches in Dyslipidemia”).
SOURCE_PROVENANCE: PDF p39/e1192 §4.2.3.7 recommendation 1
SOURCE_IDS: SOURCE_A
DECISION_NODE_IDS: DN_4_2_3_7_R01
COR/LOE: 1/A
THRESHOLD_TIMING_DOSE: N/A
TERMINOLOGY: ASCVD
EVIDENCE_STATUS: SOURCE_LOCKED_AUDITED; AUDIT_STATUS: PASS
REVEAL_PART: N/A
TEACHING_RULE: Preserve all source qualifiers. Do not introduce outside clinical knowledge.
---
CASE_ID: DYS_CASE_039
ROLE: CASE_DECIDE
PROMPT: Consider adults aged 30 to 59 y, at low (&lt;3%) 10-y estimated risk for ASCVD who have an LDL-C &lt;160 mg/dL (4.1 mmol/L) and a 30-y risk estimate of &lt;10%. What prevention counseling applies?
FULL_EXPECTED_ANSWER: In adults aged 30 to 59 y, at low (&lt;3%) 10-y estimated risk for ASCVD who have an LDL-C &lt;160 mg/dL (4.1 mmol/L) and a 30-y risk estimate of &lt;10%, counseling on health behaviors is recommended to reduce LDL-C and risk for ASCVD.
SOURCE_PROVENANCE: PDF p39/e1192 §4.2.3.7 recommendation 2
SOURCE_IDS: SOURCE_A
DECISION_NODE_IDS: DN_4_2_3_7_R02
COR/LOE: 1/A
THRESHOLD_TIMING_DOSE: 30 to 59 y; &lt;3%; &lt;160 mg/dL; 4.1 mmol/L; &lt;10%
TERMINOLOGY: ASCVD
EVIDENCE_STATUS: SOURCE_LOCKED_AUDITED; AUDIT_STATUS: PASS
REVEAL_PART: N/A
TEACHING_RULE: Preserve all source qualifiers. Do not introduce outside clinical knowledge.
---
CASE_ID: DYS_CASE_040
ROLE: CASE_DECIDE
PROMPT: Consider adults aged 30 to 59 y, at low (&lt;3%) 10-y estimated risk for ASCVD but with an LDL-C of 160 to 189 mg/dL (4.1–4.9 mmol/L) or a 30-y ASCVD risk ≥10% (for those aged 30–59 y). What lipid-lowering approach applies?
FULL_EXPECTED_ANSWER: In adults aged 30 to 59 y, at low (&lt;3%) 10-y estimated risk for ASCVD but with an LDL-C of 160 to 189 mg/dL (4.1–4.9 mmol/L) or a 30-y ASCVD risk ≥10% (for those aged 30–59 y), a moderate-intensity statin is reasonable to reduce cumulative exposure to atherogenic lipoproteins. ASCVD Risk
SOURCE_PROVENANCE: PDF p39/e1192 §4.2.3.7 recommendation 3
SOURCE_IDS: SOURCE_A
DECISION_NODE_IDS: DN_4_2_3_7_R03
COR/LOE: 2a/C-LD
THRESHOLD_TIMING_DOSE: 30 to 59 y; &lt;3%; 160 to 189 mg/dL; 4.1–4.9 mmol/L; ≥10%; 30–59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DYS_CASE_038
ROLE: SOURCE_REVEAL
PROMPT: Consider adults being assessed for primary prevention of ASCVD. What health-behavior discussion accompanies LLT consideration?
FULL_EXPECTED_ANSWER: In adults being assessed for primary prevention of ASCVD, health behavior recommendations should be provided in addition to a benefit-risk discussion for consideration of LLT (Section 4.1.2, “Dietary Approaches in Dyslipidemia”).
SOURCE_PROVENANCE: PDF p39/e1192 §4.2.3.7 recommendation 1
SOURCE_IDS: SOURCE_A
DECISION_NODE_IDS: DN_4_2_3_7_R01
COR/LOE: 1/A
THRESHOLD_TIMING_DOSE: N/A
TERMINOLOGY: ASCVD
EVIDENCE_STATUS: SOURCE_LOCKED_AUDITED; AUDIT_STATUS: PASS
REVEAL_PART: N/A
TEACHING_RULE: Preserve all source qualifiers. Do not introduce outside clinical knowledge.
---
CASE_ID: DYS_CASE_039
ROLE: SOURCE_REVEAL
PROMPT: Consider adults aged 30 to 59 y, at low (&lt;3%) 10-y estimated risk for ASCVD who have an LDL-C &lt;160 mg/dL (4.1 mmol/L) and a 30-y risk estimate of &lt;10%. What prevention counseling applies?
FULL_EXPECTED_ANSWER: In adults aged 30 to 59 y, at low (&lt;3%) 10-y estimated risk for ASCVD who have an LDL-C &lt;160 mg/dL (4.1 mmol/L) and a 30-y risk estimate of &lt;10%, counseling on health behaviors is recommended to reduce LDL-C and risk for ASCVD.
SOURCE_PROVENANCE: PDF p39/e1192 §4.2.3.7 recommendation 2
SOURCE_IDS: SOURCE_A
DECISION_NODE_IDS: DN_4_2_3_7_R02
COR/LOE: 1/A
THRESHOLD_TIMING_DOSE: 30 to 59 y; &lt;3%; &lt;160 mg/dL; 4.1 mmol/L; &lt;10%
TERMINOLOGY: ASCVD
EVIDENCE_STATUS: SOURCE_LOCKED_AUDITED; AUDIT_STATUS: PASS
REVEAL_PART: N/A
TEACHING_RULE: Preserve all source qualifiers. Do not introduce outside clinical knowledge.
---
CASE_ID: DYS_CASE_040
ROLE: SOURCE_REVEAL
PROMPT: Consider adults aged 30 to 59 y, at low (&lt;3%) 10-y estimated risk for ASCVD but with an LDL-C of 160 to 189 mg/dL (4.1–4.9 mmol/L) or a 30-y ASCVD risk ≥10% (for those aged 30–59 y). What lipid-lowering approach applies?
FULL_EXPECTED_ANSWER: In adults aged 30 to 59 y, at low (&lt;3%) 10-y estimated risk for ASCVD but with an LDL-C of 160 to 189 mg/dL (4.1–4.9 mmol/L) or a 30-y ASCVD risk ≥10% (for those aged 30–59 y), a moderate-intensity statin is reasonable to reduce cumulative exposure to atherogenic lipoproteins. ASCVD Risk
SOURCE_PROVENANCE: PDF p39/e1192 §4.2.3.7 recommendation 3
SOURCE_IDS: SOURCE_A
DECISION_NODE_IDS: DN_4_2_3_7_R03
COR/LOE: 2a/C-LD
THRESHOLD_TIMING_DOSE: 30 to 59 y; &lt;3%; 160 to 189 mg/dL; 4.1–4.9 mmol/L; ≥10%; 30–59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DYS_CASE_041
ROLE: CASE_DECIDE
PROMPT: Consider adults at borderline (3% to &lt;5%) 10-y estimated risk for ASCVD in whom a decision is made to initiate statin therapy for primary prevention. What statin intensity and LDL-C reduction goal apply?
FULL_EXPECTED_ANSWER: In adults at borderline (3% to &lt;5%) 10-y estimated risk for ASCVD in whom a decision is made to initiate statin therapy for primary prevention, a moderate-intensity statin is reasonable to achieve ≥30% to 49% LDL-C reduction and to reduce ASCVD risk.
SOURCE_PROVENANCE: PDF p39/e1192 §4.2.3.7 recommendation 4
SOURCE_IDS: SOURCE_A
DECISION_NODE_IDS: DN_4_2_3_7_R04
COR/LOE: 2a/A
THRESHOLD_TIMING_DOSE: 3%; &lt;5%; ≥30%; 49%
TERMINOLOGY: ASCVD
EVIDENCE_STATUS: SOURCE_LOCKED_AUDITED; AUDIT_STATUS: PASS
REVEAL_PART: N/A
TEACHING_RULE: Preserve all source qualifiers. Do not introduce outside clinical knowledge.
---
CASE_ID: DYS_CASE_042
ROLE: CASE_DECIDE
PROMPT: Consider adults at intermediate (5% to &lt;10%) 10-y estimated risk for ASCVD. What statin intensity and LDL-C reduction goal apply?
FULL_EXPECTED_ANSWER: In adults at intermediate (5% to &lt;10%) 10-y estimated risk for ASCVD, at least a moderateintensity statin is recommended to achieve ≥30% to 49% LDL-C reduction and to reduce ASCVD risk; for those in the higher end of this risk range, a high-intensity statin is beneficial to further reduce LDL-C by ≥50% and reduce ASCVD risk.
SOURCE_PROVENANCE: PDF p39/e1192 §4.2.3.7 recommendation 5
SOURCE_IDS: SOURCE_A
DECISION_NODE_IDS: DN_4_2_3_7_R05
COR/LOE: 1/A
THRESHOLD_TIMING_DOSE: 5%; &lt;10%; ≥30%; 49%; ≥50%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DYS_CASE_041
ROLE: SOURCE_REVEAL
PROMPT: Consider adults at borderline (3% to &lt;5%) 10-y estimated risk for ASCVD in whom a decision is made to initiate statin therapy for primary prevention. What statin intensity and LDL-C reduction goal apply?
FULL_EXPECTED_ANSWER: In adults at borderline (3% to &lt;5%) 10-y estimated risk for ASCVD in whom a decision is made to initiate statin therapy for primary prevention, a moderate-intensity statin is reasonable to achieve ≥30% to 49% LDL-C reduction and to reduce ASCVD risk.
SOURCE_PROVENANCE: PDF p39/e1192 §4.2.3.7 recommendation 4
SOURCE_IDS: SOURCE_A
DECISION_NODE_IDS: DN_4_2_3_7_R04
COR/LOE: 2a/A
THRESHOLD_TIMING_DOSE: 3%; &lt;5%; ≥30%; 49%
TERMINOLOGY: ASCVD
EVIDENCE_STATUS: SOURCE_LOCKED_AUDITED; AUDIT_STATUS: PASS
REVEAL_PART: N/A
TEACHING_RULE: Preserve all source qualifiers. Do not introduce outside clinical knowledge.
---
CASE_ID: DYS_CASE_042
ROLE: SOURCE_REVEAL
PROMPT: Consider adults at intermediate (5% to &lt;10%) 10-y estimated risk for ASCVD. What statin intensity and LDL-C reduction goal apply?
FULL_EXPECTED_ANSWER: In adults at intermediate (5% to &lt;10%) 10-y estimated risk for ASCVD, at least a moderateintensity statin is recommended to achieve ≥30% to 49% LDL-C reduction and to reduce ASCVD risk; for those in the higher end of this risk range, a high-intensity statin is beneficial to further reduce LDL-C by ≥50% and reduce ASCVD risk.
SOURCE_PROVENANCE: PDF p39/e1192 §4.2.3.7 recommendation 5
SOURCE_IDS: SOURCE_A
DECISION_NODE_IDS: DN_4_2_3_7_R05
COR/LOE: 1/A
THRESHOLD_TIMING_DOSE: 5%; &lt;10%; ≥30%; 49%; ≥50%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DYS_CASE_043
ROLE: CASE_DECIDE
PROMPT: Consider adults at borderline (3% to &lt;5%) or intermediate (5% to &lt;10%) 10-y estimated risk for ASCVD in whom statin therapy is initiated. What lipid treatment goals apply?
FULL_EXPECTED_ANSWER: In adults at borderline (3% to &lt;5%) or intermediate (5% to &lt;10%) 10-y estimated risk for ASCVD in whom statin therapy is initiated, it is reasonable to treat to a goal of LDL-C &lt;100 mg/dL (2.6 mmol/L) and non–HDL-C &lt;130 mg/dL (3.4 mmol/L) to reduce ASCVD risk.
SOURCE_PROVENANCE: PDF p39/e1192 §4.2.3.7 recommendation 6
SOURCE_IDS: SOURCE_A
DECISION_NODE_IDS: DN_4_2_3_7_R06
COR/LOE: 2a/B-NR
THRESHOLD_TIMING_DOSE: 3%; &lt;5%; 5%; &lt;10%; &lt;100 mg; 2.6 mmol/L; &lt;130 mg/dL; 3.4 mmol/L
TERMINOLOGY: ASCVD
EVIDENCE_STATUS: SOURCE_LOCKED_AUDITED; AUDIT_STATUS: PASS
REVEAL_PART: N/A
TEACHING_RULE: Preserve all source qualifiers. Do not introduce outside clinical knowledge.
---
CASE_ID: DYS_CASE_044
ROLE: CASE_DECIDE
PROMPT: An adult has high (≥10%) 10-y estimated ASCVD risk, and LLT is being initiated for primary prevention. What statin intensity and LDL-C reduction goal apply?
FULL_EXPECTED_ANSWER: In adults at high (≥10%) 10-y estimated risk for ASCVD in whom LLT is initiated for primary prevention, high-intensity statin therapy is recommended to achieve an LDL-C reduction of ≥50% to reduce the risk of ASCVD.
SOURCE_PROVENANCE: PDF p39/e1192 §4.2.3.7 recommendation 7
SOURCE_IDS: SOURCE_A
DECISION_NODE_IDS: DN_4_2_3_7_R07
COR/LOE: 1/A
THRESHOLD_TIMING_DOSE: ≥10%; ≥50%
TERMINOLOGY: ASCVD
EVIDENCE_STATUS: SOURCE_LOCKED_AUDITED; AUDIT_STATUS: PASS
REVEAL_PART: N/A
TEACHING_RULE: Preserve all source qualifiers. Do not introduce outside clinical knowledge.
---
CASE_ID: DYS_CASE_045
ROLE: CASE_DECIDE
PROMPT: Consider adults at high (≥10%) 10-y estimated risk for ASCVD in whom a decision to initiate statin therapy is made. What lipid treatment goals apply?
FULL_EXPECTED_ANSWER: In adults at high (≥10%) 10-y estimated risk for ASCVD in whom a decision to initiate statin therapy is made, it is reasonable to treat to a goal of LDL-C &lt;70 mg/dL (1.8 mmol/L) and non– HDL-C &lt;100 mg/dL (2.6 mmol/L) to reduce ASCVD risk.
SOURCE_PROVENANCE: PDF p39/e1192 §4.2.3.7 recommendation 8
SOURCE_IDS: SOURCE_A
DECISION_NODE_IDS: DN_4_2_3_7_R08
COR/LOE: 2a/B-R
THRESHOLD_TIMING_DOSE: ≥10%;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DYS_CASE_043
ROLE: SOURCE_REVEAL
PROMPT: Consider adults at borderline (3% to &lt;5%) or intermediate (5% to &lt;10%) 10-y estimated risk for ASCVD in whom statin therapy is initiated. What lipid treatment goals apply?
FULL_EXPECTED_ANSWER: In adults at borderline (3% to &lt;5%) or intermediate (5% to &lt;10%) 10-y estimated risk for ASCVD in whom statin therapy is initiated, it is reasonable to treat to a goal of LDL-C &lt;100 mg/dL (2.6 mmol/L) and non–HDL-C &lt;130 mg/dL (3.4 mmol/L) to reduce ASCVD risk.
SOURCE_PROVENANCE: PDF p39/e1192 §4.2.3.7 recommendation 6
SOURCE_IDS: SOURCE_A
DECISION_NODE_IDS: DN_4_2_3_7_R06
COR/LOE: 2a/B-NR
THRESHOLD_TIMING_DOSE: 3%; &lt;5%; 5%; &lt;10%; &lt;100 mg; 2.6 mmol/L; &lt;130 mg/dL; 3.4 mmol/L
TERMINOLOGY: ASCVD
EVIDENCE_STATUS: SOURCE_LOCKED_AUDITED; AUDIT_STATUS: PASS
REVEAL_PART: N/A
TEACHING_RULE: Preserve all source qualifiers. Do not introduce outside clinical knowledge.
---
CASE_ID: DYS_CASE_044
ROLE: SOURCE_REVEAL
PROMPT: An adult has high (≥10%) 10-y estimated ASCVD risk, and LLT is being initiated for primary prevention. What statin intensity and LDL-C reduction goal apply?
FULL_EXPECTED_ANSWER: In adults at high (≥10%) 10-y estimated risk for ASCVD in whom LLT is initiated for primary prevention, high-intensity statin therapy is recommended to achieve an LDL-C reduction of ≥50% to reduce the risk of ASCVD.
SOURCE_PROVENANCE: PDF p39/e1192 §4.2.3.7 recommendation 7
SOURCE_IDS: SOURCE_A
DECISION_NODE_IDS: DN_4_2_3_7_R07
COR/LOE: 1/A
THRESHOLD_TIMING_DOSE: ≥10%; ≥50%
TERMINOLOGY: ASCVD
EVIDENCE_STATUS: SOURCE_LOCKED_AUDITED; AUDIT_STATUS: PASS
REVEAL_PART: N/A
TEACHING_RULE: Preserve all source qualifiers. Do not introduce outside clinical knowledge.
---
CASE_ID: DYS_CASE_045
ROLE: SOURCE_REVEAL
PROMPT: Consider adults at high (≥10%) 10-y estimated risk for ASCVD in whom a decision to initiate statin therapy is made. What lipid treatment goals apply?
FULL_EXPECTED_ANSWER: In adults at high (≥10%) 10-y estimated risk for ASCVD in whom a decision to initiate statin therapy is made, it is reasonable to treat to a goal of LDL-C &lt;70 mg/dL (1.8 mmol/L) and non– HDL-C &lt;100 mg/dL (2.6 mmol/L) to reduce ASCVD risk.
SOURCE_PROVENANCE: PDF p39/e1192 §4.2.3.7 recommendation 8
SOURCE_IDS: SOURCE_A
DECISION_NODE_IDS: DN_4_2_3_7_R08
COR/LOE: 2a/B-R
THRESHOLD_TIMING_DOSE: ≥10%;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DYS_CASE_046
ROLE: CASE_DECIDE
PROMPT: Consider adults at high (≥10%) 10-y estimated risk for ASCVD on maximally tolerated statin. What add-on therapy, if any, applies when lipid goals are unmet?
FULL_EXPECTED_ANSWER: In adults at high (≥10%) 10-y estimated risk for ASCVD on maximally tolerated statin, it is reasonable to add ezetimibe if a goal of LDL-C &lt;70 mg/dL (1.8 mmol/L) and non–HDL-C &lt;100 mg/dL (2.6 mmol/L) is not achieved.
SOURCE_PROVENANCE: PDF p39/e1192 §4.2.3.7 recommendation 9
SOURCE_IDS: SOURCE_A
DECISION_NODE_IDS: DN_4_2_3_7_R09
COR/LOE: 2a/B-R
THRESHOLD_TIMING_DOSE: ≥10%; &lt;70 mg/dL; 1.8 mmol/L; &lt;100 mg; 2.6 mmol/L
TERMINOLOGY: ASCVD
EVIDENCE_STATUS: SOURCE_LOCKED_AUDITED; AUDIT_STATUS: PASS
REVEAL_PART: N/A
TEACHING_RULE: Preserve all source qualifiers. Do not introduce outside clinical knowledge.
---
CASE_ID: DYS_CASE_047
ROLE: CASE_DECIDE
PROMPT: Consider adults at high (≥10%) 10-y estimated risk for ASCVD on maximally tolerated statin with or without ezetimibe. What further add-on therapy, if any, applies when lipid goals are unmet?
FULL_EXPECTED_ANSWER: In adults at high (≥10%) 10-y estimated risk for ASCVD on maximally tolerated statin with or without ezetimibe, it may be reasonable to add a PCSK9 mAb or bempedoic acid if a goal of LDL-C &lt;70 mg/dL (1.8 mmol/L) and non–HDL-C &lt;100 mg/dL (2.6 mmol/L) is not achieved to lower LDL-C and reduce ASCVD risk.
SOURCE_PROVENANCE: PDF p39/e1192 §4.2.3.7 recommendation 10
SOURCE_IDS: SOURCE_A
DECISION_NODE_IDS: DN_4_2_3_7_R10
COR/LOE: 2b/B-NR
THRESHOLD_TIMING_DOSE: ≥10%; &lt;70 mg/dL; 1.8 mmol/L; &lt;100 mg/dL; 2.6 mmol/L
TERMINOLOGY: ASCVD
EVIDENCE_STATUS: SOURCE_LOCKED_AUDITED; AUDIT_STATUS: PASS
REVEAL_PART: N/A
TEACHING_RULE: Preserve all source qualifiers. Do not introduce outside clinical knowledge.
---
CASE_ID: DYS_CASE_048
ROLE: CASE_DECIDE
PROMPT: Consider individuals with a life expectancy of &lt;1 y. What should be considered for primary-prevention LLT?
FULL_EXPECTED_ANSWER: In individuals with a life expectancy of &lt;1 y, it may be reasonable to discontinue LLT that was prescribed for primary prevention purposes to avoid unnecessary medication use or adverse medication effects.
SOURCE_PROVENANCE: PDF p39/e1192 §4.2.3.7 recommendation 11
SOURCE_IDS: SOURCE_A
DECISION_NODE_IDS: DN_4_2_3_7_R11
COR/LOE: 2b/B-R
THRESHOLD_TIMING_DOSE: &lt;1 y
TERMINOLOGY: 4.2.3.7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DYS_CASE_046
ROLE: SOURCE_REVEAL
PROMPT: Consider adults at high (≥10%) 10-y estimated risk for ASCVD on maximally tolerated statin. What add-on therapy, if any, applies when lipid goals are unmet?
FULL_EXPECTED_ANSWER: In adults at high (≥10%) 10-y estimated risk for ASCVD on maximally tolerated statin, it is reasonable to add ezetimibe if a goal of LDL-C &lt;70 mg/dL (1.8 mmol/L) and non–HDL-C &lt;100 mg/dL (2.6 mmol/L) is not achieved.
SOURCE_PROVENANCE: PDF p39/e1192 §4.2.3.7 recommendation 9
SOURCE_IDS: SOURCE_A
DECISION_NODE_IDS: DN_4_2_3_7_R09
COR/LOE: 2a/B-R
THRESHOLD_TIMING_DOSE: ≥10%; &lt;70 mg/dL; 1.8 mmol/L; &lt;100 mg; 2.6 mmol/L
TERMINOLOGY: ASCVD
EVIDENCE_STATUS: SOURCE_LOCKED_AUDITED; AUDIT_STATUS: PASS
REVEAL_PART: N/A
TEACHING_RULE: Preserve all source qualifiers. Do not introduce outside clinical knowledge.
---
CASE_ID: DYS_CASE_047
ROLE: SOURCE_REVEAL
PROMPT: Consider adults at high (≥10%) 10-y estimated risk for ASCVD on maximally tolerated statin with or without ezetimibe. What further add-on therapy, if any, applies when lipid goals are unmet?
FULL_EXPECTED_ANSWER: In adults at high (≥10%) 10-y estimated risk for ASCVD on maximally tolerated statin with or without ezetimibe, it may be reasonable to add a PCSK9 mAb or bempedoic acid if a goal of LDL-C &lt;70 mg/dL (1.8 mmol/L) and non–HDL-C &lt;100 mg/dL (2.6 mmol/L) is not achieved to lower LDL-C and reduce ASCVD risk.
SOURCE_PROVENANCE: PDF p39/e1192 §4.2.3.7 recommendation 10
SOURCE_IDS: SOURCE_A
DECISION_NODE_IDS: DN_4_2_3_7_R10
COR/LOE: 2b/B-NR
THRESHOLD_TIMING_DOSE: ≥10%; &lt;70 mg/dL; 1.8 mmol/L; &lt;100 mg/dL; 2.6 mmol/L
TERMINOLOGY: ASCVD
EVIDENCE_STATUS: SOURCE_LOCKED_AUDITED; AUDIT_STATUS: PASS
REVEAL_PART: N/A
TEACHING_RULE: Preserve all source qualifiers. Do not introduce outside clinical knowledge.
---
CASE_ID: DYS_CASE_048
ROLE: SOURCE_REVEAL
PROMPT: Consider individuals with a life expectancy of &lt;1 y. What should be considered for primary-prevention LLT?
FULL_EXPECTED_ANSWER: In individuals with a life expectancy of &lt;1 y, it may be reasonable to discontinue LLT that was prescribed for primary prevention purposes to avoid unnecessary medication use or adverse medication effects.
SOURCE_PROVENANCE: PDF p39/e1192 §4.2.3.7 recommendation 11
SOURCE_IDS: SOURCE_A
DECISION_NODE_IDS: DN_4_2_3_7_R11
COR/LOE: 2b/B-R
THRESHOLD_TIMING_DOSE: &lt;1 y
TERMINOLOGY: 4.2.3.7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DYS_CASE_049
ROLE: CASE_DECIDE
PROMPT: An adult has baseline untreated LDL-C &lt;70 mg/dL (1.8 mmol/L) and non–HDL-C &lt;100 mg/dL (2.6 mmol/L), with no additional ASCVD risk factors. Is initiating LLT for primary prevention likely to reduce ASCVD risk?
FULL_EXPECTED_ANSWER: In adults with a baseline untreated LDL-C &lt;70 mg/dL (1.8 mmol/L) and non–HDL-C &lt;100 mg/dL (2.6 mmol/L) and without additional ASCVD risk factors, initiation of LLT for primary prevention is unlikely to reduce ASCVD risk.
SOURCE_PROVENANCE: PDF p39/e1192 §4.2.3.7 recommendation 12
SOURCE_IDS: SOURCE_A
DECISION_NODE_IDS: DN_4_2_3_7_R12
COR/LOE: 3: No Benefit/B-NR
THRESHOLD_TIMING_DOSE: &lt;70 mg/dL; 1.8 mmol/L; &lt;100 mg;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DYS_CASE_049
ROLE: SOURCE_REVEAL
PROMPT: An adult has baseline untreated LDL-C &lt;70 mg/dL (1.8 mmol/L) and non–HDL-C &lt;100 mg/dL (2.6 mmol/L), with no additional ASCVD risk factors. Is initiating LLT for primary prevention likely to reduce ASCVD risk?
FULL_EXPECTED_ANSWER: In adults with a baseline untreated LDL-C &lt;70 mg/dL (1.8 mmol/L) and non–HDL-C &lt;100 mg/dL (2.6 mmol/L) and without additional ASCVD risk factors, initiation of LLT for primary prevention is unlikely to reduce ASCVD risk.
SOURCE_PROVENANCE: PDF p39/e1192 §4.2.3.7 recommendation 12
SOURCE_IDS: SOURCE_A
DECISION_NODE_IDS: DN_4_2_3_7_R12
COR/LOE: 3: No Benefit/B-NR
THRESHOLD_TIMING_DOSE: &lt;70 mg/dL; 1.8 mmol/L; &lt;100 mg;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DYS_CASE_055
ROLE: CASE_DECIDE
PROMPT: Consider adults with severe hypercholesterolemia with an LDL-C ≥190 mg/dL (4.9 mmol/L). How should secondary causes be handled?
FULL_EXPECTED_ANSWER: In adults with severe hypercholesterolemia with an LDL-C ≥190 mg/dL (4.9 mmol/L),* secondary causes of dyslipidemia should be excluded and addressed to reduce LDL-C (Table 15).
SOURCE_PROVENANCE: PDF p45/e1198 §4.2.4.3 recommendation 1
SOURCE_IDS: SOURCE_A
DECISION_NODE_IDS: DN_4_2_4_3_R01
COR/LOE: 1/B-NR
THRESHOLD_TIMING_DOSE: ≥190 mg/dL; 4.9 mmol/L
TERMINOLOGY: 4.2.4.3
EVIDENCE_STATUS: SOURCE_LOCKED_AUDITED; AUDIT_STATUS: PASS
REVEAL_PART: N/A
TEACHING_RULE: Preserve all source qualifiers. Do not introduce outside clinical knowledge.
---
CASE_ID: DYS_CASE_056
ROLE: CASE_DECIDE
PROMPT: Consider adults with severe hypercholesterolemia with an LDL-C ≥190 mg/dL (4.9 mmol/L). What initial lipid-lowering therapy applies?
FULL_EXPECTED_ANSWER: In adults with severe hypercholesterolemia with an LDL-C ≥190 mg/dL (4.9 mmol/L),* treatment with maximally tolerated statin therapy is recommended to lower LDL-C and reduce ASCVD risk.
SOURCE_PROVENANCE: PDF p45/e1198 §4.2.4.3 recommendation 2
SOURCE_IDS: SOURCE_A
DECISION_NODE_IDS: DN_4_2_4_3_R02
COR/LOE: 1/B-R
THRESHOLD_TIMING_DOSE: ≥190 mg/dL; 4.9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DYS_CASE_055
ROLE: SOURCE_REVEAL
PROMPT: Consider adults with severe hypercholesterolemia with an LDL-C ≥190 mg/dL (4.9 mmol/L). How should secondary causes be handled?
FULL_EXPECTED_ANSWER: In adults with severe hypercholesterolemia with an LDL-C ≥190 mg/dL (4.9 mmol/L),* secondary causes of dyslipidemia should be excluded and addressed to reduce LDL-C (Table 15).
SOURCE_PROVENANCE: PDF p45/e1198 §4.2.4.3 recommendation 1
SOURCE_IDS: SOURCE_A
DECISION_NODE_IDS: DN_4_2_4_3_R01
COR/LOE: 1/B-NR
THRESHOLD_TIMING_DOSE: ≥190 mg/dL; 4.9 mmol/L
TERMINOLOGY: 4.2.4.3
EVIDENCE_STATUS: SOURCE_LOCKED_AUDITED; AUDIT_STATUS: PASS
REVEAL_PART: N/A
TEACHING_RULE: Preserve all source qualifiers. Do not introduce outside clinical knowledge.
---
CASE_ID: DYS_CASE_056
ROLE: SOURCE_REVEAL
PROMPT: Consider adults with severe hypercholesterolemia with an LDL-C ≥190 mg/dL (4.9 mmol/L). What initial lipid-lowering therapy applies?
FULL_EXPECTED_ANSWER: In adults with severe hypercholesterolemia with an LDL-C ≥190 mg/dL (4.9 mmol/L),* treatment with maximally tolerated statin therapy is recommended to lower LDL-C and reduce ASCVD risk.
SOURCE_PROVENANCE: PDF p45/e1198 §4.2.4.3 recommendation 2
SOURCE_IDS: SOURCE_A
DECISION_NODE_IDS: DN_4_2_4_3_R02
COR/LOE: 1/B-R
THRESHOLD_TIMING_DOSE: ≥190 mg/dL; 4.9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DYS_CASE_057
ROLE: CASE_DECIDE
PROMPT: Adults with severe hypercholesterolemia with an LDL-C ≥190 mg/dL (4.9 mmol/L)* and without clinical ASCVD,† additional ASCVD risk factors, HeFH, or subclinical atherosclerosis who are on maximally tolerated statin therapy. Which add-on lipid-lowering therapies and treatment goals apply?
FULL_EXPECTED_ANSWER: In adults with severe hypercholesterolemia with an LDL-C ≥190 mg/dL (4.9 mmol/L)* and without clinical ASCVD,† additional ASCVD risk factors, HeFH, or subclinical atherosclerosis who are on maximally tolerated statin therapy, the addition of ezetimibe, a PCSK9 mAb, and/or bempedoic acid is recommended to achieve a goal of LDL-C &lt;100 mg/dL (2.6 mmol/L) and a non–HDL-C goal of &lt;130 mg/dL (3.4 mmol/L) and to reduce ASCVD risk.
SOURCE_PROVENANCE: PDF p45/e1198 §4.2.4.3 recommendation 3
SOURCE_IDS: SOURCE_A
DECISION_NODE_IDS: DN_4_2_4_3_R03
COR/LOE: 1/B-NR
THRESHOLD_TIMING_DOSE: ≥190 mg/dL; 4.9 mmol/L; &lt;100 mg/dL; 2.6 mmol/L; &lt;130 mg/dL; 3.4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DYS_CASE_057
ROLE: SOURCE_REVEAL
PROMPT: Adults with severe hypercholesterolemia with an LDL-C ≥190 mg/dL (4.9 mmol/L)* and without clinical ASCVD,† additional ASCVD risk factors, HeFH, or subclinical atherosclerosis who are on maximally tolerated statin therapy. Which add-on lipid-lowering therapies and treatment goals apply?
FULL_EXPECTED_ANSWER: In adults with severe hypercholesterolemia with an LDL-C ≥190 mg/dL (4.9 mmol/L)* and without clinical ASCVD,† additional ASCVD risk factors, HeFH, or subclinical atherosclerosis who are on maximally tolerated statin therapy, the addition of ezetimibe, a PCSK9 mAb, and/or bempedoic acid is recommended to achieve a goal of LDL-C &lt;100 mg/dL (2.6 mmol/L) and a non–HDL-C goal of &lt;130 mg/dL (3.4 mmol/L) and to reduce ASCVD risk.
SOURCE_PROVENANCE: PDF p45/e1198 §4.2.4.3 recommendation 3
SOURCE_IDS: SOURCE_A
DECISION_NODE_IDS: DN_4_2_4_3_R03
COR/LOE: 1/B-NR
THRESHOLD_TIMING_DOSE: ≥190 mg/dL; 4.9 mmol/L; &lt;100 mg/dL; 2.6 mmol/L; &lt;130 mg/dL; 3.4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DYS_CASE_058
ROLE: CASE_DECIDE
PROMPT: An adult with LDL-C ≥190 mg/dL (4.9 mmol/L)* and no clinical ASCVD† has clinical or genetic confirmation of HeFH, additional ASCVD risk factors, or documented coronary calcification, and is on maximally tolerated statin therapy. Which add-on therapies and lipid goals are supported to lower ASCVD risk?
FULL_EXPECTED_ANSWER: In adults with severe hypercholesterolemia with an LDL-C ≥190 mg/dL (4.9 mmol/L)* without clinical ASCVD† but with clinical or genetic confirmation of HeFH, additional ASCVD risk factors, or documented coronary calcification, who are on maximally tolerated statin therapy, the addition of ezetimibe, a PCSK9 mAb, and/ or bempedoic acid to achieve a goal of LDL-C &lt;70 mg/dL (1.8 mmol/L) and non–HDL-C &lt;100 mg/dL (2.6 mmol/L) is recommended to lower LDL-C and reduce ASCVD risk.
SOURCE_PROVENANCE: PDF p46/e1199 §4.2.4.3 recommendation 4
SOURCE_IDS: SOURCE_A
DECISION_NODE_IDS: DN_4_2_4_3_R04
COR/LOE: 1/B-R
THRESHOLD_TIMING_DOSE: ≥190 mg/dL; 4.9 mmol/L;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DYS_CASE_058
ROLE: SOURCE_REVEAL
PROMPT: An adult with LDL-C ≥190 mg/dL (4.9 mmol/L)* and no clinical ASCVD† has clinical or genetic confirmation of HeFH, additional ASCVD risk factors, or documented coronary calcification, and is on maximally tolerated statin therapy. Which add-on therapies and lipid goals are supported to lower ASCVD risk?
FULL_EXPECTED_ANSWER: In adults with severe hypercholesterolemia with an LDL-C ≥190 mg/dL (4.9 mmol/L)* without clinical ASCVD† but with clinical or genetic confirmation of HeFH, additional ASCVD risk factors, or documented coronary calcification, who are on maximally tolerated statin therapy, the addition of ezetimibe, a PCSK9 mAb, and/ or bempedoic acid to achieve a goal of LDL-C &lt;70 mg/dL (1.8 mmol/L) and non–HDL-C &lt;100 mg/dL (2.6 mmol/L) is recommended to lower LDL-C and reduce ASCVD risk.
SOURCE_PROVENANCE: PDF p46/e1199 §4.2.4.3 recommendation 4
SOURCE_IDS: SOURCE_A
DECISION_NODE_IDS: DN_4_2_4_3_R04
COR/LOE: 1/B-R
THRESHOLD_TIMING_DOSE: ≥190 mg/dL; 4.9 mmol/L;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DYS_CASE_059
ROLE: CASE_DECIDE
PROMPT: Adults with severe hypercholesterolemia with an LDL-C ≥190 mg/dL (4.9 mmol/L)* and clinical ASCVD who are on maximally tolerated statin therapy. Which add-on lipid-lowering therapies and treatment goals apply?
FULL_EXPECTED_ANSWER: In adults with severe hypercholesterolemia with an LDL-C ≥190 mg/dL (4.9 mmol/L)* and clinical ASCVD who are on maximally tolerated statin therapy, the addition of ezetimibe, a PCSK9 mAb, and/or bempedoic acid is recommended to achieve a goal of LDL-C &lt;55 mg/dL (1.4 mmol/L) and non–HDL-C &lt;85 mg/dL (2.2 mmol/L) to lower LDL-C and reduce ASCVD risk.
SOURCE_PROVENANCE: PDF p46/e1199 §4.2.4.3 recommendation 5
SOURCE_IDS: SOURCE_A
DECISION_NODE_IDS: DN_4_2_4_3_R05
COR/LOE: 1/B-R
THRESHOLD_TIMING_DOSE: ≥190 mg/dL; 4.9 mmol/L; &lt;55 mg/dL; 1.4 mmol/L; &lt;85 mg/dL; 2.2 mmol/L
TERMINOLOGY: ASCVD
EVIDENCE_STATUS: SOURCE_LOCKED_AUDITED; AUDIT_STATUS: PASS
REVEAL_PART: N/A
TEACHING_RULE: Preserve all source qualifiers. Do not introduce outside clinical knowledge.
---
CASE_ID: DYS_CASE_060
ROLE: CASE_DECIDE
PROMPT: An adult with severe hypercholesterolemia, with or without clinical ASCVD, has LDL-C ≥100 mg/dL (2.6 mmol/L) despite maximally tolerated statin with or without ezetimibe therapy. What role does inclisiran have in lowering LDL-C?
FULL_EXPECTED_ANSWER: In adults with severe hypercholesterolemia, with or without clinical ASCVD, and LDL-C ≥100 mg/dL (2.6 mmol/L) despite maximally tolerated statin with or without ezetimibe therapy, treatment with inclisiran is reasonable to lower LDL-C.‡
SOURCE_PROVENANCE: PDF p46/e1199 §4.2.4.3 recommendation 6
SOURCE_IDS: SOURCE_A
DECISION_NODE_IDS: DN_4_2_4_3_R06
COR/LOE: 2a/B-R
THRESHOLD_TIMING_DOSE: ≥100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DYS_CASE_059
ROLE: SOURCE_REVEAL
PROMPT: Adults with severe hypercholesterolemia with an LDL-C ≥190 mg/dL (4.9 mmol/L)* and clinical ASCVD who are on maximally tolerated statin therapy. Which add-on lipid-lowering therapies and treatment goals apply?
FULL_EXPECTED_ANSWER: In adults with severe hypercholesterolemia with an LDL-C ≥190 mg/dL (4.9 mmol/L)* and clinical ASCVD who are on maximally tolerated statin therapy, the addition of ezetimibe, a PCSK9 mAb, and/or bempedoic acid is recommended to achieve a goal of LDL-C &lt;55 mg/dL (1.4 mmol/L) and non–HDL-C &lt;85 mg/dL (2.2 mmol/L) to lower LDL-C and reduce ASCVD risk.
SOURCE_PROVENANCE: PDF p46/e1199 §4.2.4.3 recommendation 5
SOURCE_IDS: SOURCE_A
DECISION_NODE_IDS: DN_4_2_4_3_R05
COR/LOE: 1/B-R
THRESHOLD_TIMING_DOSE: ≥190 mg/dL; 4.9 mmol/L; &lt;55 mg/dL; 1.4 mmol/L; &lt;85 mg/dL; 2.2 mmol/L
TERMINOLOGY: ASCVD
EVIDENCE_STATUS: SOURCE_LOCKED_AUDITED; AUDIT_STATUS: PASS
REVEAL_PART: N/A
TEACHING_RULE: Preserve all source qualifiers. Do not introduce outside clinical knowledge.
---
CASE_ID: DYS_CASE_060
ROLE: SOURCE_REVEAL
PROMPT: An adult with severe hypercholesterolemia, with or without clinical ASCVD, has LDL-C ≥100 mg/dL (2.6 mmol/L) despite maximally tolerated statin with or without ezetimibe therapy. What role does inclisiran have in lowering LDL-C?
FULL_EXPECTED_ANSWER: In adults with severe hypercholesterolemia, with or without clinical ASCVD, and LDL-C ≥100 mg/dL (2.6 mmol/L) despite maximally tolerated statin with or without ezetimibe therapy, treatment with inclisiran is reasonable to lower LDL-C.‡
SOURCE_PROVENANCE: PDF p46/e1199 §4.2.4.3 recommendation 6
SOURCE_IDS: SOURCE_A
DECISION_NODE_IDS: DN_4_2_4_3_R06
COR/LOE: 2a/B-R
THRESHOLD_TIMING_DOSE: ≥100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DYS_CASE_149
ROLE: CASE_DECIDE
PROMPT: A patient has an unexpectedly high LDL-C. Which physiological or secondary causes warrant evaluation?
FULL_EXPECTED_ANSWER: Evaluate physiological and secondary causes of LDL-C elevation when clinically relevant.
SOURCE_PROVENANCE: Table 15, PDF p46/e1199
SOURCE_IDS: SOURCE_A
DECISION_NODE_IDS: DN_T15_SECONDARY_LDL_CAUSES
COR/LOE: N/A
THRESHOLD_TIMING_DOSE: N/A
TERMINOLOGY: SECONDARY_CAUSE_TABLE
EVIDENCE_STATUS: SOURCE_LOCKED_AUDITED; AUDIT_STATUS: PASS
REVEAL_PART: N/A
TEACHING_RULE: Preserve all source qualifiers. Do not introduce outside clinical knowledge.
---
CASE_ID: DYS_CASE_167
ROLE: CASE_DECIDE
PROMPT: A patient has markedly elevated atherogenic lipoproteins. What thresholds define severe hypercholesterolemia?
FULL_EXPECTED_ANSWER: The section footnote defines severe hypercholesterolemia as LDL-C &gt;190 mg/dL, non-HDL-C &gt;220 mg/dL, and/or apoB &gt;140 mg/dL.
SOURCE_PROVENANCE: §4.2.4.3 footnote, PDF p46/e1199
SOURCE_IDS: SOURCE_A
DECISION_NODE_IDS: DN_4_2_4_3_SEVERE_HYPERCHOL_DEFINITION
COR/LOE: N/A
THRESHOLD_TIMING_DOSE: LDL-C &gt;190; non-HDL-C &gt;220; apoB &gt;140 mg/dL
TERMINOLOGY: severe hypercholesterolemia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DYS_CASE_149
ROLE: SOURCE_REVEAL
PROMPT: A patient has an unexpectedly high LDL-C. Which physiological or secondary causes warrant evaluation?
FULL_EXPECTED_ANSWER: Evaluate physiological and secondary causes of LDL-C elevation when clinically relevant.
SOURCE_PROVENANCE: Table 15, PDF p46/e1199
SOURCE_IDS: SOURCE_A
DECISION_NODE_IDS: DN_T15_SECONDARY_LDL_CAUSES
COR/LOE: N/A
THRESHOLD_TIMING_DOSE: N/A
TERMINOLOGY: SECONDARY_CAUSE_TABLE
EVIDENCE_STATUS: SOURCE_LOCKED_AUDITED; AUDIT_STATUS: PASS
REVEAL_PART: N/A
TEACHING_RULE: Preserve all source qualifiers. Do not introduce outside clinical knowledge.
---
CASE_ID: DYS_CASE_167
ROLE: SOURCE_REVEAL
PROMPT: A patient has markedly elevated atherogenic lipoproteins. What thresholds define severe hypercholesterolemia?
FULL_EXPECTED_ANSWER: The section footnote defines severe hypercholesterolemia as LDL-C &gt;190 mg/dL, non-HDL-C &gt;220 mg/dL, and/or apoB &gt;140 mg/dL.
SOURCE_PROVENANCE: §4.2.4.3 footnote, PDF p46/e1199
SOURCE_IDS: SOURCE_A
DECISION_NODE_IDS: DN_4_2_4_3_SEVERE_HYPERCHOL_DEFINITION
COR/LOE: N/A
THRESHOLD_TIMING_DOSE: LDL-C &gt;190; non-HDL-C &gt;220; apoB &gt;140 mg/dL
TERMINOLOGY: severe hypercholesterolemia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DYS_CASE_050
ROLE: CASE_DECIDE
PROMPT: An adult with HeFH needs short-term ASCVD risk prediction. What role do FH-specific risk scores have?
FULL_EXPECTED_ANSWER: In adults with HeFH, FH-specific risk scores may be useful in predicting short-term ASCVD risk.
SOURCE_PROVENANCE: PDF p44/e1197 §4.2.4.1 recommendation 1
SOURCE_IDS: SOURCE_A
DECISION_NODE_IDS: DN_4_2_4_1_R01
COR/LOE: 2b/B-NR
THRESHOLD_TIMING_DOSE: N/A
TERMINOLOGY: ASCVD
EVIDENCE_STATUS: SOURCE_LOCKED_AUDITED; AUDIT_STATUS: PASS
REVEAL_PART: N/A
TEACHING_RULE: Preserve all source qualifiers. Do not introduce outside clinical knowledge.
---
CASE_ID: DYS_CASE_051
ROLE: CASE_DECIDE
PROMPT: An individual with HeFH needs a 10- or 30-y ASCVD risk estimate. Should general-population risk assessment tools be used?
FULL_EXPECTED_ANSWER: In individuals with HeFH, standard risk assessment tools developed for the general population should not be used to calculate 10- or 30-y ASCVD risk.
SOURCE_PROVENANCE: PDF p44/e1197 §4.2.4.1 recommendation 2
SOURCE_IDS: SOURCE_A
DECISION_NODE_IDS: DN_4_2_4_1_R02
COR/LOE: 3: Harm/C-EO
THRESHOLD_TIMING_DOSE: N/A
TERMINOLOGY: ASCVD
EVIDENCE_STATUS: SOURCE_LOCKED_AUDITED; AUDIT_STATUS: PASS
REVEAL_PART: N/A
TEACHING_RULE: Preserve all source qualifiers. Do not introduce outside clinical knowledge.
---
CASE_ID: DYS_CASE_052
ROLE: CASE_DECIDE
PROMPT: An adult has possible, probable, or definite FH. What role does panel-based genetic testing have in risk identification and cascade screening?
FULL_EXPECTED_ANSWER: In adults with possible, probable, or definite FH, panel-based genetic testing for pathogenic/likely pathogenic rare variants for FH is beneficial to identify individuals at highest risk of cardiovascular events and to facilitate cascade screening.
SOURCE_PROVENANCE: PDF p44/e1197 §4.2.4.2 recommendation 1
SOURCE_IDS: SOURCE_A
DECISION_NODE_IDS: DN_4_2_4_2_R01
COR/LOE: 1/B-NR
THRESHOLD_TIMING_DOSE: N/A
TERMINOLOGY: 4.2.4.2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DYS_CASE_050
ROLE: SOURCE_REVEAL
PROMPT: An adult with HeFH needs short-term ASCVD risk prediction. What role do FH-specific risk scores have?
FULL_EXPECTED_ANSWER: In adults with HeFH, FH-specific risk scores may be useful in predicting short-term ASCVD risk.
SOURCE_PROVENANCE: PDF p44/e1197 §4.2.4.1 recommendation 1
SOURCE_IDS: SOURCE_A
DECISION_NODE_IDS: DN_4_2_4_1_R01
COR/LOE: 2b/B-NR
THRESHOLD_TIMING_DOSE: N/A
TERMINOLOGY: ASCVD
EVIDENCE_STATUS: SOURCE_LOCKED_AUDITED; AUDIT_STATUS: PASS
REVEAL_PART: N/A
TEACHING_RULE: Preserve all source qualifiers. Do not introduce outside clinical knowledge.
---
CASE_ID: DYS_CASE_051
ROLE: SOURCE_REVEAL
PROMPT: An individual with HeFH needs a 10- or 30-y ASCVD risk estimate. Should general-population risk assessment tools be used?
FULL_EXPECTED_ANSWER: In individuals with HeFH, standard risk assessment tools developed for the general population should not be used to calculate 10- or 30-y ASCVD risk.
SOURCE_PROVENANCE: PDF p44/e1197 §4.2.4.1 recommendation 2
SOURCE_IDS: SOURCE_A
DECISION_NODE_IDS: DN_4_2_4_1_R02
COR/LOE: 3: Harm/C-EO
THRESHOLD_TIMING_DOSE: N/A
TERMINOLOGY: ASCVD
EVIDENCE_STATUS: SOURCE_LOCKED_AUDITED; AUDIT_STATUS: PASS
REVEAL_PART: N/A
TEACHING_RULE: Preserve all source qualifiers. Do not introduce outside clinical knowledge.
---
CASE_ID: DYS_CASE_052
ROLE: SOURCE_REVEAL
PROMPT: An adult has possible, probable, or definite FH. What role does panel-based genetic testing have in risk identification and cascade screening?
FULL_EXPECTED_ANSWER: In adults with possible, probable, or definite FH, panel-based genetic testing for pathogenic/likely pathogenic rare variants for FH is beneficial to identify individuals at highest risk of cardiovascular events and to facilitate cascade screening.
SOURCE_PROVENANCE: PDF p44/e1197 §4.2.4.2 recommendation 1
SOURCE_IDS: SOURCE_A
DECISION_NODE_IDS: DN_4_2_4_2_R01
COR/LOE: 1/B-NR
THRESHOLD_TIMING_DOSE: N/A
TERMINOLOGY: 4.2.4.2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DYS_CASE_053
ROLE: CASE_DECIDE
PROMPT: An adult has LDL-C ≥190 mg/dL (4.9 mmol/L) without an identified secondary cause. What role does panel-based genetic testing have in identifying FH and ASCVD risk?
FULL_EXPECTED_ANSWER: In adults with severe hypercholesterolemia with an LDL-C ≥190 mg/dL (4.9 mmol/L) without an identified secondary cause, panel-based genetic testing for pathogenic/likely pathogenic rare variants for FH can be useful to identify those with FH who are at higher risk of ASCVD events.
SOURCE_PROVENANCE: PDF p44/e1197 §4.2.4.2 recommendation 2
SOURCE_IDS: SOURCE_A
DECISION_NODE_IDS: DN_4_2_4_2_R02
COR/LOE: 2a/B-NR
THRESHOLD_TIMING_DOSE: ≥190 mg/dL; 4.9 mmol/L
TERMINOLOGY: ASCVD
EVIDENCE_STATUS: SOURCE_LOCKED_AUDITED; AUDIT_STATUS: PASS
REVEAL_PART: N/A
TEACHING_RULE: Preserve all source qualifiers. Do not introduce outside clinical knowledge.
---
CASE_ID: DYS_CASE_054
ROLE: CASE_DECIDE
PROMPT: Consider adults with an elevated LDL-C of 160 to 189 mg/dL (4.1–4.9 mmol/L) without an identified secondary cause. What role, if any, does FH genetic testing have?
FULL_EXPECTED_ANSWER: In adults with an elevated LDL-C of 160 to 189 mg/dL (4.1–4.9 mmol/L) without an identified secondary cause, panel-based genetic testing for pathogenic/likely pathogenic rare variants for FH may be considered to identify those with FH who are at higher risk of events.
SOURCE_PROVENANCE: PDF p44/e1197 §4.2.4.2 recommendation 3
SOURCE_IDS: SOURCE_A
DECISION_NODE_IDS: DN_4_2_4_2_R03
COR/LOE: 2b/B-NR
THRESHOLD_TIMING_DOSE: 160 to 189 mg/dL; 4.1–4.9 mmol/L
TERMINOLOGY: 4.2.4.2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DYS_CASE_053
ROLE: SOURCE_REVEAL
PROMPT: An adult has LDL-C ≥190 mg/dL (4.9 mmol/L) without an identified secondary cause. What role does panel-based genetic testing have in identifying FH and ASCVD risk?
FULL_EXPECTED_ANSWER: In adults with severe hypercholesterolemia with an LDL-C ≥190 mg/dL (4.9 mmol/L) without an identified secondary cause, panel-based genetic testing for pathogenic/likely pathogenic rare variants for FH can be useful to identify those with FH who are at higher risk of ASCVD events.
SOURCE_PROVENANCE: PDF p44/e1197 §4.2.4.2 recommendation 2
SOURCE_IDS: SOURCE_A
DECISION_NODE_IDS: DN_4_2_4_2_R02
COR/LOE: 2a/B-NR
THRESHOLD_TIMING_DOSE: ≥190 mg/dL; 4.9 mmol/L
TERMINOLOGY: ASCVD
EVIDENCE_STATUS: SOURCE_LOCKED_AUDITED; AUDIT_STATUS: PASS
REVEAL_PART: N/A
TEACHING_RULE: Preserve all source qualifiers. Do not introduce outside clinical knowledge.
---
CASE_ID: DYS_CASE_054
ROLE: SOURCE_REVEAL
PROMPT: Consider adults with an elevated LDL-C of 160 to 189 mg/dL (4.1–4.9 mmol/L) without an identified secondary cause. What role, if any, does FH genetic testing have?
FULL_EXPECTED_ANSWER: In adults with an elevated LDL-C of 160 to 189 mg/dL (4.1–4.9 mmol/L) without an identified secondary cause, panel-based genetic testing for pathogenic/likely pathogenic rare variants for FH may be considered to identify those with FH who are at higher risk of events.
SOURCE_PROVENANCE: PDF p44/e1197 §4.2.4.2 recommendation 3
SOURCE_IDS: SOURCE_A
DECISION_NODE_IDS: DN_4_2_4_2_R03
COR/LOE: 2b/B-NR
THRESHOLD_TIMING_DOSE: 160 to 189 mg/dL; 4.1–4.9 mmol/L
TERMINOLOGY: 4.2.4.2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DYS_CASE_066
ROLE: CASE_DECIDE
PROMPT: An adult aged 40 to 75 y has diabetes without clinical ASCVD. What statin intensity and lipid goals are indicated to reduce ASCVD risk?
FULL_EXPECTED_ANSWER: In adults 40 to 75 y of age with diabetes and without clinical ASCVD, moderate-intensity statin therapy is indicated to achieve a ≥30% to 49% reduction in LDL-C and a goal of LDL-C &lt;100 mg/dL (2.6 mmol/L) and non–HDL-C &lt;130 mg/dL (3.4 mmol/L) to reduce ASCVD risk.
SOURCE_PROVENANCE: PDF p51/e1204 §4.2.5 recommendation 1
SOURCE_IDS: SOURCE_A
DECISION_NODE_IDS: DN_4_2_5_R01
COR/LOE: 1/A
THRESHOLD_TIMING_DOSE: 40 to 75 y; ≥30%; 49%; &lt;100 mg/dL; 2.6 mmol/L; &lt;130 mg; 3.4 mmol/L
TERMINOLOGY: ASCVD
EVIDENCE_STATUS: SOURCE_LOCKED_AUDITED; AUDIT_STATUS: PASS
REVEAL_PART: N/A
TEACHING_RULE: Preserve all source qualifiers. Do not introduce outside clinical knowledge.
---
CASE_ID: DYS_CASE_067
ROLE: CASE_DECIDE
PROMPT: An adult with diabetes has statin-attributed side effects. Which LDL-C-lowering options are recommended to reduce ASCVD risk?
FULL_EXPECTED_ANSWER: In adults with diabetes who have statin-attributed side effects, initiation of ezetimibe and/or bempedoic acid or a PCSK9 mAb is recommended to lower LDL-C and reduce ASCVD risk.
SOURCE_PROVENANCE: PDF p51/e1204 §4.2.5 recommendation 2
SOURCE_IDS: SOURCE_A
DECISION_NODE_IDS: DN_4_2_5_R02
COR/LOE: 1/B-R
THRESHOLD_TIMING_DOSE: N/A
TERMINOLOGY: ASCVD
EVIDENCE_STATUS: SOURCE_LOCKED_AUDITED; AUDIT_STATUS: PASS
REVEAL_PART: N/A
TEACHING_RULE: Preserve all source qualifiers. Do not introduce outside clinical knowledge.
---
CASE_ID: DYS_CASE_068
ROLE: CASE_DECIDE
PROMPT: Consider adults 40 to 75 y of age with diabetes who have multiple ASCVD risk factors. What statin intensity and lipid goals apply?
FULL_EXPECTED_ANSWER: In adults 40 to 75 y of age with diabetes who have multiple ASCVD risk factors, it is reasonable to prescribe high-intensity statin therapy to achieve a ≥50% reduction in LDL-C and a goal of LDL-C &lt;70 mg/dL (1.8 mmol/L) and non– HDL-C &lt;100 mg/dL (2.6 mmol/L) to reduce ASCVD risk.
SOURCE_PROVENANCE: PDF p51/e1204 §4.2.5 recommendation 3
SOURCE_IDS: SOURCE_A
DECISION_NODE_IDS: DN_4_2_5_R03
COR/LOE: 2a/B-R
THRESHOLD_TIMING_DOSE: 40 to 75 y; ≥50%;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DYS_CASE_066
ROLE: SOURCE_REVEAL
PROMPT: An adult aged 40 to 75 y has diabetes without clinical ASCVD. What statin intensity and lipid goals are indicated to reduce ASCVD risk?
FULL_EXPECTED_ANSWER: In adults 40 to 75 y of age with diabetes and without clinical ASCVD, moderate-intensity statin therapy is indicated to achieve a ≥30% to 49% reduction in LDL-C and a goal of LDL-C &lt;100 mg/dL (2.6 mmol/L) and non–HDL-C &lt;130 mg/dL (3.4 mmol/L) to reduce ASCVD risk.
SOURCE_PROVENANCE: PDF p51/e1204 §4.2.5 recommendation 1
SOURCE_IDS: SOURCE_A
DECISION_NODE_IDS: DN_4_2_5_R01
COR/LOE: 1/A
THRESHOLD_TIMING_DOSE: 40 to 75 y; ≥30%; 49%; &lt;100 mg/dL; 2.6 mmol/L; &lt;130 mg; 3.4 mmol/L
TERMINOLOGY: ASCVD
EVIDENCE_STATUS: SOURCE_LOCKED_AUDITED; AUDIT_STATUS: PASS
REVEAL_PART: N/A
TEACHING_RULE: Preserve all source qualifiers. Do not introduce outside clinical knowledge.
---
CASE_ID: DYS_CASE_067
ROLE: SOURCE_REVEAL
PROMPT: An adult with diabetes has statin-attributed side effects. Which LDL-C-lowering options are recommended to reduce ASCVD risk?
FULL_EXPECTED_ANSWER: In adults with diabetes who have statin-attributed side effects, initiation of ezetimibe and/or bempedoic acid or a PCSK9 mAb is recommended to lower LDL-C and reduce ASCVD risk.
SOURCE_PROVENANCE: PDF p51/e1204 §4.2.5 recommendation 2
SOURCE_IDS: SOURCE_A
DECISION_NODE_IDS: DN_4_2_5_R02
COR/LOE: 1/B-R
THRESHOLD_TIMING_DOSE: N/A
TERMINOLOGY: ASCVD
EVIDENCE_STATUS: SOURCE_LOCKED_AUDITED; AUDIT_STATUS: PASS
REVEAL_PART: N/A
TEACHING_RULE: Preserve all source qualifiers. Do not introduce outside clinical knowledge.
---
CASE_ID: DYS_CASE_068
ROLE: SOURCE_REVEAL
PROMPT: Consider adults 40 to 75 y of age with diabetes who have multiple ASCVD risk factors. What statin intensity and lipid goals apply?
FULL_EXPECTED_ANSWER: In adults 40 to 75 y of age with diabetes who have multiple ASCVD risk factors, it is reasonable to prescribe high-intensity statin therapy to achieve a ≥50% reduction in LDL-C and a goal of LDL-C &lt;70 mg/dL (1.8 mmol/L) and non– HDL-C &lt;100 mg/dL (2.6 mmol/L) to reduce ASCVD risk.
SOURCE_PROVENANCE: PDF p51/e1204 §4.2.5 recommendation 3
SOURCE_IDS: SOURCE_A
DECISION_NODE_IDS: DN_4_2_5_R03
COR/LOE: 2a/B-R
THRESHOLD_TIMING_DOSE: 40 to 75 y; ≥50%;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DYS_CASE_069
ROLE: CASE_DECIDE
PROMPT: An adult with diabetes, additional ASCVD risk factors, LDL-C &lt;100 mg/dL (2.6 mmol/L), and fasting TG 150–499 mg/dL (1.7–5.6 mmol/L) is taking a statin. What role, if any, does IPE have?
FULL_EXPECTED_ANSWER: In adults with diabetes without ASCVD but with additional ASCVD risk factor(s)* on a statin with an LDL-C &lt;100 mg/dL (2.6 mmol/L) and elevated fasting TG (150–499 mg/dL [1.7–5.6 mmol/L]), the addition of IPE may be considered to reduce ASCVD risk.
SOURCE_PROVENANCE: PDF p51/e1204 §4.2.5 recommendation 4
SOURCE_IDS: SOURCE_A
DECISION_NODE_IDS: DN_4_2_5_R04
COR/LOE: 2b/B-R
THRESHOLD_TIMING_DOSE: &lt;100 mg/dL; 2.6 mmol/L; 150–499 mg/dL; 1.7–5.6 mmol/L
TERMINOLOGY: hypertriglyceridemia
EVIDENCE_STATUS: SOURCE_LOCKED_AUDITED; AUDIT_STATUS: PASS
REVEAL_PART: N/A
TEACHING_RULE: Preserve all source qualifiers. Do not introduce outside clinical knowledge.
---
CASE_ID: DYS_CASE_070
ROLE: CASE_DECIDE
PROMPT: Consider adults with diabetes and 10-y ASCVD risk of ≥10% by the PREVENT-ASCVD equations. What add-on LLT, if any, and lipid goals apply?
FULL_EXPECTED_ANSWER: In adults with diabetes and 10-y ASCVD risk of ≥10% by the PREVENT-ASCVD equations, it may be reasonable to add ezetimibe or a PCSK9 mAb to maximally tolerated statin therapy to achieve an LDL-C goal of &lt;70 mg/dL (1.8 mmol/L) and non–HDL-C &lt;100 mg/dL (2.6 mmol/L) to reduce ASCVD risk.
SOURCE_PROVENANCE: PDF p51/e1204 §4.2.5 recommendation 5
SOURCE_IDS: SOURCE_A
DECISION_NODE_IDS: DN_4_2_5_R05
COR/LOE: 2b/C-LD
THRESHOLD_TIMING_DOSE: ≥10%; &lt;70 mg/dL; 1.8 mmol/L; &lt;100 mg/dL; 2.6 mmol/L
TERMINOLOGY: ASCVD
EVIDENCE_STATUS: SOURCE_LOCKED_AUDITED; AUDIT_STATUS: PASS
REVEAL_PART: N/A
TEACHING_RULE: Preserve all source qualifiers. Do not introduce outside clinical knowledge.
---
CASE_ID: DYS_CASE_071
ROLE: CASE_DECIDE
PROMPT: Consider adults &gt;75 y of age with diabetes and an estimated life expectancy of at least 2.5 y. What statin initiation decision applies?
FULL_EXPECTED_ANSWER: In adults &gt;75 y of age with diabetes and an estimated life expectancy of at least 2.5 y, it may be reasonable to initiate moderate-intensity statin therapy after a clinician–patient discussion of potential benefits and risks to reduce ASCVD risk.
SOURCE_PROVENANCE: PDF p51/e1204 §4.2.5 recommendation 6
SOURCE_IDS: SOURCE_A
DECISION_NODE_IDS: DN_4_2_5_R06
COR/LOE: 2b/C-LD
THRESHOLD_TIMING_DOSE: &gt;75 y; 2.5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DYS_CASE_069
ROLE: SOURCE_REVEAL
PROMPT: An adult with diabetes, additional ASCVD risk factors, LDL-C &lt;100 mg/dL (2.6 mmol/L), and fasting TG 150–499 mg/dL (1.7–5.6 mmol/L) is taking a statin. What role, if any, does IPE have?
FULL_EXPECTED_ANSWER: In adults with diabetes without ASCVD but with additional ASCVD risk factor(s)* on a statin with an LDL-C &lt;100 mg/dL (2.6 mmol/L) and elevated fasting TG (150–499 mg/dL [1.7–5.6 mmol/L]), the addition of IPE may be considered to reduce ASCVD risk.
SOURCE_PROVENANCE: PDF p51/e1204 §4.2.5 recommendation 4
SOURCE_IDS: SOURCE_A
DECISION_NODE_IDS: DN_4_2_5_R04
COR/LOE: 2b/B-R
THRESHOLD_TIMING_DOSE: &lt;100 mg/dL; 2.6 mmol/L; 150–499 mg/dL; 1.7–5.6 mmol/L
TERMINOLOGY: hypertriglyceridemia
EVIDENCE_STATUS: SOURCE_LOCKED_AUDITED; AUDIT_STATUS: PASS
REVEAL_PART: N/A
TEACHING_RULE: Preserve all source qualifiers. Do not introduce outside clinical knowledge.
---
CASE_ID: DYS_CASE_070
ROLE: SOURCE_REVEAL
PROMPT: Consider adults with diabetes and 10-y ASCVD risk of ≥10% by the PREVENT-ASCVD equations. What add-on LLT, if any, and lipid goals apply?
FULL_EXPECTED_ANSWER: In adults with diabetes and 10-y ASCVD risk of ≥10% by the PREVENT-ASCVD equations, it may be reasonable to add ezetimibe or a PCSK9 mAb to maximally tolerated statin therapy to achieve an LDL-C goal of &lt;70 mg/dL (1.8 mmol/L) and non–HDL-C &lt;100 mg/dL (2.6 mmol/L) to reduce ASCVD risk.
SOURCE_PROVENANCE: PDF p51/e1204 §4.2.5 recommendation 5
SOURCE_IDS: SOURCE_A
DECISION_NODE_IDS: DN_4_2_5_R05
COR/LOE: 2b/C-LD
THRESHOLD_TIMING_DOSE: ≥10%; &lt;70 mg/dL; 1.8 mmol/L; &lt;100 mg/dL; 2.6 mmol/L
TERMINOLOGY: ASCVD
EVIDENCE_STATUS: SOURCE_LOCKED_AUDITED; AUDIT_STATUS: PASS
REVEAL_PART: N/A
TEACHING_RULE: Preserve all source qualifiers. Do not introduce outside clinical knowledge.
---
CASE_ID: DYS_CASE_071
ROLE: SOURCE_REVEAL
PROMPT: Consider adults &gt;75 y of age with diabetes and an estimated life expectancy of at least 2.5 y. What statin initiation decision applies?
FULL_EXPECTED_ANSWER: In adults &gt;75 y of age with diabetes and an estimated life expectancy of at least 2.5 y, it may be reasonable to initiate moderate-intensity statin therapy after a clinician–patient discussion of potential benefits and risks to reduce ASCVD risk.
SOURCE_PROVENANCE: PDF p51/e1204 §4.2.5 recommendation 6
SOURCE_IDS: SOURCE_A
DECISION_NODE_IDS: DN_4_2_5_R06
COR/LOE: 2b/C-LD
THRESHOLD_TIMING_DOSE: &gt;75 y; 2.5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DYS_CASE_072
ROLE: CASE_DECIDE
PROMPT: Consider adults 20 to 39 y of age with diabetes of long duration (≥10 y of type 2 diabetes, ≥20 y of type 1 diabetes), albuminuria (≥30 μg of albumin/ mg creatinine), estimated glomerular filtration rate (eGFR) &lt;60 mL/min/1.73 m2, retinopathy, neuropathy, or ankle-brachial index &lt;0.9. What statin initiation decision applies?
FULL_EXPECTED_ANSWER: In adults 20 to 39 y of age with diabetes of long duration (≥10 y of type 2 diabetes, ≥20 y of type 1 diabetes), albuminuria (≥30 μg of albumin/ mg creatinine), estimated glomerular filtration rate (eGFR) &lt;60 mL/min/1.73 m2, retinopathy, neuropathy, or ankle-brachial index &lt;0.9, it may be reasonable to initiate moderate-intensity statin therapy to reduce ASCVD risk.
SOURCE_PROVENANCE: PDF p51/e1204 §4.2.5 recommendation 7
SOURCE_IDS: SOURCE_A
DECISION_NODE_IDS: DN_4_2_5_R07
COR/LOE: 2b/C-LD
THRESHOLD_TIMING_DOSE: 20 to 39 y; ≥10 y; ≥20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DYS_CASE_072
ROLE: SOURCE_REVEAL
PROMPT: Consider adults 20 to 39 y of age with diabetes of long duration (≥10 y of type 2 diabetes, ≥20 y of type 1 diabetes), albuminuria (≥30 μg of albumin/ mg creatinine), estimated glomerular filtration rate (eGFR) &lt;60 mL/min/1.73 m2, retinopathy, neuropathy, or ankle-brachial index &lt;0.9. What statin initiation decision applies?
FULL_EXPECTED_ANSWER: In adults 20 to 39 y of age with diabetes of long duration (≥10 y of type 2 diabetes, ≥20 y of type 1 diabetes), albuminuria (≥30 μg of albumin/ mg creatinine), estimated glomerular filtration rate (eGFR) &lt;60 mL/min/1.73 m2, retinopathy, neuropathy, or ankle-brachial index &lt;0.9, it may be reasonable to initiate moderate-intensity statin therapy to reduce ASCVD risk.
SOURCE_PROVENANCE: PDF p51/e1204 §4.2.5 recommendation 7
SOURCE_IDS: SOURCE_A
DECISION_NODE_IDS: DN_4_2_5_R07
COR/LOE: 2b/C-LD
THRESHOLD_TIMING_DOSE: 20 to 39 y; ≥10 y; ≥20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DYS_CASE_151
ROLE: CASE_DECIDE
PROMPT: A patient with diabetes needs risk personalization. Which diabetes-specific risk enhancers and thresholds apply?
FULL_EXPECTED_ANSWER: Diabetes-specific risk enhancers include type 2 diabetes duration ≥10 years or type 1 diabetes duration ≥20 years, albuminuria ≥30 μg albumin/mg creatinine, eGFR &lt;60 mL/min/1.73 m², retinopathy, neuropathy, and ankle-brachial index &lt;0.9.
SOURCE_PROVENANCE: Table 17, PDF p52/e1205
SOURCE_IDS: SOURCE_A
DECISION_NODE_IDS: DN_T17_DIABETES_ENHANCERS
COR/LOE: N/A
THRESHOLD_TIMING_DOSE: T2DM ≥10 y; T1DM ≥20 y; albuminuria ≥30 μg/mg; eGFR &lt;60; ABI &lt;0.9
TERMINOLOGY: diabetes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DYS_CASE_151
ROLE: SOURCE_REVEAL
PROMPT: A patient with diabetes needs risk personalization. Which diabetes-specific risk enhancers and thresholds apply?
FULL_EXPECTED_ANSWER: Diabetes-specific risk enhancers include type 2 diabetes duration ≥10 years or type 1 diabetes duration ≥20 years, albuminuria ≥30 μg albumin/mg creatinine, eGFR &lt;60 mL/min/1.73 m², retinopathy, neuropathy, and ankle-brachial index &lt;0.9.
SOURCE_PROVENANCE: Table 17, PDF p52/e1205
SOURCE_IDS: SOURCE_A
DECISION_NODE_IDS: DN_T17_DIABETES_ENHANCERS
COR/LOE: N/A
THRESHOLD_TIMING_DOSE: T2DM ≥10 y; T1DM ≥20 y; albuminuria ≥30 μg/mg; eGFR &lt;60; ABI &lt;0.9
TERMINOLOGY: diabetes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DYS_CASE_073
ROLE: CASE_DECIDE
PROMPT: An adult has clinical ASCVD but is not at very high risk (Figure 10). What initial statin intensity and lipid goals apply?
FULL_EXPECTED_ANSWER: In adults with clinical ASCVD who are not at very high risk (Figure 10), high-intensity statin therapy should be initiated to achieve a ≥50% reduction in LDL-C and a goal of LDL-C &lt;70 mg/dL (1.8 mmol/L) and non–HDL-C &lt;100 mg/dL to reduce the risk of recurrent ASCVD events.
SOURCE_PROVENANCE: PDF p55/e1208 §4.2.6 recommendation 1
SOURCE_IDS: SOURCE_A
DECISION_NODE_IDS: DN_4_2_6_R01
COR/LOE: 1/A
THRESHOLD_TIMING_DOSE: ≥50%; &lt;70 mg/dL; 1.8 mmol/L; &lt;100 mg/dL
TERMINOLOGY: ASCVD
EVIDENCE_STATUS: SOURCE_LOCKED_AUDITED; AUDIT_STATUS: PASS
REVEAL_PART: N/A
TEACHING_RULE: Preserve all source qualifiers. Do not introduce outside clinical knowledge.
---
CASE_ID: DYS_CASE_074
ROLE: CASE_DECIDE
PROMPT: Consider adults with clinical ASCVD who are not at very high risk and on maximally tolerated statin therapy. What add-on LLT and lipid goals apply?
FULL_EXPECTED_ANSWER: In adults with clinical ASCVD who are not at very high risk and on maximally tolerated statin therapy, it is reasonable to add ezetimibe, a PCSK9 mAb, or bempedoic acid (selection depending on degree of LDL-C lowering needed and patient preference) to achieve a goal of LDL-C &lt;70 mg/dL (1.8 mmol/L) and non–HDL-C &lt;100 mg/dL to reduce the risk of ASCVD events.
SOURCE_PROVENANCE: PDF p55/e1208 §4.2.6 recommendation 2
SOURCE_IDS: SOURCE_A
DECISION_NODE_IDS: DN_4_2_6_R02
COR/LOE: 2a/B-R
THRESHOLD_TIMING_DOSE: &lt;70 mg; 1.8 mmol/L; &lt;100 mg/dL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DYS_CASE_073
ROLE: SOURCE_REVEAL
PROMPT: An adult has clinical ASCVD but is not at very high risk (Figure 10). What initial statin intensity and lipid goals apply?
FULL_EXPECTED_ANSWER: In adults with clinical ASCVD who are not at very high risk (Figure 10), high-intensity statin therapy should be initiated to achieve a ≥50% reduction in LDL-C and a goal of LDL-C &lt;70 mg/dL (1.8 mmol/L) and non–HDL-C &lt;100 mg/dL to reduce the risk of recurrent ASCVD events.
SOURCE_PROVENANCE: PDF p55/e1208 §4.2.6 recommendation 1
SOURCE_IDS: SOURCE_A
DECISION_NODE_IDS: DN_4_2_6_R01
COR/LOE: 1/A
THRESHOLD_TIMING_DOSE: ≥50%; &lt;70 mg/dL; 1.8 mmol/L; &lt;100 mg/dL
TERMINOLOGY: ASCVD
EVIDENCE_STATUS: SOURCE_LOCKED_AUDITED; AUDIT_STATUS: PASS
REVEAL_PART: N/A
TEACHING_RULE: Preserve all source qualifiers. Do not introduce outside clinical knowledge.
---
CASE_ID: DYS_CASE_074
ROLE: SOURCE_REVEAL
PROMPT: Consider adults with clinical ASCVD who are not at very high risk and on maximally tolerated statin therapy. What add-on LLT and lipid goals apply?
FULL_EXPECTED_ANSWER: In adults with clinical ASCVD who are not at very high risk and on maximally tolerated statin therapy, it is reasonable to add ezetimibe, a PCSK9 mAb, or bempedoic acid (selection depending on degree of LDL-C lowering needed and patient preference) to achieve a goal of LDL-C &lt;70 mg/dL (1.8 mmol/L) and non–HDL-C &lt;100 mg/dL to reduce the risk of ASCVD events.
SOURCE_PROVENANCE: PDF p55/e1208 §4.2.6 recommendation 2
SOURCE_IDS: SOURCE_A
DECISION_NODE_IDS: DN_4_2_6_R02
COR/LOE: 2a/B-R
THRESHOLD_TIMING_DOSE: &lt;70 mg; 1.8 mmol/L; &lt;100 mg/dL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DYS_CASE_075
ROLE: CASE_DECIDE
PROMPT: Consider adults with clinical ASCVD who are not at very high risk and on maximally tolerated statin therapy. What add-on LLT and lipid goals apply?
FULL_EXPECTED_ANSWER: In adults with clinical ASCVD who are not at very high risk and on maximally tolerated statin therapy, it is reasonable to add ezetimibe, a PCSK9 mAb, or bempedoic acid (selection based on the degree of LDL-C lowering needed and patient preference) to achieve a goal LDL-C &lt;55 mg/dL (1.4 mmol/L) and non–HDL-C &lt;85 mg/dL (2.2 mmol/L) and to reduce the risk of ASCVD events.
SOURCE_PROVENANCE: PDF p55/e1208 §4.2.6 recommendation 3
SOURCE_IDS: SOURCE_A
DECISION_NODE_IDS: DN_4_2_6_R03
COR/LOE: 2a/B-R
THRESHOLD_TIMING_DOSE: &lt;55 mg/dL; 1.4 mmol/L; &lt;85 mg/dL; 2.2 mmol/L
TERMINOLOGY: ASCVD
EVIDENCE_STATUS: SOURCE_LOCKED_AUDITED; AUDIT_STATUS: PASS
REVEAL_PART: N/A
TEACHING_RULE: Preserve all source qualifiers. Do not introduce outside clinical knowledge.
---
CASE_ID: DYS_CASE_076
ROLE: CASE_DECIDE
PROMPT: An adult with clinical ASCVD* is at very high risk (Figure 10 and Figure 11). What initial statin intensity and lipid goals apply?
FULL_EXPECTED_ANSWER: In adults with clinical ASCVD* who are at very high risk (Figure 10 and Figure 11), high-intensity statin therapy should be initiated to achieve a ≥50% reduction in LDL-C and a goal LDL-C &lt;55 mg/dL (1.4 mmol/L) and non–HDL-C &lt;85 mg/dL (2.2 mmol/L) and to reduce the risk of ASCVD events.
SOURCE_PROVENANCE: PDF p55/e1208 §4.2.6 recommendation 4
SOURCE_IDS: SOURCE_A
DECISION_NODE_IDS: DN_4_2_6_R04
COR/LOE: 1/A
THRESHOLD_TIMING_DOSE: ≥50%;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DYS_CASE_075
ROLE: SOURCE_REVEAL
PROMPT: Consider adults with clinical ASCVD who are not at very high risk and on maximally tolerated statin therapy. What add-on LLT and lipid goals apply?
FULL_EXPECTED_ANSWER: In adults with clinical ASCVD who are not at very high risk and on maximally tolerated statin therapy, it is reasonable to add ezetimibe, a PCSK9 mAb, or bempedoic acid (selection based on the degree of LDL-C lowering needed and patient preference) to achieve a goal LDL-C &lt;55 mg/dL (1.4 mmol/L) and non–HDL-C &lt;85 mg/dL (2.2 mmol/L) and to reduce the risk of ASCVD events.
SOURCE_PROVENANCE: PDF p55/e1208 §4.2.6 recommendation 3
SOURCE_IDS: SOURCE_A
DECISION_NODE_IDS: DN_4_2_6_R03
COR/LOE: 2a/B-R
THRESHOLD_TIMING_DOSE: &lt;55 mg/dL; 1.4 mmol/L; &lt;85 mg/dL; 2.2 mmol/L
TERMINOLOGY: ASCVD
EVIDENCE_STATUS: SOURCE_LOCKED_AUDITED; AUDIT_STATUS: PASS
REVEAL_PART: N/A
TEACHING_RULE: Preserve all source qualifiers. Do not introduce outside clinical knowledge.
---
CASE_ID: DYS_CASE_076
ROLE: SOURCE_REVEAL
PROMPT: An adult with clinical ASCVD* is at very high risk (Figure 10 and Figure 11). What initial statin intensity and lipid goals apply?
FULL_EXPECTED_ANSWER: In adults with clinical ASCVD* who are at very high risk (Figure 10 and Figure 11), high-intensity statin therapy should be initiated to achieve a ≥50% reduction in LDL-C and a goal LDL-C &lt;55 mg/dL (1.4 mmol/L) and non–HDL-C &lt;85 mg/dL (2.2 mmol/L) and to reduce the risk of ASCVD events.
SOURCE_PROVENANCE: PDF p55/e1208 §4.2.6 recommendation 4
SOURCE_IDS: SOURCE_A
DECISION_NODE_IDS: DN_4_2_6_R04
COR/LOE: 1/A
THRESHOLD_TIMING_DOSE: ≥50%;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DYS_CASE_077
ROLE: CASE_DECIDE
PROMPT: Consider adults with clinical ASCVD who are at very high risk and on maximally tolerated statin therapy. What add-on LLT and lipid goals apply?
FULL_EXPECTED_ANSWER: In adults with clinical ASCVD who are at very high risk and on maximally tolerated statin therapy, ezetimibe and/or a PCSK9 mAb should be added (selected based on the degree of LDL-C lowering needed and patient preference) to achieve a goal of LDL-C &lt;55 mg/dL (1.4 mmol/L) and non–HDL-C &lt;85 mg/dL (2.2 mmol/L) to reduce risk of ASCVD events.
SOURCE_PROVENANCE: PDF p55/e1208 §4.2.6 recommendation 5
SOURCE_IDS: SOURCE_A
DECISION_NODE_IDS: DN_4_2_6_R05
COR/LOE: 1/A
THRESHOLD_TIMING_DOSE: &lt;55 mg/dL; 1.4 mmol/L; &lt;85 mg/dL; 2.2 mmol/L
TERMINOLOGY: ASCVD
EVIDENCE_STATUS: SOURCE_LOCKED_AUDITED; AUDIT_STATUS: PASS
REVEAL_PART: N/A
TEACHING_RULE: Preserve all source qualifiers. Do not introduce outside clinical knowledge.
---
CASE_ID: DYS_CASE_078
ROLE: CASE_DECIDE
PROMPT: Consider adults with clinical ASCVD who are at very high risk on maximally tolerated statin therapy. What further LLT, if any, and lipid goals apply?
FULL_EXPECTED_ANSWER: In adults with clinical ASCVD who are at very high risk on maximally tolerated statin therapy, it is reasonable to add bempedoic acid, with or without ezetimibe and/or PCSK9 mAb, to reach an LDL-C goal &lt;55 mg/dL (1.4 mmol/L) and non–HDL-C &lt;85 mg/dL (2.2 mmol/L) to reduce the risk of ASCVD events.
SOURCE_PROVENANCE: PDF p55/e1208 §4.2.6 recommendation 6
SOURCE_IDS: SOURCE_A
DECISION_NODE_IDS: DN_4_2_6_R06
COR/LOE: 2a/B-R
THRESHOLD_TIMING_DOSE: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DYS_CASE_077
ROLE: SOURCE_REVEAL
PROMPT: Consider adults with clinical ASCVD who are at very high risk and on maximally tolerated statin therapy. What add-on LLT and lipid goals apply?
FULL_EXPECTED_ANSWER: In adults with clinical ASCVD who are at very high risk and on maximally tolerated statin therapy, ezetimibe and/or a PCSK9 mAb should be added (selected based on the degree of LDL-C lowering needed and patient preference) to achieve a goal of LDL-C &lt;55 mg/dL (1.4 mmol/L) and non–HDL-C &lt;85 mg/dL (2.2 mmol/L) to reduce risk of ASCVD events.
SOURCE_PROVENANCE: PDF p55/e1208 §4.2.6 recommendation 5
SOURCE_IDS: SOURCE_A
DECISION_NODE_IDS: DN_4_2_6_R05
COR/LOE: 1/A
THRESHOLD_TIMING_DOSE: &lt;55 mg/dL; 1.4 mmol/L; &lt;85 mg/dL; 2.2 mmol/L
TERMINOLOGY: ASCVD
EVIDENCE_STATUS: SOURCE_LOCKED_AUDITED; AUDIT_STATUS: PASS
REVEAL_PART: N/A
TEACHING_RULE: Preserve all source qualifiers. Do not introduce outside clinical knowledge.
---
CASE_ID: DYS_CASE_078
ROLE: SOURCE_REVEAL
PROMPT: Consider adults with clinical ASCVD who are at very high risk on maximally tolerated statin therapy. What further LLT, if any, and lipid goals apply?
FULL_EXPECTED_ANSWER: In adults with clinical ASCVD who are at very high risk on maximally tolerated statin therapy, it is reasonable to add bempedoic acid, with or without ezetimibe and/or PCSK9 mAb, to reach an LDL-C goal &lt;55 mg/dL (1.4 mmol/L) and non–HDL-C &lt;85 mg/dL (2.2 mmol/L) to reduce the risk of ASCVD events.
SOURCE_PROVENANCE: PDF p55/e1208 §4.2.6 recommendation 6
SOURCE_IDS: SOURCE_A
DECISION_NODE_IDS: DN_4_2_6_R06
COR/LOE: 2a/B-R
THRESHOLD_TIMING_DOSE: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DYS_CASE_079
ROLE: CASE_DECIDE
PROMPT: Consider adults with clinical ASCVD who are at very high risk and on maximally tolerated statin therapy with or without ezetimibe. What further LLT option applies when standard PCSK9 antibodies are unsuitable?
FULL_EXPECTED_ANSWER: In adults with clinical ASCVD who are at very high risk and on maximally tolerated statin therapy with or without ezetimibe, it is reasonable to add inclisiran† in those unable to tolerate or obtain evolocumab or alirocumab or have a strong preference for less frequent dosing to achieve an LDL-C goal &lt;55 mg/dL (1.4 mmol/L) and non– HDL-C &lt;85 mg/dL (2.2 mmol/L).
SOURCE_PROVENANCE: PDF p55/e1208 §4.2.6 recommendation 7
SOURCE_IDS: SOURCE_A
DECISION_NODE_IDS: DN_4_2_6_R07
COR/LOE: 2a/B-R
THRESHOLD_TIMING_DOSE: &lt;55 mg/dL; 1.4 mmol/L; &lt;85 mg/dL; 2.2 mmol/L
TERMINOLOGY: ASCVD
EVIDENCE_STATUS: SOURCE_LOCKED_AUDITED; AUDIT_STATUS: PASS
REVEAL_PART: N/A
TEACHING_RULE: Preserve all source qualifiers. Do not introduce outside clinical knowledge.
---
CASE_ID: DYS_CASE_080
ROLE: CASE_DECIDE
PROMPT: Consider adults with HFrEF attributable to ischemic heart disease who have a reasonable life expectancy (3–5 y) and are not already on a statin because of ASCVD. What statin initiation decision applies?
FULL_EXPECTED_ANSWER: In adults with HFrEF attributable to ischemic heart disease who have a reasonable life expectancy (3–5 y) and are not already on a statin because of ASCVD, it may be reasonable to consider initiation of moderate-intensity statin therapy to reduce the occurrence of ASCVD events.
SOURCE_PROVENANCE: PDF p55/e1208 §4.2.6 recommendation 8
SOURCE_IDS: SOURCE_A
DECISION_NODE_IDS: DN_4_2_6_R08
COR/LOE: 2b/B-R
THRESHOLD_TIMING_DOSE: 3–5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DYS_CASE_079
ROLE: SOURCE_REVEAL
PROMPT: Consider adults with clinical ASCVD who are at very high risk and on maximally tolerated statin therapy with or without ezetimibe. What further LLT option applies when standard PCSK9 antibodies are unsuitable?
FULL_EXPECTED_ANSWER: In adults with clinical ASCVD who are at very high risk and on maximally tolerated statin therapy with or without ezetimibe, it is reasonable to add inclisiran† in those unable to tolerate or obtain evolocumab or alirocumab or have a strong preference for less frequent dosing to achieve an LDL-C goal &lt;55 mg/dL (1.4 mmol/L) and non– HDL-C &lt;85 mg/dL (2.2 mmol/L).
SOURCE_PROVENANCE: PDF p55/e1208 §4.2.6 recommendation 7
SOURCE_IDS: SOURCE_A
DECISION_NODE_IDS: DN_4_2_6_R07
COR/LOE: 2a/B-R
THRESHOLD_TIMING_DOSE: &lt;55 mg/dL; 1.4 mmol/L; &lt;85 mg/dL; 2.2 mmol/L
TERMINOLOGY: ASCVD
EVIDENCE_STATUS: SOURCE_LOCKED_AUDITED; AUDIT_STATUS: PASS
REVEAL_PART: N/A
TEACHING_RULE: Preserve all source qualifiers. Do not introduce outside clinical knowledge.
---
CASE_ID: DYS_CASE_080
ROLE: SOURCE_REVEAL
PROMPT: Consider adults with HFrEF attributable to ischemic heart disease who have a reasonable life expectancy (3–5 y) and are not already on a statin because of ASCVD. What statin initiation decision applies?
FULL_EXPECTED_ANSWER: In adults with HFrEF attributable to ischemic heart disease who have a reasonable life expectancy (3–5 y) and are not already on a statin because of ASCVD, it may be reasonable to consider initiation of moderate-intensity statin therapy to reduce the occurrence of ASCVD events.
SOURCE_PROVENANCE: PDF p55/e1208 §4.2.6 recommendation 8
SOURCE_IDS: SOURCE_A
DECISION_NODE_IDS: DN_4_2_6_R08
COR/LOE: 2b/B-R
THRESHOLD_TIMING_DOSE: 3–5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DYS_CASE_081
ROLE: CASE_DECIDE
PROMPT: An adult has a CAC score ≥1000 AU. What LDL-C-lowering approach and lipid goals apply?
FULL_EXPECTED_ANSWER: In adults with a CAC score of ≥1000 AU, treatment with LDL-C–lowering therapies with consideration of statin therapy as first line is recommended to achieve a ≥50% reduction in LDL-C and a goal of LDL-C &lt;55 mg/dL (1.4 mmol/L) and non–HDL-C &lt;85 mg/dL (2.2 mmol/L).
SOURCE_PROVENANCE: PDF p60/e1213 §4.2.7 recommendation 1
SOURCE_IDS: SOURCE_A
DECISION_NODE_IDS: DN_4_2_7_R01
COR/LOE: 1/B-NR
THRESHOLD_TIMING_DOSE: ≥1000 AU; ≥50%; &lt;55 mg/dL; 1.4 mmol/L; &lt;85 mg/dL; 2.2 mmol/L
TERMINOLOGY: 4.2.7
EVIDENCE_STATUS: SOURCE_LOCKED_AUDITED; AUDIT_STATUS: PASS
REVEAL_PART: N/A
TEACHING_RULE: Preserve all source qualifiers. Do not introduce outside clinical knowledge.
---
CASE_ID: DYS_CASE_082
ROLE: CASE_DECIDE
PROMPT: An adult has a CAC score of 300 to 999 AU. What LDL-C-lowering approach and lipid goals apply?
FULL_EXPECTED_ANSWER: In adults with a CAC score of ≥300 to 999 AU, treatment with LDL-C– lowering therapies, with consideration of statin therapy as first line, is recommended to achieve a ≥50% lowering in LDL-C and a goal LDL-C &lt;70 mg/dL (1.8 mmol/L) and non–HDL-C &lt;100 mg/dL (2.6 mmol/L).
SOURCE_PROVENANCE: PDF p60/e1213 §4.2.7 recommendation 2
SOURCE_IDS: SOURCE_A
DECISION_NODE_IDS: DN_4_2_7_R02
COR/LOE: 1/B-R
THRESHOLD_TIMING_DOSE: ≥300 to 999 AU; ≥50%; &lt;70 mg/dL; 1.8 mmol/L; &lt;100 mg/dL; 2.6 mmol/L
TERMINOLOGY: 4.2.7
EVIDENCE_STATUS: SOURCE_LOCKED_AUDITED; AUDIT_STATUS: PASS
REVEAL_PART: N/A
TEACHING_RULE: Preserve all source qualifiers. Do not introduce outside clinical knowledge.
---
CASE_ID: DYS_CASE_083
ROLE: CASE_DECIDE
PROMPT: An adult has a CAC score of 100 to 299 AU or is at or above the 75th standardized percentile. What lipid-lowering approach and goals apply?
FULL_EXPECTED_ANSWER: In adults with a CAC score of ≥100 to 299 AU or ≥75th standardized percentile, treatment with LLT, with consideration of statin therapy as first-line therapy, is recommended to achieve a ≥50% reduction in LDL-C and a goal LDL-C &lt;70 mg/dL (1.8 mmol/L) and non–HDL-C &lt;100 mg/dL (2.6 mmol/L).
SOURCE_PROVENANCE: PDF p60/e1213 §4.2.7 recommendation 3
SOURCE_IDS: SOURCE_A
DECISION_NODE_IDS: DN_4_2_7_R03
COR/LOE: 1/B-R
THRESHOLD_TIMING_DOSE: ≥100 to 299 AU; ≥50%; &lt;70 mg; 1.8 mmol/L; &lt;100 mg/dL; 2.6 mmol/L
TERMINOLOGY: 4.2.7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DYS_CASE_081
ROLE: SOURCE_REVEAL
PROMPT: An adult has a CAC score ≥1000 AU. What LDL-C-lowering approach and lipid goals apply?
FULL_EXPECTED_ANSWER: In adults with a CAC score of ≥1000 AU, treatment with LDL-C–lowering therapies with consideration of statin therapy as first line is recommended to achieve a ≥50% reduction in LDL-C and a goal of LDL-C &lt;55 mg/dL (1.4 mmol/L) and non–HDL-C &lt;85 mg/dL (2.2 mmol/L).
SOURCE_PROVENANCE: PDF p60/e1213 §4.2.7 recommendation 1
SOURCE_IDS: SOURCE_A
DECISION_NODE_IDS: DN_4_2_7_R01
COR/LOE: 1/B-NR
THRESHOLD_TIMING_DOSE: ≥1000 AU; ≥50%; &lt;55 mg/dL; 1.4 mmol/L; &lt;85 mg/dL; 2.2 mmol/L
TERMINOLOGY: 4.2.7
EVIDENCE_STATUS: SOURCE_LOCKED_AUDITED; AUDIT_STATUS: PASS
REVEAL_PART: N/A
TEACHING_RULE: Preserve all source qualifiers. Do not introduce outside clinical knowledge.
---
CASE_ID: DYS_CASE_082
ROLE: SOURCE_REVEAL
PROMPT: An adult has a CAC score of 300 to 999 AU. What LDL-C-lowering approach and lipid goals apply?
FULL_EXPECTED_ANSWER: In adults with a CAC score of ≥300 to 999 AU, treatment with LDL-C– lowering therapies, with consideration of statin therapy as first line, is recommended to achieve a ≥50% lowering in LDL-C and a goal LDL-C &lt;70 mg/dL (1.8 mmol/L) and non–HDL-C &lt;100 mg/dL (2.6 mmol/L).
SOURCE_PROVENANCE: PDF p60/e1213 §4.2.7 recommendation 2
SOURCE_IDS: SOURCE_A
DECISION_NODE_IDS: DN_4_2_7_R02
COR/LOE: 1/B-R
THRESHOLD_TIMING_DOSE: ≥300 to 999 AU; ≥50%; &lt;70 mg/dL; 1.8 mmol/L; &lt;100 mg/dL; 2.6 mmol/L
TERMINOLOGY: 4.2.7
EVIDENCE_STATUS: SOURCE_LOCKED_AUDITED; AUDIT_STATUS: PASS
REVEAL_PART: N/A
TEACHING_RULE: Preserve all source qualifiers. Do not introduce outside clinical knowledge.
---
CASE_ID: DYS_CASE_083
ROLE: SOURCE_REVEAL
PROMPT: An adult has a CAC score of 100 to 299 AU or is at or above the 75th standardized percentile. What lipid-lowering approach and goals apply?
FULL_EXPECTED_ANSWER: In adults with a CAC score of ≥100 to 299 AU or ≥75th standardized percentile, treatment with LLT, with consideration of statin therapy as first-line therapy, is recommended to achieve a ≥50% reduction in LDL-C and a goal LDL-C &lt;70 mg/dL (1.8 mmol/L) and non–HDL-C &lt;100 mg/dL (2.6 mmol/L).
SOURCE_PROVENANCE: PDF p60/e1213 §4.2.7 recommendation 3
SOURCE_IDS: SOURCE_A
DECISION_NODE_IDS: DN_4_2_7_R03
COR/LOE: 1/B-R
THRESHOLD_TIMING_DOSE: ≥100 to 299 AU; ≥50%; &lt;70 mg; 1.8 mmol/L; &lt;100 mg/dL; 2.6 mmol/L
TERMINOLOGY: 4.2.7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DYS_CASE_084
ROLE: CASE_DECIDE
PROMPT: An adult has a CAC score of 1 to 99 AU and is below the 75th standardized percentile, or has an incidental finding of mild CAC on noncardiac CT. What statin intensity and lipid goals are supported?
FULL_EXPECTED_ANSWER: In adults with a CAC score of 1 to 99 AU and &lt;75th standardized percentile, or with an incidental finding of mild CAC on noncardiac CT scan, treatment with moderate-intensity statin therapy is reasonable to achieve a ≥30% to 49% reduction in LDL-C and a goal of LDL-C &lt;100 mg/dL (2.6 mmol/L) and non–HDL-C &lt;130 mg/dL (3.4 mmol/L).
SOURCE_PROVENANCE: PDF p60/e1213 §4.2.7 recommendation 4
SOURCE_IDS: SOURCE_A
DECISION_NODE_IDS: DN_4_2_7_R04
COR/LOE: 2a/B-R
THRESHOLD_TIMING_DOSE: 1 to 99 AU; ≥30%; 49%; &lt;100 mg/dL; 2.6 mmol/L; &lt;130 mg/dL; 3.4 mmol/L
TERMINOLOGY: 4.2.7
EVIDENCE_STATUS: SOURCE_LOCKED_AUDITED; AUDIT_STATUS: PASS
REVEAL_PART: N/A
TEACHING_RULE: Preserve all source qualifiers. Do not introduce outside clinical knowledge.
---
CASE_ID: DYS_CASE_085
ROLE: CASE_DECIDE
PROMPT: Consider adults with a CAC score of ≥300 to 999 AU. What LLT intensity and lipid goals apply?
FULL_EXPECTED_ANSWER: In adults with a CAC score of ≥300 to 999 AU, it is reasonable to intensify therapy by increasing the intensity of statin therapy or, if needed, adding ezetimibe, a PCSK9 mAb, or bempedoic acid to achieve a goal of LDL-C &lt;55 mg/dL (1.4 mmol/L) and non–HDL-C &lt;85 mg/dL (2.2 mmol/L).
SOURCE_PROVENANCE: PDF p60/e1213 §4.2.7 recommendation 5
SOURCE_IDS: SOURCE_A
DECISION_NODE_IDS: DN_4_2_7_R05
COR/LOE: 2a/B-NR
THRESHOLD_TIMING_DOSE: ≥300 to 999 AU; &lt;55 mg/dL; 1.4 mmol/L; &lt;85 mg/dL; 2.2 mmol/L
TERMINOLOGY: 4.2.7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DYS_CASE_084
ROLE: SOURCE_REVEAL
PROMPT: An adult has a CAC score of 1 to 99 AU and is below the 75th standardized percentile, or has an incidental finding of mild CAC on noncardiac CT. What statin intensity and lipid goals are supported?
FULL_EXPECTED_ANSWER: In adults with a CAC score of 1 to 99 AU and &lt;75th standardized percentile, or with an incidental finding of mild CAC on noncardiac CT scan, treatment with moderate-intensity statin therapy is reasonable to achieve a ≥30% to 49% reduction in LDL-C and a goal of LDL-C &lt;100 mg/dL (2.6 mmol/L) and non–HDL-C &lt;130 mg/dL (3.4 mmol/L).
SOURCE_PROVENANCE: PDF p60/e1213 §4.2.7 recommendation 4
SOURCE_IDS: SOURCE_A
DECISION_NODE_IDS: DN_4_2_7_R04
COR/LOE: 2a/B-R
THRESHOLD_TIMING_DOSE: 1 to 99 AU; ≥30%; 49%; &lt;100 mg/dL; 2.6 mmol/L; &lt;130 mg/dL; 3.4 mmol/L
TERMINOLOGY: 4.2.7
EVIDENCE_STATUS: SOURCE_LOCKED_AUDITED; AUDIT_STATUS: PASS
REVEAL_PART: N/A
TEACHING_RULE: Preserve all source qualifiers. Do not introduce outside clinical knowledge.
---
CASE_ID: DYS_CASE_085
ROLE: SOURCE_REVEAL
PROMPT: Consider adults with a CAC score of ≥300 to 999 AU. What LLT intensity and lipid goals apply?
FULL_EXPECTED_ANSWER: In adults with a CAC score of ≥300 to 999 AU, it is reasonable to intensify therapy by increasing the intensity of statin therapy or, if needed, adding ezetimibe, a PCSK9 mAb, or bempedoic acid to achieve a goal of LDL-C &lt;55 mg/dL (1.4 mmol/L) and non–HDL-C &lt;85 mg/dL (2.2 mmol/L).
SOURCE_PROVENANCE: PDF p60/e1213 §4.2.7 recommendation 5
SOURCE_IDS: SOURCE_A
DECISION_NODE_IDS: DN_4_2_7_R05
COR/LOE: 2a/B-NR
THRESHOLD_TIMING_DOSE: ≥300 to 999 AU; &lt;55 mg/dL; 1.4 mmol/L; &lt;85 mg/dL; 2.2 mmol/L
TERMINOLOGY: 4.2.7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DYS_CASE_086
ROLE: CASE_DECIDE
PROMPT: Consider adults with no prior ASCVD who have moderate-to-severe incidental coronary atherosclerosis identified on noncardiac CT scans (eg, by visual estimation or a validated artificial intelligence-based algorithm). What LLT intensity and lipid goals apply?
FULL_EXPECTED_ANSWER: Among adults with no prior ASCVD who have moderate-to-severe incidental coronary atherosclerosis identified on noncardiac CT scans (eg, by visual estimation or a validated artificial intelligence-based algorithm), it is reasonable to initiate high-intensity statin therapy to achieve at least a ≥50% reduction in LDL-C and a goal of LDL-C &lt;70 mg/dL (1.8 mmol/L) and non– HDL-C &lt;100 mg/dL (2.6 mmol/L); if mild incidental CAC, moderate-intensity statin therapy is reasonable to achieve a ≥30% to 49% reduction in LDL-C and a goal of LDL-C &lt;100 mg/dL (2.6 mmol/L) and non–HDL-C goal &lt;130 mg/dL.
SOURCE_PROVENANCE: PDF p60/e1213 §4.2.7 recommendation 6
SOURCE_IDS: SOURCE_A
DECISION_NODE_IDS: DN_4_2_7_R06
COR/LOE: 2a/B-NR
THRESHOLD_TIMING_DOSE: ≥50%; &lt;70 mg/dL; 1.8 mmol/L; &lt;100 mg/dL; 2.6 mmol/L; ≥30%; 49%; &lt;130 mg/dL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DYS_CASE_086
ROLE: SOURCE_REVEAL
PROMPT: Consider adults with no prior ASCVD who have moderate-to-severe incidental coronary atherosclerosis identified on noncardiac CT scans (eg, by visual estimation or a validated artificial intelligence-based algorithm). What LLT intensity and lipid goals apply?
FULL_EXPECTED_ANSWER: Among adults with no prior ASCVD who have moderate-to-severe incidental coronary atherosclerosis identified on noncardiac CT scans (eg, by visual estimation or a validated artificial intelligence-based algorithm), it is reasonable to initiate high-intensity statin therapy to achieve at least a ≥50% reduction in LDL-C and a goal of LDL-C &lt;70 mg/dL (1.8 mmol/L) and non– HDL-C &lt;100 mg/dL (2.6 mmol/L); if mild incidental CAC, moderate-intensity statin therapy is reasonable to achieve a ≥30% to 49% reduction in LDL-C and a goal of LDL-C &lt;100 mg/dL (2.6 mmol/L) and non–HDL-C goal &lt;130 mg/dL.
SOURCE_PROVENANCE: PDF p60/e1213 §4.2.7 recommendation 6
SOURCE_IDS: SOURCE_A
DECISION_NODE_IDS: DN_4_2_7_R06
COR/LOE: 2a/B-NR
THRESHOLD_TIMING_DOSE: ≥50%; &lt;70 mg/dL; 1.8 mmol/L; &lt;100 mg/dL; 2.6 mmol/L; ≥30%; 49%; &lt;130 mg/dL
TERMINOLOGY: ASCVD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DYS_CASE_086
ROLE: SOURCE_REVEAL
PROMPT: Consider adults with no prior ASCVD who have moderate-to-severe incidental coronary atherosclerosis identified on noncardiac CT scans (eg, by visual estimation or a validated artificial intelligence-based algorithm). What LLT intensity and lipid goals apply?
FULL_EXPECTED_ANSWER: Among adults with no prior ASCVD who have moderate-to-severe incidental coronary atherosclerosis identified on noncardiac CT scans (eg, by visual estimation or a validated artificial intelligence-based algorithm), it is reasonable to initiate high-intensity statin therapy to achieve at least a ≥50% reduction in LDL-C and a goal of LDL-C &lt;70 mg/dL (1.8 mmol/L) and non– HDL-C &lt;100 mg/dL (2.6 mmol/L); if mild incidental CAC, moderate-intensity statin therapy is reasonable to achieve a ≥30% to 49% reduction in LDL-C and a goal of LDL-C &lt;100 mg/dL (2.6 mmol/L) and non–HDL-C goal &lt;130 mg/dL.
SOURCE_PROVENANCE: PDF p60/e1213 §4.2.7 recommendation 6
SOURCE_IDS: SOURCE_A
DECISION_NODE_IDS: DN_4_2_7_R06
COR/LOE: 2a/B-NR
THRESHOLD_TIMING_DOSE: ≥50%; &lt;70 mg/dL; 1.8 mmol/L; &lt;100 mg/dL; 2.6 mmol/L; ≥30%; 49%; &lt;130 mg/dL
TERMINOLOGY: ASCVD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DYS_CASE_087
ROLE: CASE_DECIDE
PROMPT: A child or adolescent has lipid abnormalities. What management approach is recommended to improve LDL-C, TG, and non–HDL-C?
FULL_EXPECTED_ANSWER: In children and adolescents with lipid abnormalities, lifestyle management is recommended to improve LDL-C, TG, and non–HDL-C.
SOURCE_PROVENANCE: PDF p63/e1216 §4.2.8.1 recommendation 1
SOURCE_IDS: SOURCE_A
DECISION_NODE_IDS: DN_4_2_8_1_R01
COR/LOE: 1/B-R
THRESHOLD_TIMING_DOSE: N/A
TERMINOLOGY: pediatric
EVIDENCE_STATUS: SOURCE_LOCKED_AUDITED; AUDIT_STATUS: PASS
REVEAL_PART: N/A
TEACHING_RULE: Preserve all source qualifiers. Do not introduce outside clinical knowledge.
---
CASE_ID: DYS_CASE_088
ROLE: CASE_DECIDE
PROMPT: A child or adolescent ≥8 y of age has persistently elevated LDL-C ≥160 mg/dL (4.1 mmol/L), a presentation consistent with FH, and insufficient response after 3 to 6 mo of lifestyle management. What treatment is recommended to lower LDL-C?
FULL_EXPECTED_ANSWER: In children and adolescents ≥8 y of age with an LDL-C level persistently ≥160 mg/dL (4.1 mmol/L) and a presentation consistent with FH who do not respond sufficiently after 3 to 6 mo of lifestyle management, initiation of statin and other LLT as necessary is recommended to lower LDL-C.
SOURCE_PROVENANCE: PDF p63/e1216 §4.2.8.1 recommendation 2
SOURCE_IDS: SOURCE_A
DECISION_NODE_IDS: DN_4_2_8_1_R02
COR/LOE: 1/B-R
THRESHOLD_TIMING_DOSE: ≥8 y; ≥160 mg/dL; 4.1 mmol/L; 3 to 6 mo
TERMINOLOGY: pediatric
EVIDENCE_STATUS: SOURCE_LOCKED_AUDITED; AUDIT_STATUS: PASS
REVEAL_PART: N/A
TEACHING_RULE: Preserve all source qualifiers. Do not introduce outside clinical knowledge.
---
CASE_ID: DYS_CASE_089
ROLE: CASE_DECIDE
PROMPT: A child or adolescent has a clinical presentation consistent with FH. What role does panel-based genetic testing have in diagnosis, cascade testing, and treatment?
FULL_EXPECTED_ANSWER: In children and adolescents with a clinical presentation consistent with FH, panel-based genetic testing for pathogenic/likely pathogenic rare variants for FH can be useful to guide diagnosis, cascade testing, and treatment.
SOURCE_PROVENANCE: PDF p63/e1216 §4.2.8.1 recommendation 3
SOURCE_IDS: SOURCE_A
DECISION_NODE_IDS: DN_4_2_8_1_R03
COR/LOE: 2a/B-NR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DYS_CASE_087
ROLE: SOURCE_REVEAL
PROMPT: A child or adolescent has lipid abnormalities. What management approach is recommended to improve LDL-C, TG, and non–HDL-C?
FULL_EXPECTED_ANSWER: In children and adolescents with lipid abnormalities, lifestyle management is recommended to improve LDL-C, TG, and non–HDL-C.
SOURCE_PROVENANCE: PDF p63/e1216 §4.2.8.1 recommendation 1
SOURCE_IDS: SOURCE_A
DECISION_NODE_IDS: DN_4_2_8_1_R01
COR/LOE: 1/B-R
THRESHOLD_TIMING_DOSE: N/A
TERMINOLOGY: pediatric
EVIDENCE_STATUS: SOURCE_LOCKED_AUDITED; AUDIT_STATUS: PASS
REVEAL_PART: N/A
TEACHING_RULE: Preserve all source qualifiers. Do not introduce outside clinical knowledge.
---
CASE_ID: DYS_CASE_088
ROLE: SOURCE_REVEAL
PROMPT: A child or adolescent ≥8 y of age has persistently elevated LDL-C ≥160 mg/dL (4.1 mmol/L), a presentation consistent with FH, and insufficient response after 3 to 6 mo of lifestyle management. What treatment is recommended to lower LDL-C?
FULL_EXPECTED_ANSWER: In children and adolescents ≥8 y of age with an LDL-C level persistently ≥160 mg/dL (4.1 mmol/L) and a presentation consistent with FH who do not respond sufficiently after 3 to 6 mo of lifestyle management, initiation of statin and other LLT as necessary is recommended to lower LDL-C.
SOURCE_PROVENANCE: PDF p63/e1216 §4.2.8.1 recommendation 2
SOURCE_IDS: SOURCE_A
DECISION_NODE_IDS: DN_4_2_8_1_R02
COR/LOE: 1/B-R
THRESHOLD_TIMING_DOSE: ≥8 y; ≥160 mg/dL; 4.1 mmol/L; 3 to 6 mo
TERMINOLOGY: pediatric
EVIDENCE_STATUS: SOURCE_LOCKED_AUDITED; AUDIT_STATUS: PASS
REVEAL_PART: N/A
TEACHING_RULE: Preserve all source qualifiers. Do not introduce outside clinical knowledge.
---
CASE_ID: DYS_CASE_089
ROLE: SOURCE_REVEAL
PROMPT: A child or adolescent has a clinical presentation consistent with FH. What role does panel-based genetic testing have in diagnosis, cascade testing, and treatment?
FULL_EXPECTED_ANSWER: In children and adolescents with a clinical presentation consistent with FH, panel-based genetic testing for pathogenic/likely pathogenic rare variants for FH can be useful to guide diagnosis, cascade testing, and treatment.
SOURCE_PROVENANCE: PDF p63/e1216 §4.2.8.1 recommendation 3
SOURCE_IDS: SOURCE_A
DECISION_NODE_IDS: DN_4_2_8_1_R03
COR/LOE: 2a/B-NR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DYS_CASE_090
ROLE: CASE_DECIDE
PROMPT: Consider young adults (&gt;18–39 y of age). What lifestyle advice applies?
FULL_EXPECTED_ANSWER: In young adults (&gt;18–39 y of age), dietary, physical activity, and weight optimization recommendations should be provided to reduce cumulative atherogenic lipid exposure and lifetime ASCVD risk.
SOURCE_PROVENANCE: PDF p65/e1218 §4.2.8.2 recommendation 1
SOURCE_IDS: SOURCE_A
DECISION_NODE_IDS: DN_4_2_8_2_R01
COR/LOE: 1/B-NR
THRESHOLD_TIMING_DOSE: &gt;18–39 y
TERMINOLOGY: ASCVD
EVIDENCE_STATUS: SOURCE_LOCKED_AUDITED; AUDIT_STATUS: PASS
REVEAL_PART: N/A
TEACHING_RULE: Preserve all source qualifiers. Do not introduce outside clinical knowledge.
---
CASE_ID: DYS_CASE_091
ROLE: CASE_DECIDE
PROMPT: Consider an older adult in whom discontinuation of LLT is being considered. Which factors should guide an LLT discontinuation discussion?
FULL_EXPECTED_ANSWER: In older adults, the benefit-risk discussion should include patient priorities, functional status, multimorbidity, frailty, polypharmacy, and life expectancy, and should not be based solely on chronological age when considering the decision to discontinue LLT.
SOURCE_PROVENANCE: PDF p65/e1218 §4.2.8.3 recommendation 1
SOURCE_IDS: SOURCE_A
DECISION_NODE_IDS: DN_4_2_8_3_R01
COR/LOE: 1/C-EO
THRESHOLD_TIMING_DOSE: N/A
TERMINOLOGY: older adults
EVIDENCE_STATUS: SOURCE_LOCKED_AUDITED; AUDIT_STATUS: PASS
REVEAL_PART: N/A
TEACHING_RULE: Preserve all source qualifiers. Do not introduce outside clinical knowledge.
---
CASE_ID: DYS_CASE_092
ROLE: CASE_DECIDE
PROMPT: Consider adults aged &gt;75 y with an estimated life expectancy of at least 2.5 y. What statin initiation decision applies?
FULL_EXPECTED_ANSWER: In adults aged &gt;75 y with an estimated life expectancy of at least 2.5 y, it may be reasonable to initiate moderate-intensity statin therapy after a clinician–patient discussion of potential benefits and risks to reduce ASCVD risk.
SOURCE_PROVENANCE: PDF p66/e1219 §4.2.8.3 recommendation 2
SOURCE_IDS: SOURCE_A
DECISION_NODE_IDS: DN_4_2_8_3_R02
COR/LOE: 2b/B-NR
THRESHOLD_TIMING_DOSE: &gt;75 y; 2.5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DYS_CASE_090
ROLE: SOURCE_REVEAL
PROMPT: Consider young adults (&gt;18–39 y of age). What lifestyle advice applies?
FULL_EXPECTED_ANSWER: In young adults (&gt;18–39 y of age), dietary, physical activity, and weight optimization recommendations should be provided to reduce cumulative atherogenic lipid exposure and lifetime ASCVD risk.
SOURCE_PROVENANCE: PDF p65/e1218 §4.2.8.2 recommendation 1
SOURCE_IDS: SOURCE_A
DECISION_NODE_IDS: DN_4_2_8_2_R01
COR/LOE: 1/B-NR
THRESHOLD_TIMING_DOSE: &gt;18–39 y
TERMINOLOGY: ASCVD
EVIDENCE_STATUS: SOURCE_LOCKED_AUDITED; AUDIT_STATUS: PASS
REVEAL_PART: N/A
TEACHING_RULE: Preserve all source qualifiers. Do not introduce outside clinical knowledge.
---
CASE_ID: DYS_CASE_091
ROLE: SOURCE_REVEAL
PROMPT: Consider an older adult in whom discontinuation of LLT is being considered. Which factors should guide an LLT discontinuation discussion?
FULL_EXPECTED_ANSWER: In older adults, the benefit-risk discussion should include patient priorities, functional status, multimorbidity, frailty, polypharmacy, and life expectancy, and should not be based solely on chronological age when considering the decision to discontinue LLT.
SOURCE_PROVENANCE: PDF p65/e1218 §4.2.8.3 recommendation 1
SOURCE_IDS: SOURCE_A
DECISION_NODE_IDS: DN_4_2_8_3_R01
COR/LOE: 1/C-EO
THRESHOLD_TIMING_DOSE: N/A
TERMINOLOGY: older adults
EVIDENCE_STATUS: SOURCE_LOCKED_AUDITED; AUDIT_STATUS: PASS
REVEAL_PART: N/A
TEACHING_RULE: Preserve all source qualifiers. Do not introduce outside clinical knowledge.
---
CASE_ID: DYS_CASE_092
ROLE: SOURCE_REVEAL
PROMPT: Consider adults aged &gt;75 y with an estimated life expectancy of at least 2.5 y. What statin initiation decision applies?
FULL_EXPECTED_ANSWER: In adults aged &gt;75 y with an estimated life expectancy of at least 2.5 y, it may be reasonable to initiate moderate-intensity statin therapy after a clinician–patient discussion of potential benefits and risks to reduce ASCVD risk.
SOURCE_PROVENANCE: PDF p66/e1219 §4.2.8.3 recommendation 2
SOURCE_IDS: SOURCE_A
DECISION_NODE_IDS: DN_4_2_8_3_R02
COR/LOE: 2b/B-NR
THRESHOLD_TIMING_DOSE: &gt;75 y; 2.5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DYS_CASE_093
ROLE: CASE_DECIDE
PROMPT: Consider patients with a life expectancy of &lt;1 y. What LLT continuation decision applies?
FULL_EXPECTED_ANSWER: In patients with a life expectancy of &lt;1 y, it may be reasonable to discontinue LDL-lowering therapy to avoid unnecessary medication use or adverse medication effects.
SOURCE_PROVENANCE: PDF p66/e1219 §4.2.8.3 recommendation 3
SOURCE_IDS: SOURCE_A
DECISION_NODE_IDS: DN_4_2_8_3_R03
COR/LOE: 2b/B-R
THRESHOLD_TIMING_DOSE: &lt;1 y
TERMINOLOGY: 4.2.8.3
EVIDENCE_STATUS: SOURCE_LOCKED_AUDITED; AUDIT_STATUS: PASS
REVEAL_PART: N/A
TEACHING_RULE: Preserve all source qualifiers. Do not introduce outside clinical knowledge.
---
CASE_ID: DYS_CASE_094
ROLE: CASE_DECIDE
PROMPT: Consider adults aged &gt;75 y with an estimated life expectancy of at least 2.5 y, and for whom the decision regarding LLT is uncertain. What risk reassessment may guide an uncertain LLT decision?
FULL_EXPECTED_ANSWER: In adults aged &gt;75 y with an estimated life expectancy of at least 2.5 y, and for whom the decision regarding LLT is uncertain, it may be reasonable to measure CAC to reclassify those with minimal (1–10) or no CAC to avoid LLT.
SOURCE_PROVENANCE: PDF p66/e1219 §4.2.8.3 recommendation 4
SOURCE_IDS: SOURCE_A
DECISION_NODE_IDS: DN_4_2_8_3_R04
COR/LOE: 2b/B-NR
THRESHOLD_TIMING_DOSE: &gt;75 y; 2.5 y
TERMINOLOGY: 4.2.8.3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DYS_CASE_093
ROLE: SOURCE_REVEAL
PROMPT: Consider patients with a life expectancy of &lt;1 y. What LLT continuation decision applies?
FULL_EXPECTED_ANSWER: In patients with a life expectancy of &lt;1 y, it may be reasonable to discontinue LDL-lowering therapy to avoid unnecessary medication use or adverse medication effects.
SOURCE_PROVENANCE: PDF p66/e1219 §4.2.8.3 recommendation 3
SOURCE_IDS: SOURCE_A
DECISION_NODE_IDS: DN_4_2_8_3_R03
COR/LOE: 2b/B-R
THRESHOLD_TIMING_DOSE: &lt;1 y
TERMINOLOGY: 4.2.8.3
EVIDENCE_STATUS: SOURCE_LOCKED_AUDITED; AUDIT_STATUS: PASS
REVEAL_PART: N/A
TEACHING_RULE: Preserve all source qualifiers. Do not introduce outside clinical knowledge.
---
CASE_ID: DYS_CASE_094
ROLE: SOURCE_REVEAL
PROMPT: Consider adults aged &gt;75 y with an estimated life expectancy of at least 2.5 y, and for whom the decision regarding LLT is uncertain. What risk reassessment may guide an uncertain LLT decision?
FULL_EXPECTED_ANSWER: In adults aged &gt;75 y with an estimated life expectancy of at least 2.5 y, and for whom the decision regarding LLT is uncertain, it may be reasonable to measure CAC to reclassify those with minimal (1–10) or no CAC to avoid LLT.
SOURCE_PROVENANCE: PDF p66/e1219 §4.2.8.3 recommendation 4
SOURCE_IDS: SOURCE_A
DECISION_NODE_IDS: DN_4_2_8_3_R04
COR/LOE: 2b/B-NR
THRESHOLD_TIMING_DOSE: &gt;75 y; 2.5 y
TERMINOLOGY: 4.2.8.3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DYS_CASE_095
ROLE: CASE_DECIDE
PROMPT: One person with hypercholesterolemia is planning pregnancy and is not at high ASCVD risk; another is pregnant with FH or clinical ASCVD. Lactation is also relevant. How do the statin decisions differ across these circumstances?
FULL_EXPECTED_ANSWER: Persons of childbearing age with hypercholesterolemia who are not at high risk for ASCVD and plan to become pregnant should stop statin therapy 1 to 2 mo before attempting to become pregnant or as soon as pregnancy is discovered to avoid uncertain risks to the fetus. || In pregnant individuals with FH or a history of clinical ASCVD, it may be reasonable to continue statin therapy to lower LDL-C and ASCVD risk following an individualized benefit-risk discussion.*9 || Statins should be discontinued in most pregnancies; may be considered in high-risk individuals with ASCVD or FH; avoid use during lactation. || If continued statin therapy during pregnancy is judged to have benefit greater than potential risk, the source footnote says a hydrophilic statin such as pravastatin should be considered.
SOURCE_PROVENANCE: PDF p67/e1220 §4.2.8.4 recommendation 1; PDF p67/e1220 §4.2.8.4 recommendation 5; Table 20, PDF p68/e1221; §4.2.8.4 recommendation 5 footnote, PDF p67/e1220
SOURCE_IDS: SOURCE_A
DECISION_NODE_IDS: DN_4_2_8_4_R01;DN_4_2_8_4_R05;DN_T20_PREG_STATINS;DN_4_2_8_4_HYDROPHILIC_STATIN_FOOTNOTE
COR/LOE: 1/C-LD; 2b/C-LD
THRESHOLD_TIMING_DOSE: 1 to 2 mo; high-risk ASCVD/FH
TERMINOLOGY: pregnancy/lactation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DYS_CASE_095
ROLE: SOURCE_REVEAL
PROMPT: One person with hypercholesterolemia is planning pregnancy and is not at high ASCVD risk; another is pregnant with FH or clinical ASCVD. Lactation is also relevant. How do the statin decisions differ across these circumstances?
FULL_EXPECTED_ANSWER: Persons of childbearing age with hypercholesterolemia who are not at high risk for ASCVD and plan to become pregnant should stop statin therapy 1 to 2 mo before attempting to become pregnant or as soon as pregnancy is discovered to avoid uncertain risks to the fetus. || In pregnant individuals with FH or a history of clinical ASCVD, it may be reasonable to continue statin therapy to lower LDL-C and ASCVD risk following an individualized benefit-risk discussion.*9 || Statins should be discontinued in most pregnancies; may be considered in high-risk individuals with ASCVD or FH; avoid use during lactation. || If continued statin therapy during pregnancy is judged to have benefit greater than potential risk, the source footnote says a hydrophilic statin such as pravastatin should be considered.
SOURCE_PROVENANCE: PDF p67/e1220 §4.2.8.4 recommendation 1; PDF p67/e1220 §4.2.8.4 recommendation 5; Table 20, PDF p68/e1221; §4.2.8.4 recommendation 5 footnote, PDF p67/e1220
SOURCE_IDS: SOURCE_A
DECISION_NODE_IDS: DN_4_2_8_4_R01;DN_4_2_8_4_R05;DN_T20_PREG_STATINS;DN_4_2_8_4_HYDROPHILIC_STATIN_FOOTNOTE
COR/LOE: 1/C-LD; 2b/C-LD
THRESHOLD_TIMING_DOSE: 1 to 2 mo; high-risk ASCVD/FH
TERMINOLOGY: pregnancy/lactation
EVIDENCE_STATUS: SOURCE_LOCKED_AUDITED; AUDIT_STATUS: PASS
REVEAL_PART: 1/4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DYS_CASE_095
ROLE: SOURCE_REVEAL
PROMPT: One person with hypercholesterolemia is planning pregnancy and is not at high ASCVD risk; another is pregnant with FH or clinical ASCVD. Lactation is also relevant. How do the statin decisions differ across these circumstances?
FULL_EXPECTED_ANSWER: Persons of childbearing age with hypercholesterolemia who are not at high risk for ASCVD and plan to become pregnant should stop statin therapy 1 to 2 mo before attempting to become pregnant or as soon as pregnancy is discovered to avoid uncertain risks to the fetus. || In pregnant individuals with FH or a history of clinical ASCVD, it may be reasonable to continue statin therapy to lower LDL-C and ASCVD risk following an individualized benefit-risk discussion.*9 || Statins should be discontinued in most pregnancies; may be considered in high-risk individuals with ASCVD or FH; avoid use during lactation. || If continued statin therapy during pregnancy is judged to have benefit greater than potential risk, the source footnote says a hydrophilic statin such as pravastatin should be considered.
SOURCE_PROVENANCE: PDF p67/e1220 §4.2.8.4 recommendation 1; PDF p67/e1220 §4.2.8.4 recommendation 5; Table 20, PDF p68/e1221; §4.2.8.4 recommendation 5 footnote, PDF p67/e1220
SOURCE_IDS: SOURCE_A
DECISION_NODE_IDS: DN_4_2_8_4_R01;DN_4_2_8_4_R05;DN_T20_PREG_STATINS;DN_4_2_8_4_HYDROPHILIC_STATIN_FOOTNOTE
COR/LOE: 1/C-LD; 2b/C-LD
THRESHOLD_TIMING_DOSE: 1 to 2 mo; high-risk ASCVD/FH
TERMINOLOGY: pregnancy/lactation
EVIDENCE_STATUS: SOURCE_LOCKED_AUDITED; AUDIT_STATUS: PASS
REVEAL_PART: 2/4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DYS_CASE_095
ROLE: SOURCE_REVEAL
PROMPT: One person with hypercholesterolemia is planning pregnancy and is not at high ASCVD risk; another is pregnant with FH or clinical ASCVD. Lactation is also relevant. How do the statin decisions differ across these circumstances?
FULL_EXPECTED_ANSWER: Persons of childbearing age with hypercholesterolemia who are not at high risk for ASCVD and plan to become pregnant should stop statin therapy 1 to 2 mo before attempting to become pregnant or as soon as pregnancy is discovered to avoid uncertain risks to the fetus. || In pregnant individuals with FH or a history of clinical ASCVD, it may be reasonable to continue statin therapy to lower LDL-C and ASCVD risk following an individualized benefit-risk discussion.*9 || Statins should be discontinued in most pregnancies; may be considered in high-risk individuals with ASCVD or FH; avoid use during lactation. || If continued statin therapy during pregnancy is judged to have benefit greater than potential risk, the source footnote says a hydrophilic statin such as pravastatin should be considered.
SOURCE_PROVENANCE: PDF p67/e1220 §4.2.8.4 recommendation 1; PDF p67/e1220 §4.2.8.4 recommendation 5; Table 20, PDF p68/e1221; §4.2.8.4 recommendation 5 footnote, PDF p67/e1220
SOURCE_IDS: SOURCE_A
DECISION_NODE_IDS: DN_4_2_8_4_R01;DN_4_2_8_4_R05;DN_T20_PREG_STATINS;DN_4_2_8_4_HYDROPHILIC_STATIN_FOOTNOTE
COR/LOE: 1/C-LD; 2b/C-LD
THRESHOLD_TIMING_DOSE: 1 to 2 mo; high-risk ASCVD/FH
TERMINOLOGY: pregnancy/lactation
EVIDENCE_STATUS: SOURCE_LOCKED_AUDITED; AUDIT_STATUS: PASS
REVEAL_PART: 3/4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DYS_CASE_095
ROLE: SOURCE_REVEAL
PROMPT: One person with hypercholesterolemia is planning pregnancy and is not at high ASCVD risk; another is pregnant with FH or clinical ASCVD. Lactation is also relevant. How do the statin decisions differ across these circumstances?
FULL_EXPECTED_ANSWER: Persons of childbearing age with hypercholesterolemia who are not at high risk for ASCVD and plan to become pregnant should stop statin therapy 1 to 2 mo before attempting to become pregnant or as soon as pregnancy is discovered to avoid uncertain risks to the fetus. || In pregnant individuals with FH or a history of clinical ASCVD, it may be reasonable to continue statin therapy to lower LDL-C and ASCVD risk following an individualized benefit-risk discussion.*9 || Statins should be discontinued in most pregnancies; may be considered in high-risk individuals with ASCVD or FH; avoid use during lactation. || If continued statin therapy during pregnancy is judged to have benefit greater than potential risk, the source footnote says a hydrophilic statin such as pravastatin should be considered.
SOURCE_PROVENANCE: PDF p67/e1220 §4.2.8.4 recommendation 1; PDF p67/e1220 §4.2.8.4 recommendation 5; Table 20, PDF p68/e1221; §4.2.8.4 recommendation 5 footnote, PDF p67/e1220
SOURCE_IDS: SOURCE_A
DECISION_NODE_IDS: DN_4_2_8_4_R01;DN_4_2_8_4_R05;DN_T20_PREG_STATINS;DN_4_2_8_4_HYDROPHILIC_STATIN_FOOTNOTE
COR/LOE: 1/C-LD; 2b/C-LD
THRESHOLD_TIMING_DOSE: 1 to 2 mo; high-risk ASCVD/FH
TERMINOLOGY: pregnancy/lactation
EVIDENCE_STATUS: SOURCE_LOCKED_AUDITED; AUDIT_STATUS: PASS
REVEAL_PART: 4/4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DYS_CASE_097
ROLE: CASE_DECIDE
PROMPT: A pregnant person has severe fasting hypertriglyceridemia (TG ≥500 mg/dL [5.7 mmol/L]); lactation considerations also apply. Which TG-lowering treatment and timing apply during pregnancy and lactation?
FULL_EXPECTED_ANSWER: In pregnant individuals with severe fasting hypertriglyceridemia (TG ≥500 mg/dL [5.7 mmol/L]), the use of fibrates (after the first trimester) or high-dose omega-3 ethyl esters is reasonable as an adjunct to lifestyle management to lower TG levels and reduce the risk of pancreatitis. || Fibric acid derivatives can be considered after the first trimester for severe hypertriglyceridemia if potential benefit justifies fetal risk; avoid during lactation, which can resume 5 days after the last dose. || Omega-3 fatty acids can be considered for severe hypertriglyceridemia during pregnancy; they are excreted in human milk and should be used with caution during lactation because infant effects are unknown.
SOURCE_PROVENANCE: PDF p67/e1220 §4.2.8.4 recommendation 3; Table 20, PDF p68/e1221
SOURCE_IDS: SOURCE_A
DECISION_NODE_IDS: DN_4_2_8_4_R03;DN_T20_PREG_FIBRATES;DN_T20_PREG_OMEGA3
COR/LOE: 2a/B-NR
THRESHOLD_TIMING_DOSE: ≥500 mg/dL; 5.7 mmol/L; after first trimester; lactation resume 5 d after last dose
TERMINOLOGY: pregnancy/lactation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DYS_CASE_097
ROLE: SOURCE_REVEAL
PROMPT: A pregnant person has severe fasting hypertriglyceridemia (TG ≥500 mg/dL [5.7 mmol/L]); lactation considerations also apply. Which TG-lowering treatment and timing apply during pregnancy and lactation?
FULL_EXPECTED_ANSWER: In pregnant individuals with severe fasting hypertriglyceridemia (TG ≥500 mg/dL [5.7 mmol/L]), the use of fibrates (after the first trimester) or high-dose omega-3 ethyl esters is reasonable as an adjunct to lifestyle management to lower TG levels and reduce the risk of pancreatitis. || Fibric acid derivatives can be considered after the first trimester for severe hypertriglyceridemia if potential benefit justifies fetal risk; avoid during lactation, which can resume 5 days after the last dose. || Omega-3 fatty acids can be considered for severe hypertriglyceridemia during pregnancy; they are excreted in human milk and should be used with caution during lactation because infant effects are unknown.
SOURCE_PROVENANCE: PDF p67/e1220 §4.2.8.4 recommendation 3; Table 20, PDF p68/e1221
SOURCE_IDS: SOURCE_A
DECISION_NODE_IDS: DN_4_2_8_4_R03;DN_T20_PREG_FIBRATES;DN_T20_PREG_OMEGA3
COR/LOE: 2a/B-NR
THRESHOLD_TIMING_DOSE: ≥500 mg/dL; 5.7 mmol/L; after first trimester; lactation resume 5 d after last dose
TERMINOLOGY: pregnancy/lactation
EVIDENCE_STATUS: SOURCE_LOCKED_AUDITED; AUDIT_STATUS: PASS
REVEAL_PART: 1/3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DYS_CASE_097
ROLE: SOURCE_REVEAL
PROMPT: A pregnant person has severe fasting hypertriglyceridemia (TG ≥500 mg/dL [5.7 mmol/L]); lactation considerations also apply. Which TG-lowering treatment and timing apply during pregnancy and lactation?
FULL_EXPECTED_ANSWER: In pregnant individuals with severe fasting hypertriglyceridemia (TG ≥500 mg/dL [5.7 mmol/L]), the use of fibrates (after the first trimester) or high-dose omega-3 ethyl esters is reasonable as an adjunct to lifestyle management to lower TG levels and reduce the risk of pancreatitis. || Fibric acid derivatives can be considered after the first trimester for severe hypertriglyceridemia if potential benefit justifies fetal risk; avoid during lactation, which can resume 5 days after the last dose. || Omega-3 fatty acids can be considered for severe hypertriglyceridemia during pregnancy; they are excreted in human milk and should be used with caution during lactation because infant effects are unknown.
SOURCE_PROVENANCE: PDF p67/e1220 §4.2.8.4 recommendation 3; Table 20, PDF p68/e1221
SOURCE_IDS: SOURCE_A
DECISION_NODE_IDS: DN_4_2_8_4_R03;DN_T20_PREG_FIBRATES;DN_T20_PREG_OMEGA3
COR/LOE: 2a/B-NR
THRESHOLD_TIMING_DOSE: ≥500 mg/dL; 5.7 mmol/L; after first trimester; lactation resume 5 d after last dose
TERMINOLOGY: pregnancy/lactation
EVIDENCE_STATUS: SOURCE_LOCKED_AUDITED; AUDIT_STATUS: PASS
REVEAL_PART: 2/3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DYS_CASE_097
ROLE: SOURCE_REVEAL
PROMPT: A pregnant person has severe fasting hypertriglyceridemia (TG ≥500 mg/dL [5.7 mmol/L]); lactation considerations also apply. Which TG-lowering treatment and timing apply during pregnancy and lactation?
FULL_EXPECTED_ANSWER: In pregnant individuals with severe fasting hypertriglyceridemia (TG ≥500 mg/dL [5.7 mmol/L]), the use of fibrates (after the first trimester) or high-dose omega-3 ethyl esters is reasonable as an adjunct to lifestyle management to lower TG levels and reduce the risk of pancreatitis. || Fibric acid derivatives can be considered after the first trimester for severe hypertriglyceridemia if potential benefit justifies fetal risk; avoid during lactation, which can resume 5 days after the last dose. || Omega-3 fatty acids can be considered for severe hypertriglyceridemia during pregnancy; they are excreted in human milk and should be used with caution during lactation because infant effects are unknown.
SOURCE_PROVENANCE: PDF p67/e1220 §4.2.8.4 recommendation 3; Table 20, PDF p68/e1221
SOURCE_IDS: SOURCE_A
DECISION_NODE_IDS: DN_4_2_8_4_R03;DN_T20_PREG_FIBRATES;DN_T20_PREG_OMEGA3
COR/LOE: 2a/B-NR
THRESHOLD_TIMING_DOSE: ≥500 mg/dL; 5.7 mmol/L; after first trimester; lactation resume 5 d after last dose
TERMINOLOGY: pregnancy/lactation
EVIDENCE_STATUS: SOURCE_LOCKED_AUDITED; AUDIT_STATUS: PASS
REVEAL_PART: 3/3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DYS_CASE_098
ROLE: CASE_DECIDE
PROMPT: A pregnant or lactating person has hypercholesterolemia without hypertriglyceridemia. What treatment and pregnancy/lactation considerations apply?
FULL_EXPECTED_ANSWER: In pregnant or lactating individuals with hypercholesterolemia but without hypertriglyceridemia, the use of bile acid sequestrants is reasonable to lower LDL-C. || Bile acid sequestrants are described as safe to use in pregnancy because of lack of systemic absorption; during lactation they are not excreted in milk but require caution because of fat-soluble-vitamin malabsorption.
SOURCE_PROVENANCE: PDF p67/e1220 §4.2.8.4 recommendation 4; Table 20, PDF p68/e1221
SOURCE_IDS: SOURCE_A
DECISION_NODE_IDS: DN_4_2_8_4_R04;DN_T20_PREG_BAS
COR/LOE: 2a/C-EO
THRESHOLD_TIMING_DOSE: N/A
TERMINOLOGY: pregnancy/lactation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DYS_CASE_098
ROLE: SOURCE_REVEAL
PROMPT: A pregnant or lactating person has hypercholesterolemia without hypertriglyceridemia. What treatment and pregnancy/lactation considerations apply?
FULL_EXPECTED_ANSWER: In pregnant or lactating individuals with hypercholesterolemia but without hypertriglyceridemia, the use of bile acid sequestrants is reasonable to lower LDL-C. || Bile acid sequestrants are described as safe to use in pregnancy because of lack of systemic absorption; during lactation they are not excreted in milk but require caution because of fat-soluble-vitamin malabsorption.
SOURCE_PROVENANCE: PDF p67/e1220 §4.2.8.4 recommendation 4; Table 20, PDF p68/e1221
SOURCE_IDS: SOURCE_A
DECISION_NODE_IDS: DN_4_2_8_4_R04;DN_T20_PREG_BAS
COR/LOE: 2a/C-EO
THRESHOLD_TIMING_DOSE: N/A
TERMINOLOGY: pregnancy/lactation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DYS_CASE_098
ROLE: SOURCE_REVEAL
PROMPT: A pregnant or lactating person has hypercholesterolemia without hypertriglyceridemia. What treatment and pregnancy/lactation considerations apply?
FULL_EXPECTED_ANSWER: In pregnant or lactating individuals with hypercholesterolemia but without hypertriglyceridemia, the use of bile acid sequestrants is reasonable to lower LDL-C. || Bile acid sequestrants are described as safe to use in pregnancy because of lack of systemic absorption; during lactation they are not excreted in milk but require caution because of fat-soluble-vitamin malabsorption.
SOURCE_PROVENANCE: PDF p67/e1220 §4.2.8.4 recommendation 4; Table 20, PDF p68/e1221
SOURCE_IDS: SOURCE_A
DECISION_NODE_IDS: DN_4_2_8_4_R04;DN_T20_PREG_BAS
COR/LOE: 2a/C-EO
THRESHOLD_TIMING_DOSE: N/A
TERMINOLOGY: pregnancy/lactation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DYS_CASE_099
ROLE: CASE_DECIDE
PROMPT: An adult with HFrEF has neither clinical ASCVD nor another indication for LLT. Should LLT be initiated to reduce clinical events or mortality?
FULL_EXPECTED_ANSWER: In adults with HFrEF who do not have clinical ASCVD or another indication for LLT, initiation of LLT is not recommended to reduce clinical events or mortality.
SOURCE_PROVENANCE: PDF p69/e1222 §4.2.8.6 recommendation 1
SOURCE_IDS: SOURCE_A
DECISION_NODE_IDS: DN_4_2_8_6_R01
COR/LOE: 3: No Benefit/A
THRESHOLD_TIMING_DOSE: N/A
TERMINOLOGY: ASCVD
EVIDENCE_STATUS: SOURCE_LOCKED_AUDITED; AUDIT_STATUS: PASS
REVEAL_PART: N/A
TEACHING_RULE: Preserve all source qualifiers. Do not introduce outside clinical knowledge.
---
CASE_ID: DYS_CASE_100
ROLE: CASE_DECIDE
PROMPT: An adult aged 40 to 75 y has CKD stage 3 or higher and LDL-C 70 to 189 mg/dL (1.8–4.9 mmol/L). Which lipid-lowering regimen is recommended to reduce ASCVD risk?
FULL_EXPECTED_ANSWER: In adults 40 to 75 y of age with CKD stage 3 or higher and an LDL-C of 70 to 189 mg/dL (1.8–4.9 mmol/L), moderate-intensity statin therapy or moderate-intensity statin combined with ezetimibe is recommended to reduce ASCVD risk.
SOURCE_PROVENANCE: PDF p70/e1223 §4.2.8.8 recommendation 1
SOURCE_IDS: SOURCE_A
DECISION_NODE_IDS: DN_4_2_8_8_R01
COR/LOE: 1/B-R
THRESHOLD_TIMING_DOSE: 40 to 75 y; 70 to 189 mg/dL; 1.8–4.9 mmol/L
TERMINOLOGY: ASCVD
EVIDENCE_STATUS: SOURCE_LOCKED_AUDITED; AUDIT_STATUS: PASS
REVEAL_PART: N/A
TEACHING_RULE: Preserve all source qualifiers. Do not introduce outside clinical knowledge.
---
CASE_ID: DYS_CASE_101
ROLE: CASE_DECIDE
PROMPT: Consider adults with CKD stage 3 or higher and clinical ASCVD. What LLT intensity and lipid goals apply?
FULL_EXPECTED_ANSWER: In adults with CKD stage 3 or higher and clinical ASCVD, LLT with high-intensity statin therapy, with or without ezetimibe and/or a PCSK9 mAb, is recommended to achieve a ≥50% reduction in LDL-C levels and a goal of LDL-C &lt;55 mg/dL (1.4 mmol/L) and non–HDL-C &lt;85 mg/dL (2.2 mmol/L) to reduce ASCVD risk.
SOURCE_PROVENANCE: PDF p70/e1223 §4.2.8.8 recommendation 2
SOURCE_IDS: SOURCE_A
DECISION_NODE_IDS: DN_4_2_8_8_R02
COR/LOE: 1/B-R
THRESHOLD_TIMING_DOSE: ≥50%;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DYS_CASE_099
ROLE: SOURCE_REVEAL
PROMPT: An adult with HFrEF has neither clinical ASCVD nor another indication for LLT. Should LLT be initiated to reduce clinical events or mortality?
FULL_EXPECTED_ANSWER: In adults with HFrEF who do not have clinical ASCVD or another indication for LLT, initiation of LLT is not recommended to reduce clinical events or mortality.
SOURCE_PROVENANCE: PDF p69/e1222 §4.2.8.6 recommendation 1
SOURCE_IDS: SOURCE_A
DECISION_NODE_IDS: DN_4_2_8_6_R01
COR/LOE: 3: No Benefit/A
THRESHOLD_TIMING_DOSE: N/A
TERMINOLOGY: ASCVD
EVIDENCE_STATUS: SOURCE_LOCKED_AUDITED; AUDIT_STATUS: PASS
REVEAL_PART: N/A
TEACHING_RULE: Preserve all source qualifiers. Do not introduce outside clinical knowledge.
---
CASE_ID: DYS_CASE_100
ROLE: SOURCE_REVEAL
PROMPT: An adult aged 40 to 75 y has CKD stage 3 or higher and LDL-C 70 to 189 mg/dL (1.8–4.9 mmol/L). Which lipid-lowering regimen is recommended to reduce ASCVD risk?
FULL_EXPECTED_ANSWER: In adults 40 to 75 y of age with CKD stage 3 or higher and an LDL-C of 70 to 189 mg/dL (1.8–4.9 mmol/L), moderate-intensity statin therapy or moderate-intensity statin combined with ezetimibe is recommended to reduce ASCVD risk.
SOURCE_PROVENANCE: PDF p70/e1223 §4.2.8.8 recommendation 1
SOURCE_IDS: SOURCE_A
DECISION_NODE_IDS: DN_4_2_8_8_R01
COR/LOE: 1/B-R
THRESHOLD_TIMING_DOSE: 40 to 75 y; 70 to 189 mg/dL; 1.8–4.9 mmol/L
TERMINOLOGY: ASCVD
EVIDENCE_STATUS: SOURCE_LOCKED_AUDITED; AUDIT_STATUS: PASS
REVEAL_PART: N/A
TEACHING_RULE: Preserve all source qualifiers. Do not introduce outside clinical knowledge.
---
CASE_ID: DYS_CASE_101
ROLE: SOURCE_REVEAL
PROMPT: Consider adults with CKD stage 3 or higher and clinical ASCVD. What LLT intensity and lipid goals apply?
FULL_EXPECTED_ANSWER: In adults with CKD stage 3 or higher and clinical ASCVD, LLT with high-intensity statin therapy, with or without ezetimibe and/or a PCSK9 mAb, is recommended to achieve a ≥50% reduction in LDL-C levels and a goal of LDL-C &lt;55 mg/dL (1.4 mmol/L) and non–HDL-C &lt;85 mg/dL (2.2 mmol/L) to reduce ASCVD risk.
SOURCE_PROVENANCE: PDF p70/e1223 §4.2.8.8 recommendation 2
SOURCE_IDS: SOURCE_A
DECISION_NODE_IDS: DN_4_2_8_8_R02
COR/LOE: 1/B-R
THRESHOLD_TIMING_DOSE: ≥50%;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DYS_CASE_102
ROLE: CASE_DECIDE
PROMPT: Consider adults with CKD who require maintenance hemodialysis. What statin continuation decision applies?
FULL_EXPECTED_ANSWER: In adults with CKD who require maintenance hemodialysis, it may be reasonable to continue statin therapy to reduce the risk of ASCVD events. Treatment decisions should be individualized with consideration of expected survival, other comorbidities, and severity of ASCVD.
SOURCE_PROVENANCE: PDF p70/e1223 §4.2.8.8 recommendation 3
SOURCE_IDS: SOURCE_A
DECISION_NODE_IDS: DN_4_2_8_8_R03
COR/LOE: 2b/C-LD
THRESHOLD_TIMING_DOSE: N/A
TERMINOLOGY: ASCVD
EVIDENCE_STATUS: SOURCE_LOCKED_AUDITED; AUDIT_STATUS: PASS
REVEAL_PART: N/A
TEACHING_RULE: Preserve all source qualifiers. Do not introduce outside clinical knowledge.
---
CASE_ID: DYS_CASE_103
ROLE: CASE_DECIDE
PROMPT: Consider people living with HIV aged 40 to 75 y on stable combination antiretroviral therapy. What statin treatment decision applies?
FULL_EXPECTED_ANSWER: In people living with HIV aged 40 to 75 y on stable combination antiretroviral therapy, statin therapy is recommended to reduce risk of a first ASCVD event and reduce the rate of coronary atherosclerosis progression.
SOURCE_PROVENANCE: PDF p71/e1224 §4.2.8.9 recommendation 1
SOURCE_IDS: SOURCE_A
DECISION_NODE_IDS: DN_4_2_8_9_R01
COR/LOE: 1/B-R
THRESHOLD_TIMING_DOSE: 40 to 75 y
TERMINOLOGY: ASCVD
EVIDENCE_STATUS: SOURCE_LOCKED_AUDITED; AUDIT_STATUS: PASS
REVEAL_PART: N/A
TEACHING_RULE: Preserve all source qualifiers. Do not introduce outside clinical knowledge.
---
CASE_ID: DYS_CASE_104
ROLE: CASE_DECIDE
PROMPT: Consider an adult cancer survivors with life expectancy of at least 2 y who otherwise qualify for LLT. How should LLT be managed for this survivor?
FULL_EXPECTED_ANSWER: Adult cancer survivors with life expectancy of at least 2 y who otherwise qualify for LLT should be treated similarly to people without history of cancer to reduce the risk of ASCVD events.
SOURCE_PROVENANCE: PDF p72/e1225 §4.2.8.10 recommendation 1
SOURCE_IDS: SOURCE_A
DECISION_NODE_IDS: DN_4_2_8_10_R01
COR/LOE: 1/B-NR
THRESHOLD_TIMING_DOSE: 2 y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DYS_CASE_102
ROLE: SOURCE_REVEAL
PROMPT: Consider adults with CKD who require maintenance hemodialysis. What statin continuation decision applies?
FULL_EXPECTED_ANSWER: In adults with CKD who require maintenance hemodialysis, it may be reasonable to continue statin therapy to reduce the risk of ASCVD events. Treatment decisions should be individualized with consideration of expected survival, other comorbidities, and severity of ASCVD.
SOURCE_PROVENANCE: PDF p70/e1223 §4.2.8.8 recommendation 3
SOURCE_IDS: SOURCE_A
DECISION_NODE_IDS: DN_4_2_8_8_R03
COR/LOE: 2b/C-LD
THRESHOLD_TIMING_DOSE: N/A
TERMINOLOGY: ASCVD
EVIDENCE_STATUS: SOURCE_LOCKED_AUDITED; AUDIT_STATUS: PASS
REVEAL_PART: N/A
TEACHING_RULE: Preserve all source qualifiers. Do not introduce outside clinical knowledge.
---
CASE_ID: DYS_CASE_103
ROLE: SOURCE_REVEAL
PROMPT: Consider people living with HIV aged 40 to 75 y on stable combination antiretroviral therapy. What statin treatment decision applies?
FULL_EXPECTED_ANSWER: In people living with HIV aged 40 to 75 y on stable combination antiretroviral therapy, statin therapy is recommended to reduce risk of a first ASCVD event and reduce the rate of coronary atherosclerosis progression.
SOURCE_PROVENANCE: PDF p71/e1224 §4.2.8.9 recommendation 1
SOURCE_IDS: SOURCE_A
DECISION_NODE_IDS: DN_4_2_8_9_R01
COR/LOE: 1/B-R
THRESHOLD_TIMING_DOSE: 40 to 75 y
TERMINOLOGY: ASCVD
EVIDENCE_STATUS: SOURCE_LOCKED_AUDITED; AUDIT_STATUS: PASS
REVEAL_PART: N/A
TEACHING_RULE: Preserve all source qualifiers. Do not introduce outside clinical knowledge.
---
CASE_ID: DYS_CASE_104
ROLE: SOURCE_REVEAL
PROMPT: Consider an adult cancer survivors with life expectancy of at least 2 y who otherwise qualify for LLT. How should LLT be managed for this survivor?
FULL_EXPECTED_ANSWER: Adult cancer survivors with life expectancy of at least 2 y who otherwise qualify for LLT should be treated similarly to people without history of cancer to reduce the risk of ASCVD events.
SOURCE_PROVENANCE: PDF p72/e1225 §4.2.8.10 recommendation 1
SOURCE_IDS: SOURCE_A
DECISION_NODE_IDS: DN_4_2_8_10_R01
COR/LOE: 1/B-NR
THRESHOLD_TIMING_DOSE: 2 y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DYS_CASE_105
ROLE: CASE_DECIDE
PROMPT: An adult with active cancer is currently receiving statin therapy. Should statin therapy be continued, and what exceptions apply?
FULL_EXPECTED_ANSWER: In adults with active cancer currently on statin therapy, treatment should be continued to reduce ASCVD risk unless there is concern for a specific drug interaction or life expectancy is &lt;1 y.
SOURCE_PROVENANCE: PDF p72/e1225 §4.2.8.10 recommendation 2
SOURCE_IDS: SOURCE_A
DECISION_NODE_IDS: DN_4_2_8_10_R02
COR/LOE: 1/B-NR
THRESHOLD_TIMING_DOSE: &lt;1 y
TERMINOLOGY: pediatric
EVIDENCE_STATUS: SOURCE_LOCKED_AUDITED; AUDIT_STATUS: PASS
REVEAL_PART: N/A
TEACHING_RULE: Preserve all source qualifiers. Do not introduce outside clinical knowledge.
---
CASE_ID: DYS_CASE_106
ROLE: CASE_DECIDE
PROMPT: An adult with active cancer faces anthracycline-induced cardiotoxicity risk. What role, if any, does statin initiation have?
FULL_EXPECTED_ANSWER: In adults with active cancer, initiation of statin therapy may be considered to prevent anthracycline-induced cardiotoxicity.
SOURCE_PROVENANCE: PDF p72/e1225 §4.2.8.10 recommendation 3
SOURCE_IDS: SOURCE_A
DECISION_NODE_IDS: DN_4_2_8_10_R03
COR/LOE: 2b/B-R
THRESHOLD_TIMING_DOSE: N/A
TERMINOLOGY: pediatric
EVIDENCE_STATUS: SOURCE_LOCKED_AUDITED; AUDIT_STATUS: PASS
REVEAL_PART: N/A
TEACHING_RULE: Preserve all source qualifiers. Do not introduce outside clinical knowledge.
---
CASE_ID: DYS_CASE_152
ROLE: CASE_DECIDE
PROMPT: A child has a lipid panel. What cutpoints classify TC, LDL-C, non–HDL-C, TG, and HDL-C?
FULL_EXPECTED_ANSWER: Classify pediatric lipid values using the source cutpoints.
SOURCE_PROVENANCE: Table 18, PDF p63/e1216
SOURCE_IDS: SOURCE_A
DECISION_NODE_IDS: DN_T18_PEDIATRIC_LIPID_CUTPOINTS
COR/LOE: N/A
THRESHOLD_TIMING_DOSE: TC &lt;170/170–199/≥200; LDL &lt;110/110–129/≥130; non-HDL &lt;120/120–144/≥145; age-specific TG; HDL &gt;45/40–45/&lt;40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DYS_CASE_105
ROLE: SOURCE_REVEAL
PROMPT: An adult with active cancer is currently receiving statin therapy. Should statin therapy be continued, and what exceptions apply?
FULL_EXPECTED_ANSWER: In adults with active cancer currently on statin therapy, treatment should be continued to reduce ASCVD risk unless there is concern for a specific drug interaction or life expectancy is &lt;1 y.
SOURCE_PROVENANCE: PDF p72/e1225 §4.2.8.10 recommendation 2
SOURCE_IDS: SOURCE_A
DECISION_NODE_IDS: DN_4_2_8_10_R02
COR/LOE: 1/B-NR
THRESHOLD_TIMING_DOSE: &lt;1 y
TERMINOLOGY: pediatric
EVIDENCE_STATUS: SOURCE_LOCKED_AUDITED; AUDIT_STATUS: PASS
REVEAL_PART: N/A
TEACHING_RULE: Preserve all source qualifiers. Do not introduce outside clinical knowledge.
---
CASE_ID: DYS_CASE_106
ROLE: SOURCE_REVEAL
PROMPT: An adult with active cancer faces anthracycline-induced cardiotoxicity risk. What role, if any, does statin initiation have?
FULL_EXPECTED_ANSWER: In adults with active cancer, initiation of statin therapy may be considered to prevent anthracycline-induced cardiotoxicity.
SOURCE_PROVENANCE: PDF p72/e1225 §4.2.8.10 recommendation 3
SOURCE_IDS: SOURCE_A
DECISION_NODE_IDS: DN_4_2_8_10_R03
COR/LOE: 2b/B-R
THRESHOLD_TIMING_DOSE: N/A
TERMINOLOGY: pediatric
EVIDENCE_STATUS: SOURCE_LOCKED_AUDITED; AUDIT_STATUS: PASS
REVEAL_PART: N/A
TEACHING_RULE: Preserve all source qualifiers. Do not introduce outside clinical knowledge.
---
CASE_ID: DYS_CASE_152
ROLE: SOURCE_REVEAL
PROMPT: A child has a lipid panel. What cutpoints classify TC, LDL-C, non–HDL-C, TG, and HDL-C?
FULL_EXPECTED_ANSWER: Classify pediatric lipid values using the source cutpoints.
SOURCE_PROVENANCE: Table 18, PDF p63/e1216
SOURCE_IDS: SOURCE_A
DECISION_NODE_IDS: DN_T18_PEDIATRIC_LIPID_CUTPOINTS
COR/LOE: N/A
THRESHOLD_TIMING_DOSE: TC &lt;170/170–199/≥200; LDL &lt;110/110–129/≥130; non-HDL &lt;120/120–144/≥145; age-specific TG; HDL &gt;45/40–45/&lt;40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DYS_CASE_168
ROLE: CASE_DECIDE
PROMPT: A child has concerning family history, markedly elevated LDL-C, pathogenic FH variants, elevated Lp(a), or another high-risk condition. What LLT decision applies to age and LDL-C thresholds?
FULL_EXPECTED_ANSWER: In children, statins and other LLTs may be considered at younger ages (6 years) or at lower LDL-C cutpoints when there is concerning family history, extremely elevated LDL-C, pathogenic FH variants, elevated Lp(a), or other risk conditions such as diabetes, CKD, or childhood cancer treatment, in shared decision-making.
SOURCE_PROVENANCE: §4.2.8.1 supportive text, PDF p64/e1217
SOURCE_IDS: SOURCE_A
DECISION_NODE_IDS: DN_4_2_8_1_PED_EARLIER_LLT
COR/LOE: N/A
THRESHOLD_TIMING_DOSE: age 6 y may be considered in higher-risk context
TERMINOLOGY: pediatric
EVIDENCE_STATUS: SOURCE_LOCKED_AUDITED; AUDIT_STATUS: PASS
REVEAL_PART: N/A
TEACHING_RULE: Preserve all source qualifiers. Do not introduce outside clinical knowledge.
---
CASE_ID: DYS_CASE_169
ROLE: CASE_DECIDE
PROMPT: A child receiving lipid-lowering therapy needs an LDL-C treatment goal. How should LDL-C reduction and goal vary with additional risk factors?
FULL_EXPECTED_ANSWER: Pediatric lipid-lowering intensity should be tailored to clinical circumstances; the source states that ≥50% LDL-C reduction and LDL-C ≤130 mg/dL are generally advised, with LDL-C ≤100 mg/dL in patients with additional risk factors.
SOURCE_PROVENANCE: §4.2.8.1 supportive text, PDF p65/e1218
SOURCE_IDS: SOURCE_A
DECISION_NODE_IDS: DN_4_2_8_1_PED_TARGETS
COR/LOE: N/A
THRESHOLD_TIMING_DOSE: ≥50% reduction; LDL-C ≤130 mg/dL; ≤100 mg/dL with additional risk
TERMINOLOGY: pediatric
EVIDENCE_STATUS: SOURCE_LOCKED_AUDITED; AUDIT_STATUS: PASS
REVEAL_PART: N/A
TEACHING_RULE: Preserve all source qualifiers. Do not introduce outside clinical knowledge.
---
CASE_ID: DYS_CASE_170
ROLE: CASE_DECIDE
PROMPT: Consider an adult with chronic inflammatory disease. How should ASCVD risk be assessed in chronic inflammatory disease?
FULL_EXPECTED_ANSWER: Clinicians caring for adults with chronic inflammatory diseases should incorporate ASCVD risk assessment; standard risk calculators tend to underestimate risk in this population, while CID-specific calculators have not been shown to outperform standard calculators.
SOURCE_PROVENANCE: §4.2.8.7, PDF p70/e1223
SOURCE_IDS: SOURCE_A
DECISION_NODE_IDS: DN_4_2_8_7_CID_RISK_ASSESS
COR/LOE: N/A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DYS_CASE_168
ROLE: SOURCE_REVEAL
PROMPT: A child has concerning family history, markedly elevated LDL-C, pathogenic FH variants, elevated Lp(a), or another high-risk condition. What LLT decision applies to age and LDL-C thresholds?
FULL_EXPECTED_ANSWER: In children, statins and other LLTs may be considered at younger ages (6 years) or at lower LDL-C cutpoints when there is concerning family history, extremely elevated LDL-C, pathogenic FH variants, elevated Lp(a), or other risk conditions such as diabetes, CKD, or childhood cancer treatment, in shared decision-making.
SOURCE_PROVENANCE: §4.2.8.1 supportive text, PDF p64/e1217
SOURCE_IDS: SOURCE_A
DECISION_NODE_IDS: DN_4_2_8_1_PED_EARLIER_LLT
COR/LOE: N/A
THRESHOLD_TIMING_DOSE: age 6 y may be considered in higher-risk context
TERMINOLOGY: pediatric
EVIDENCE_STATUS: SOURCE_LOCKED_AUDITED; AUDIT_STATUS: PASS
REVEAL_PART: N/A
TEACHING_RULE: Preserve all source qualifiers. Do not introduce outside clinical knowledge.
---
CASE_ID: DYS_CASE_169
ROLE: SOURCE_REVEAL
PROMPT: A child receiving lipid-lowering therapy needs an LDL-C treatment goal. How should LDL-C reduction and goal vary with additional risk factors?
FULL_EXPECTED_ANSWER: Pediatric lipid-lowering intensity should be tailored to clinical circumstances; the source states that ≥50% LDL-C reduction and LDL-C ≤130 mg/dL are generally advised, with LDL-C ≤100 mg/dL in patients with additional risk factors.
SOURCE_PROVENANCE: §4.2.8.1 supportive text, PDF p65/e1218
SOURCE_IDS: SOURCE_A
DECISION_NODE_IDS: DN_4_2_8_1_PED_TARGETS
COR/LOE: N/A
THRESHOLD_TIMING_DOSE: ≥50% reduction; LDL-C ≤130 mg/dL; ≤100 mg/dL with additional risk
TERMINOLOGY: pediatric
EVIDENCE_STATUS: SOURCE_LOCKED_AUDITED; AUDIT_STATUS: PASS
REVEAL_PART: N/A
TEACHING_RULE: Preserve all source qualifiers. Do not introduce outside clinical knowledge.
---
CASE_ID: DYS_CASE_170
ROLE: SOURCE_REVEAL
PROMPT: Consider an adult with chronic inflammatory disease. How should ASCVD risk be assessed in chronic inflammatory disease?
FULL_EXPECTED_ANSWER: Clinicians caring for adults with chronic inflammatory diseases should incorporate ASCVD risk assessment; standard risk calculators tend to underestimate risk in this population, while CID-specific calculators have not been shown to outperform standard calculators.
SOURCE_PROVENANCE: §4.2.8.7, PDF p70/e1223
SOURCE_IDS: SOURCE_A
DECISION_NODE_IDS: DN_4_2_8_7_CID_RISK_ASSESS
COR/LOE: N/A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DYS_CASE_171
ROLE: CASE_DECIDE
PROMPT: An adult with chronic inflammatory disease is receiving anti-inflammatory therapy and the regimen changes. What lipid-monitoring decision applies?
FULL_EXPECTED_ANSWER: Lipid monitoring is recommended in adults with chronic inflammatory disease receiving anti-inflammatory therapy, especially after a change in therapy.
SOURCE_PROVENANCE: §4.2.8.7, PDF p70/e1223
SOURCE_IDS: SOURCE_A
DECISION_NODE_IDS: DN_4_2_8_7_CID_LIPID_MONITOR
COR/LOE: N/A
THRESHOLD_TIMING_DOSE: after change in anti-inflammatory therapy
TERMINOLOGY: chronic inflammatory disease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DYS_CASE_171
ROLE: SOURCE_REVEAL
PROMPT: An adult with chronic inflammatory disease is receiving anti-inflammatory therapy and the regimen changes. What lipid-monitoring decision applies?
FULL_EXPECTED_ANSWER: Lipid monitoring is recommended in adults with chronic inflammatory disease receiving anti-inflammatory therapy, especially after a change in therapy.
SOURCE_PROVENANCE: §4.2.8.7, PDF p70/e1223
SOURCE_IDS: SOURCE_A
DECISION_NODE_IDS: DN_4_2_8_7_CID_LIPID_MONITOR
COR/LOE: N/A
THRESHOLD_TIMING_DOSE: after change in anti-inflammatory therapy
TERMINOLOGY: chronic inflammatory disease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DYS_CASE_107
ROLE: CASE_DECIDE
PROMPT: An adult has persistently elevated TG ≥150 mg/dL (1.7 mmol/L) after evaluation and management of secondary causes. Which lifestyle measures and treatment role apply to reduce TG?
FULL_EXPECTED_ANSWER: In adults with persistently elevated TG levels ≥150 mg/dL (1.7 mmol/L), after evaluation and management of secondary causes, lifestyle management (consuming a diet that consists of low added sugars, as well as reduced alcohol and saturated fat intake, routine exercise, and weight loss of 5%-10% of body weight if overweight or obese) is recommended as a first-line approach to reduce TG levels (Figure 2).
SOURCE_PROVENANCE: PDF p74/e1227 §4.2.9 recommendation 1
SOURCE_IDS: SOURCE_A
DECISION_NODE_IDS: DN_4_2_9_R01
COR/LOE: 1/B-NR
THRESHOLD_TIMING_DOSE: ≥150 mg/dL; 1.7 mmol/L; 5%-10%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DYS_CASE_107
ROLE: SOURCE_REVEAL
PROMPT: An adult has persistently elevated TG ≥150 mg/dL (1.7 mmol/L) after evaluation and management of secondary causes. Which lifestyle measures and treatment role apply to reduce TG?
FULL_EXPECTED_ANSWER: In adults with persistently elevated TG levels ≥150 mg/dL (1.7 mmol/L), after evaluation and management of secondary causes, lifestyle management (consuming a diet that consists of low added sugars, as well as reduced alcohol and saturated fat intake, routine exercise, and weight loss of 5%-10% of body weight if overweight or obese) is recommended as a first-line approach to reduce TG levels (Figure 2).
SOURCE_PROVENANCE: PDF p74/e1227 §4.2.9 recommendation 1
SOURCE_IDS: SOURCE_A
DECISION_NODE_IDS: DN_4_2_9_R01
COR/LOE: 1/B-NR
THRESHOLD_TIMING_DOSE: ≥150 mg/dL; 1.7 mmol/L; 5%-10%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DYS_CASE_108
ROLE: CASE_DECIDE
PROMPT: Consider adults with clinical ASCVD and LDL-C ≥55 mg/dL (1.4 mmol/L) and non–HDL-C ≥85 mg/dL on maximally tolerated statin with persistently elevated TG levels ≥150 to 999 mg/dL (1.7–11.3 mmol/L). Which lipid-lowering priority applies?
FULL_EXPECTED_ANSWER: In adults with clinical ASCVD and LDL-C ≥55 mg/dL (1.4 mmol/L) and non–HDL-C ≥85 mg/dL on maximally tolerated statin with persistently elevated TG levels ≥150 to 999 mg/dL (1.7–11.3 mmol/L), intensification of LDL-C–lowering therapy is recommended to reduce ASCVD risk.
SOURCE_PROVENANCE: PDF p75/e1228 §4.2.9 recommendation 2
SOURCE_IDS: SOURCE_A
DECISION_NODE_IDS: DN_4_2_9_R02
COR/LOE: 1/B-R
THRESHOLD_TIMING_DOSE: ≥55 mg/dL; 1.4 mmol/L; ≥85 mg; ≥150 to 999 mg/dL; 1.7–11.3 mmol/L
TERMINOLOGY: hypertriglyceridemia
EVIDENCE_STATUS: SOURCE_LOCKED_AUDITED; AUDIT_STATUS: PASS
REVEAL_PART: N/A
TEACHING_RULE: Preserve all source qualifiers. Do not introduce outside clinical knowledge.
---
CASE_ID: DYS_CASE_110
ROLE: CASE_DECIDE
PROMPT: Adults ≥50 y of age with clinical ASCVD or with diabetes and ≥1 ASCVD risk factors, with persistently elevated TG levels ≥150 to 499 mg/dL (1.7–5.6 mmol/L), and LDL-C &lt;100 mg/dL (2.6 mmol/L) on maximally tolerated statin. What additional therapy, if any, addresses ASCVD risk?
FULL_EXPECTED_ANSWER: In adults ≥50 y of age with clinical ASCVD or with diabetes and ≥1 ASCVD risk factors, with persistently elevated TG levels ≥150 to 499 mg/dL (1.7–5.6 mmol/L), and LDL-C &lt;100 mg/dL (2.6 mmol/L) on maximally tolerated statin, the addition of IPE may be reasonable to lower ASCVD risk. (See Figure 9 in Section 4.2.5, “Diabetes in Adults Without Established ASCVD.”)9,10
SOURCE_PROVENANCE: PDF p75/e1228 §4.2.9 recommendation 4
SOURCE_IDS: SOURCE_A
DECISION_NODE_IDS: DN_4_2_9_R04
COR/LOE: 2b/B-R
THRESHOLD_TIMING_DOSE: ≥50 y; ≥150 to 499 mg/dL; 1.7–5.6 mmol/L; &lt;100 mg/dL; 2.6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DYS_CASE_108
ROLE: SOURCE_REVEAL
PROMPT: Consider adults with clinical ASCVD and LDL-C ≥55 mg/dL (1.4 mmol/L) and non–HDL-C ≥85 mg/dL on maximally tolerated statin with persistently elevated TG levels ≥150 to 999 mg/dL (1.7–11.3 mmol/L). Which lipid-lowering priority applies?
FULL_EXPECTED_ANSWER: In adults with clinical ASCVD and LDL-C ≥55 mg/dL (1.4 mmol/L) and non–HDL-C ≥85 mg/dL on maximally tolerated statin with persistently elevated TG levels ≥150 to 999 mg/dL (1.7–11.3 mmol/L), intensification of LDL-C–lowering therapy is recommended to reduce ASCVD risk.
SOURCE_PROVENANCE: PDF p75/e1228 §4.2.9 recommendation 2
SOURCE_IDS: SOURCE_A
DECISION_NODE_IDS: DN_4_2_9_R02
COR/LOE: 1/B-R
THRESHOLD_TIMING_DOSE: ≥55 mg/dL; 1.4 mmol/L; ≥85 mg; ≥150 to 999 mg/dL; 1.7–11.3 mmol/L
TERMINOLOGY: hypertriglyceridemia
EVIDENCE_STATUS: SOURCE_LOCKED_AUDITED; AUDIT_STATUS: PASS
REVEAL_PART: N/A
TEACHING_RULE: Preserve all source qualifiers. Do not introduce outside clinical knowledge.
---
CASE_ID: DYS_CASE_110
ROLE: SOURCE_REVEAL
PROMPT: Adults ≥50 y of age with clinical ASCVD or with diabetes and ≥1 ASCVD risk factors, with persistently elevated TG levels ≥150 to 499 mg/dL (1.7–5.6 mmol/L), and LDL-C &lt;100 mg/dL (2.6 mmol/L) on maximally tolerated statin. What additional therapy, if any, addresses ASCVD risk?
FULL_EXPECTED_ANSWER: In adults ≥50 y of age with clinical ASCVD or with diabetes and ≥1 ASCVD risk factors, with persistently elevated TG levels ≥150 to 499 mg/dL (1.7–5.6 mmol/L), and LDL-C &lt;100 mg/dL (2.6 mmol/L) on maximally tolerated statin, the addition of IPE may be reasonable to lower ASCVD risk. (See Figure 9 in Section 4.2.5, “Diabetes in Adults Without Established ASCVD.”)9,10
SOURCE_PROVENANCE: PDF p75/e1228 §4.2.9 recommendation 4
SOURCE_IDS: SOURCE_A
DECISION_NODE_IDS: DN_4_2_9_R04
COR/LOE: 2b/B-R
THRESHOLD_TIMING_DOSE: ≥50 y; ≥150 to 499 mg/dL; 1.7–5.6 mmol/L; &lt;100 mg/dL; 2.6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DYS_CASE_111
ROLE: CASE_DECIDE
PROMPT: Consider adults aged 40 to 75 y without a history of ASCVD or diabetes who have persistently elevated TG levels ≥150 to 499 mg/dL (≥1.7–5.6 mmol/L). What ASCVD risk assessment should guide therapy?
FULL_EXPECTED_ANSWER: In adults aged 40 to 75 y without a history of ASCVD or diabetes who have persistently elevated TG levels ≥150 to 499 mg/dL (≥1.7–5.6 mmol/L), it is recommended to estimate 10-y ASCVD risk by the PREVENT-ASCVD equations to guide the benefit-risk discussion regarding further optimization of diet and lifestyle management as well as the potential initiation of statin therapy to reduce ASCVD risk (Figure 16).
SOURCE_PROVENANCE: PDF p75/e1228 §4.2.9 recommendation 5
SOURCE_IDS: SOURCE_A
DECISION_NODE_IDS: DN_4_2_9_R05
COR/LOE: 1/A
THRESHOLD_TIMING_DOSE: 40 to 75 y; ≥150 to 499 mg/dL; ≥1.7–5.6 mmol/L
TERMINOLOGY: hypertriglyceridemia
EVIDENCE_STATUS: SOURCE_LOCKED_AUDITED; AUDIT_STATUS: PASS
REVEAL_PART: N/A
TEACHING_RULE: Preserve all source qualifiers. Do not introduce outside clinical knowledge.
---
CASE_ID: DYS_CASE_112
ROLE: CASE_DECIDE
PROMPT: An adult has persistent TG ≥500–999 mg/dL (5.7 mmol/L), especially TG ≥1000 mg/dL (11.3 mmol/L), despite dietary intervention. What medication options, if any, are supported to lower TG and pancreatitis risk?
FULL_EXPECTED_ANSWER: In adults with severe hypertriglyceridemia (persistently elevated TG levels ≥500–999 mg/dL [5.7 mmol/L]) and especially with TG levels ≥1000 mg/dL (11.3 mmol/L) despite dietary intervention, the use of fibric acid derivatives or prescription omega-3 fatty acids is reasonable to lower TG levels and reduce the risk of pancreatitis (Figure 17).
SOURCE_PROVENANCE: PDF p75/e1228 §4.2.9 recommendation 6
SOURCE_IDS: SOURCE_A
DECISION_NODE_IDS: DN_4_2_9_R06
COR/LOE: 2a/B-NR
THRESHOLD_TIMING_DOSE: ≥500–999 mg; 5.7 mmol/L; ≥1000 mg/dL; 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DYS_CASE_111
ROLE: SOURCE_REVEAL
PROMPT: Consider adults aged 40 to 75 y without a history of ASCVD or diabetes who have persistently elevated TG levels ≥150 to 499 mg/dL (≥1.7–5.6 mmol/L). What ASCVD risk assessment should guide therapy?
FULL_EXPECTED_ANSWER: In adults aged 40 to 75 y without a history of ASCVD or diabetes who have persistently elevated TG levels ≥150 to 499 mg/dL (≥1.7–5.6 mmol/L), it is recommended to estimate 10-y ASCVD risk by the PREVENT-ASCVD equations to guide the benefit-risk discussion regarding further optimization of diet and lifestyle management as well as the potential initiation of statin therapy to reduce ASCVD risk (Figure 16).
SOURCE_PROVENANCE: PDF p75/e1228 §4.2.9 recommendation 5
SOURCE_IDS: SOURCE_A
DECISION_NODE_IDS: DN_4_2_9_R05
COR/LOE: 1/A
THRESHOLD_TIMING_DOSE: 40 to 75 y; ≥150 to 499 mg/dL; ≥1.7–5.6 mmol/L
TERMINOLOGY: hypertriglyceridemia
EVIDENCE_STATUS: SOURCE_LOCKED_AUDITED; AUDIT_STATUS: PASS
REVEAL_PART: N/A
TEACHING_RULE: Preserve all source qualifiers. Do not introduce outside clinical knowledge.
---
CASE_ID: DYS_CASE_112
ROLE: SOURCE_REVEAL
PROMPT: An adult has persistent TG ≥500–999 mg/dL (5.7 mmol/L), especially TG ≥1000 mg/dL (11.3 mmol/L), despite dietary intervention. What medication options, if any, are supported to lower TG and pancreatitis risk?
FULL_EXPECTED_ANSWER: In adults with severe hypertriglyceridemia (persistently elevated TG levels ≥500–999 mg/dL [5.7 mmol/L]) and especially with TG levels ≥1000 mg/dL (11.3 mmol/L) despite dietary intervention, the use of fibric acid derivatives or prescription omega-3 fatty acids is reasonable to lower TG levels and reduce the risk of pancreatitis (Figure 17).
SOURCE_PROVENANCE: PDF p75/e1228 §4.2.9 recommendation 6
SOURCE_IDS: SOURCE_A
DECISION_NODE_IDS: DN_4_2_9_R06
COR/LOE: 2a/B-NR
THRESHOLD_TIMING_DOSE: ≥500–999 mg; 5.7 mmol/L; ≥1000 mg/dL; 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DYS_CASE_113
ROLE: CASE_DECIDE
PROMPT: An adult has hypertriglyceridemia (TG ≥150 mg/dL). Which marker should guide clinical decision-making: non–HDL-C or apoB, or LDL-C?
FULL_EXPECTED_ANSWER: In adults with hypertriglyceridemia (TG ≥150 mg/dL), measurement of non–HDL-C or apoB is preferred over LDL-C to guide clinical decision-making.
SOURCE_PROVENANCE: PDF p75/e1228 §4.2.9 recommendation 7
SOURCE_IDS: SOURCE_A
DECISION_NODE_IDS: DN_4_2_9_R07
COR/LOE: 2a/B-NR
THRESHOLD_TIMING_DOSE: ≥150 mg/dL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DYS_CASE_113
ROLE: SOURCE_REVEAL
PROMPT: An adult has hypertriglyceridemia (TG ≥150 mg/dL). Which marker should guide clinical decision-making: non–HDL-C or apoB, or LDL-C?
FULL_EXPECTED_ANSWER: In adults with hypertriglyceridemia (TG ≥150 mg/dL), measurement of non–HDL-C or apoB is preferred over LDL-C to guide clinical decision-making.
SOURCE_PROVENANCE: PDF p75/e1228 §4.2.9 recommendation 7
SOURCE_IDS: SOURCE_A
DECISION_NODE_IDS: DN_4_2_9_R07
COR/LOE: 2a/B-NR
THRESHOLD_TIMING_DOSE: ≥150 mg/dL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DYS_CASE_163
ROLE: CASE_DECIDE
PROMPT: A patient has familial chylomicronemia syndrome; another patient has hypertriglyceridemia outside FCS. What total-fat and RDN guidance applies in each situation?
FULL_EXPECTED_ANSWER: For FCS, limitation of total fat to 10%-15% of total daily intake with guidance from an RDN is essential; outside FCS, individualized total-fat limitation under RDN guidance can be beneficial because response varies.
SOURCE_PROVENANCE: Figure 2 footnotes, PDF p19/e1172
SOURCE_IDS: SOURCE_A
DECISION_NODE_IDS: DN_4_1_2_2_FCS_FAT_LIMIT
COR/LOE: N/A
THRESHOLD_TIMING_DOSE: total fat 10%-15% in FCS
TERMINOLOGY: FCS
EVIDENCE_STATUS: SOURCE_LOCKED_AUDITED; AUDIT_STATUS: PASS
REVEAL_PART: N/A
TEACHING_RULE: Preserve all source qualifiers. Do not introduce outside clinical knowledge.
---
CASE_ID: DYS_CASE_164
ROLE: CASE_DECIDE
PROMPT: A patient has hypertriglyceridemia. In which Figure 2 situations is RDN and/or lipid-specialist referral advised or required?
FULL_EXPECTED_ANSWER: Figure 2 identifies circumstances where referral to an RDN/lipid specialist is advised or RDN referral is necessary within hypertriglyceridemia management.
SOURCE_PROVENANCE: Figure 2 footnotes, PDF p19/e1172
SOURCE_IDS: SOURCE_A
DECISION_NODE_IDS: DN_4_1_2_2_RDN_FIG2
COR/LOE: N/A
THRESHOLD_TIMING_DOSE: N/A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DYS_CASE_163
ROLE: SOURCE_REVEAL
PROMPT: A patient has familial chylomicronemia syndrome; another patient has hypertriglyceridemia outside FCS. What total-fat and RDN guidance applies in each situation?
FULL_EXPECTED_ANSWER: For FCS, limitation of total fat to 10%-15% of total daily intake with guidance from an RDN is essential; outside FCS, individualized total-fat limitation under RDN guidance can be beneficial because response varies.
SOURCE_PROVENANCE: Figure 2 footnotes, PDF p19/e1172
SOURCE_IDS: SOURCE_A
DECISION_NODE_IDS: DN_4_1_2_2_FCS_FAT_LIMIT
COR/LOE: N/A
THRESHOLD_TIMING_DOSE: total fat 10%-15% in FCS
TERMINOLOGY: FCS
EVIDENCE_STATUS: SOURCE_LOCKED_AUDITED; AUDIT_STATUS: PASS
REVEAL_PART: N/A
TEACHING_RULE: Preserve all source qualifiers. Do not introduce outside clinical knowledge.
---
CASE_ID: DYS_CASE_164
ROLE: SOURCE_REVEAL
PROMPT: A patient has hypertriglyceridemia. In which Figure 2 situations is RDN and/or lipid-specialist referral advised or required?
FULL_EXPECTED_ANSWER: Figure 2 identifies circumstances where referral to an RDN/lipid specialist is advised or RDN referral is necessary within hypertriglyceridemia management.
SOURCE_PROVENANCE: Figure 2 footnotes, PDF p19/e1172
SOURCE_IDS: SOURCE_A
DECISION_NODE_IDS: DN_4_1_2_2_RDN_FIG2
COR/LOE: N/A
THRESHOLD_TIMING_DOSE: N/A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DYS_CASE_114
ROLE: CASE_DECIDE
PROMPT: Consider all individuals with elevated Lp(a) (≥125 nmol/L or ≥50 mg/dL). How should modifiable risk factors be managed?
FULL_EXPECTED_ANSWER: In all individuals with elevated Lp(a) (≥125 nmol/L or ≥50 mg/dL), optimal early control of modifiable cardiovascular risk factors is recommended to reduce ASCVD risk.
SOURCE_PROVENANCE: PDF p81/e1234 §4.2.10 recommendation 1
SOURCE_IDS: SOURCE_A
DECISION_NODE_IDS: DN_4_2_10_R01
COR/LOE: 1/B-NR
THRESHOLD_TIMING_DOSE: ≥125 nmol/L; ≥50 mg/dL
TERMINOLOGY: ASCVD
EVIDENCE_STATUS: SOURCE_LOCKED_AUDITED; AUDIT_STATUS: PASS
REVEAL_PART: N/A
TEACHING_RULE: Preserve all source qualifiers. Do not introduce outside clinical knowledge.
---
CASE_ID: DYS_CASE_115
ROLE: CASE_DECIDE
PROMPT: Individuals with clinical ASCVD and elevated Lp(a) who have not achieved LDL-C and non– HDL-C treatment goals on maximally tolerated statin therapy. What additional LDL-C-lowering therapy is supported?
FULL_EXPECTED_ANSWER: In individuals with clinical ASCVD and elevated Lp(a) who have not achieved LDL-C and non– HDL-C treatment goals on maximally tolerated statin therapy, the addition of a PCSK9 mAb with proven cardiovascular benefit is recommended to achieve treatment goals and reduce ASCVD risk.
SOURCE_PROVENANCE: PDF p81/e1234 §4.2.10 recommendation 2
SOURCE_IDS: SOURCE_A
DECISION_NODE_IDS: DN_4_2_10_R02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DYS_CASE_114
ROLE: SOURCE_REVEAL
PROMPT: Consider all individuals with elevated Lp(a) (≥125 nmol/L or ≥50 mg/dL). How should modifiable risk factors be managed?
FULL_EXPECTED_ANSWER: In all individuals with elevated Lp(a) (≥125 nmol/L or ≥50 mg/dL), optimal early control of modifiable cardiovascular risk factors is recommended to reduce ASCVD risk.
SOURCE_PROVENANCE: PDF p81/e1234 §4.2.10 recommendation 1
SOURCE_IDS: SOURCE_A
DECISION_NODE_IDS: DN_4_2_10_R01
COR/LOE: 1/B-NR
THRESHOLD_TIMING_DOSE: ≥125 nmol/L; ≥50 mg/dL
TERMINOLOGY: ASCVD
EVIDENCE_STATUS: SOURCE_LOCKED_AUDITED; AUDIT_STATUS: PASS
REVEAL_PART: N/A
TEACHING_RULE: Preserve all source qualifiers. Do not introduce outside clinical knowledge.
---
CASE_ID: DYS_CASE_115
ROLE: SOURCE_REVEAL
PROMPT: Individuals with clinical ASCVD and elevated Lp(a) who have not achieved LDL-C and non– HDL-C treatment goals on maximally tolerated statin therapy. What additional LDL-C-lowering therapy is supported?
FULL_EXPECTED_ANSWER: In individuals with clinical ASCVD and elevated Lp(a) who have not achieved LDL-C and non– HDL-C treatment goals on maximally tolerated statin therapy, the addition of a PCSK9 mAb with proven cardiovascular benefit is recommended to achieve treatment goals and reduce ASCVD risk.
SOURCE_PROVENANCE: PDF p81/e1234 §4.2.10 recommendation 2
SOURCE_IDS: SOURCE_A
DECISION_NODE_IDS: DN_4_2_10_R02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DYS_CASE_116
ROLE: CASE_DECIDE
PROMPT: One adult taking a statin has no severe muscle symptoms; another has statin-attributed muscle symptoms with severe myalgias or weakness. When and how should CK and muscle strength be assessed?
FULL_EXPECTED_ANSWER: In adults on statin therapy who do not have severe statin-attributed muscle symptoms, routine measurement of CK is not useful to assess safety. || In adults with statin-attributed muscle symptoms, assessment should include evaluation for secondary causes (Table 24), and in those with severe myalgias or weakness, objective clinical measures of muscle strength and measurement of CK are recommended to assess severity of the condition.
SOURCE_PROVENANCE: PDF p85/e1238 §5.1 recommendation 5; PDF p82/e1235 §4.2.11 recommendation 1
SOURCE_IDS: SOURCE_A
DECISION_NODE_IDS: DN_5_1_R05;DN_4_2_11_R01
COR/LOE: 3: No Benefit/A; 1/C-LD
THRESHOLD_TIMING_DOSE: N/A
TERMINOLOGY: 5.1 / 4.2.11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DYS_CASE_116
ROLE: SOURCE_REVEAL
PROMPT: One adult taking a statin has no severe muscle symptoms; another has statin-attributed muscle symptoms with severe myalgias or weakness. When and how should CK and muscle strength be assessed?
FULL_EXPECTED_ANSWER: In adults on statin therapy who do not have severe statin-attributed muscle symptoms, routine measurement of CK is not useful to assess safety. || In adults with statin-attributed muscle symptoms, assessment should include evaluation for secondary causes (Table 24), and in those with severe myalgias or weakness, objective clinical measures of muscle strength and measurement of CK are recommended to assess severity of the condition.
SOURCE_PROVENANCE: PDF p85/e1238 §5.1 recommendation 5; PDF p82/e1235 §4.2.11 recommendation 1
SOURCE_IDS: SOURCE_A
DECISION_NODE_IDS: DN_5_1_R05;DN_4_2_11_R01
COR/LOE: 3: No Benefit/A; 1/C-LD
THRESHOLD_TIMING_DOSE: N/A
TERMINOLOGY: 5.1 / 4.2.11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DYS_CASE_116
ROLE: SOURCE_REVEAL
PROMPT: One adult taking a statin has no severe muscle symptoms; another has statin-attributed muscle symptoms with severe myalgias or weakness. When and how should CK and muscle strength be assessed?
FULL_EXPECTED_ANSWER: In adults on statin therapy who do not have severe statin-attributed muscle symptoms, routine measurement of CK is not useful to assess safety. || In adults with statin-attributed muscle symptoms, assessment should include evaluation for secondary causes (Table 24), and in those with severe myalgias or weakness, objective clinical measures of muscle strength and measurement of CK are recommended to assess severity of the condition.
SOURCE_PROVENANCE: PDF p85/e1238 §5.1 recommendation 5; PDF p82/e1235 §4.2.11 recommendation 1
SOURCE_IDS: SOURCE_A
DECISION_NODE_IDS: DN_5_1_R05;DN_4_2_11_R01
COR/LOE: 3: No Benefit/A; 1/C-LD
THRESHOLD_TIMING_DOSE: N/A
TERMINOLOGY: 5.1 / 4.2.11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DYS_CASE_117
ROLE: CASE_DECIDE
PROMPT: Consider an adult with statin-attributed muscle symptoms. What should the clinician–patient discussion cover?
FULL_EXPECTED_ANSWER: In adults with statin-attributed muscle symptoms, the clinician–patient discussion should acknowledge patient side effect concerns, inform the patient of the heightened ASCVD risk associated with statin discontinuation, and provide alternative treatment options to reduce ASCVD risk.
SOURCE_PROVENANCE: PDF p82/e1235 §4.2.11 recommendation 2
SOURCE_IDS: SOURCE_A
DECISION_NODE_IDS: DN_4_2_11_R02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DYS_CASE_117
ROLE: SOURCE_REVEAL
PROMPT: Consider an adult with statin-attributed muscle symptoms. What should the clinician–patient discussion cover?
FULL_EXPECTED_ANSWER: In adults with statin-attributed muscle symptoms, the clinician–patient discussion should acknowledge patient side effect concerns, inform the patient of the heightened ASCVD risk associated with statin discontinuation, and provide alternative treatment options to reduce ASCVD risk.
SOURCE_PROVENANCE: PDF p82/e1235 §4.2.11 recommendation 2
SOURCE_IDS: SOURCE_A
DECISION_NODE_IDS: DN_4_2_11_R02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DYS_CASE_118
ROLE: CASE_DECIDE
PROMPT: An adult with clinical ASCVD has statin-attributed muscle symptoms on the recommended statin intensity, with secondary causes excluded, and cannot achieve treatment goals. What statin-dose adjustment and additional treatment options are recommended?
FULL_EXPECTED_ANSWER: In adults with clinical ASCVD who experience statin-attributed muscle symptoms on the recommended intensity of statin therapy (secondary causes excluded) and are unable to achieve recommended treatment goals, use of a reduced statin dose (if tolerable) and the addition of bempedoic acid, ezetimibe, or a PCSK9 mAb, alone or in combination, are recommended to lower LDL-C and reduce ASCVD risk.
SOURCE_PROVENANCE: PDF p82/e1235 §4.2.11 recommendation 3
SOURCE_IDS: SOURCE_A
DECISION_NODE_IDS: DN_4_2_11_R03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DYS_CASE_118
ROLE: SOURCE_REVEAL
PROMPT: An adult with clinical ASCVD has statin-attributed muscle symptoms on the recommended statin intensity, with secondary causes excluded, and cannot achieve treatment goals. What statin-dose adjustment and additional treatment options are recommended?
FULL_EXPECTED_ANSWER: In adults with clinical ASCVD who experience statin-attributed muscle symptoms on the recommended intensity of statin therapy (secondary causes excluded) and are unable to achieve recommended treatment goals, use of a reduced statin dose (if tolerable) and the addition of bempedoic acid, ezetimibe, or a PCSK9 mAb, alone or in combination, are recommended to lower LDL-C and reduce ASCVD risk.
SOURCE_PROVENANCE: PDF p82/e1235 §4.2.11 recommendation 3
SOURCE_IDS: SOURCE_A
DECISION_NODE_IDS: DN_4_2_11_R03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DYS_CASE_119
ROLE: CASE_DECIDE
PROMPT: Consider an adult without clinical ASCVD who has statin-attributed muscle symptoms on the recommended statin intensity (secondary causes excluded) and high ASCVD risk by PREVENT-ASCVD ≥10%, CAC ≥300 AU, or diabetes with age &gt;65 y in women or &gt;60 y in men. What LDL-C-lowering treatment goal applies?
FULL_EXPECTED_ANSWER: In adults without a history of clinical ASCVD who experience statin-attributed muscle symptoms on the recommended intensity of statin therapy (secondary causes excluded) and are at high ASCVD risk based on the PREVENT-ASCVD equations of ≥10% or a CAC score ≥300 AU, or women &gt;65 y of age or men &gt;60 y of age with diabetes, the addition of bempedoic acid and/ or ezetimibe is/are indicated to lower LDL-C to &lt;70 mg/dL (1.8 mmol/L) and non–HDL-C &lt;100 mg/dL (2.6 mmol/L) and to reduce ASCVD risk.
SOURCE_PROVENANCE: PDF p82/e1235 §4.2.11 recommendation 4
SOURCE_IDS: SOURCE_A
DECISION_NODE_IDS: DN_4_2_11_R04
COR/LOE: 1/B-R
THRESHOLD_TIMING_DOSE: ≥10%; ≥300 AU; &gt;65 y; &gt;60 y;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DYS_CASE_119
ROLE: SOURCE_REVEAL
PROMPT: Consider an adult without clinical ASCVD who has statin-attributed muscle symptoms on the recommended statin intensity (secondary causes excluded) and high ASCVD risk by PREVENT-ASCVD ≥10%, CAC ≥300 AU, or diabetes with age &gt;65 y in women or &gt;60 y in men. What LDL-C-lowering treatment goal applies?
FULL_EXPECTED_ANSWER: In adults without a history of clinical ASCVD who experience statin-attributed muscle symptoms on the recommended intensity of statin therapy (secondary causes excluded) and are at high ASCVD risk based on the PREVENT-ASCVD equations of ≥10% or a CAC score ≥300 AU, or women &gt;65 y of age or men &gt;60 y of age with diabetes, the addition of bempedoic acid and/ or ezetimibe is/are indicated to lower LDL-C to &lt;70 mg/dL (1.8 mmol/L) and non–HDL-C &lt;100 mg/dL (2.6 mmol/L) and to reduce ASCVD risk.
SOURCE_PROVENANCE: PDF p82/e1235 §4.2.11 recommendation 4
SOURCE_IDS: SOURCE_A
DECISION_NODE_IDS: DN_4_2_11_R04
COR/LOE: 1/B-R
THRESHOLD_TIMING_DOSE: ≥10%; ≥300 AU; &gt;65 y; &gt;60 y; &lt;70 mg/dL; 1.8 mmol/L; &lt;100 mg/dL; 2.6 mmol/L
TERMINOLOGY: ASCVD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DYS_CASE_119
ROLE: SOURCE_REVEAL
PROMPT: Consider an adult without clinical ASCVD who has statin-attributed muscle symptoms on the recommended statin intensity (secondary causes excluded) and high ASCVD risk by PREVENT-ASCVD ≥10%, CAC ≥300 AU, or diabetes with age &gt;65 y in women or &gt;60 y in men. What LDL-C-lowering treatment goal applies?
FULL_EXPECTED_ANSWER: In adults without a history of clinical ASCVD who experience statin-attributed muscle symptoms on the recommended intensity of statin therapy (secondary causes excluded) and are at high ASCVD risk based on the PREVENT-ASCVD equations of ≥10% or a CAC score ≥300 AU, or women &gt;65 y of age or men &gt;60 y of age with diabetes, the addition of bempedoic acid and/ or ezetimibe is/are indicated to lower LDL-C to &lt;70 mg/dL (1.8 mmol/L) and non–HDL-C &lt;100 mg/dL (2.6 mmol/L) and to reduce ASCVD risk.
SOURCE_PROVENANCE: PDF p82/e1235 §4.2.11 recommendation 4
SOURCE_IDS: SOURCE_A
DECISION_NODE_IDS: DN_4_2_11_R04
COR/LOE: 1/B-R
THRESHOLD_TIMING_DOSE: ≥10%; ≥300 AU; &gt;65 y; &gt;60 y; &lt;70 mg/dL; 1.8 mmol/L; &lt;100 mg/dL; 2.6 mmol/L
TERMINOLOGY: ASCVD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DYS_CASE_120
ROLE: CASE_DECIDE
PROMPT: 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What LDL-C-lowering option, if any, applies?
FULL_EXPECTED_ANSWER: In 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the addition of a PCSK9 mAb is recommended to lower LDL-C.
SOURCE_PROVENANCE: PDF p82/e1235 §4.2.11 recommendation 5
SOURCE_IDS: SOURCE_A
DECISION_NODE_IDS: DN_4_2_11_R05
COR/LOE: 1/B-R
THRESHOLD_TIMING_DOSE: ≥10%; ≥300 AU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DYS_CASE_120
ROLE: SOURCE_REVEAL
PROMPT: 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What LDL-C-lowering option, if any, applies?
FULL_EXPECTED_ANSWER: In 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the addition of a PCSK9 mAb is recommended to lower LDL-C.
SOURCE_PROVENANCE: PDF p82/e1235 §4.2.11 recommendation 5
SOURCE_IDS: SOURCE_A
DECISION_NODE_IDS: DN_4_2_11_R05
COR/LOE: 1/B-R
THRESHOLD_TIMING_DOSE: ≥10%; ≥300 AU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DYS_CASE_121
ROLE: CASE_DECIDE
PROMPT: Consider adults with clinical ASCVD who experience statin-attributed muscle symptoms (secondary causes excluded) and are unable to achieve recommended treatment goals on bempedoic acid with or without ezetimibe. What further LLT option, if any, applies?
FULL_EXPECTED_ANSWER: In adults with clinical ASCVD who experience statin-attributed muscle symptoms (secondary causes excluded) and are unable to achieve recommended treatment goals on bempedoic acid with or without ezetimibe, it is reasonable to add inclisiran in those unable to tolerate or obtain evolocumab or alirocumab or who have a strong preference for less frequent dosing to achieve an LDL-C goal &lt;55 mg/dL (1.4 mmol/L) and non–HDL-C &lt;85 mg/dL (2.2 mmol/L).
SOURCE_PROVENANCE: PDF p82/e1235 §4.2.11 recommendation 6
SOURCE_IDS: SOURCE_A
DECISION_NODE_IDS: DN_4_2_11_R06
COR/LOE: 2a/B-NR
THRESHOLD_TIMING_DOSE: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DYS_CASE_121
ROLE: SOURCE_REVEAL
PROMPT: Consider adults with clinical ASCVD who experience statin-attributed muscle symptoms (secondary causes excluded) and are unable to achieve recommended treatment goals on bempedoic acid with or without ezetimibe. What further LLT option, if any, applies?
FULL_EXPECTED_ANSWER: In adults with clinical ASCVD who experience statin-attributed muscle symptoms (secondary causes excluded) and are unable to achieve recommended treatment goals on bempedoic acid with or without ezetimibe, it is reasonable to add inclisiran in those unable to tolerate or obtain evolocumab or alirocumab or who have a strong preference for less frequent dosing to achieve an LDL-C goal &lt;55 mg/dL (1.4 mmol/L) and non–HDL-C &lt;85 mg/dL (2.2 mmol/L).
SOURCE_PROVENANCE: PDF p82/e1235 §4.2.11 recommendation 6
SOURCE_IDS: SOURCE_A
DECISION_NODE_IDS: DN_4_2_11_R06
COR/LOE: 2a/B-NR
THRESHOLD_TIMING_DOSE: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DYS_CASE_122
ROLE: CASE_DECIDE
PROMPT: Consider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What risk reassessment can guide an uncertain treatment decision?
FULL_EXPECTED_ANSWER: In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coronary calcium scoring may be reasonable to aid in ASCVD risk stratification to inform decision-making about add-on therapy to reduce ASCVD risk.
SOURCE_PROVENANCE: PDF p82/e1235 §4.2.11 recommendation 7
SOURCE_IDS: SOURCE_A
DECISION_NODE_IDS: DN_4_2_11_R07
COR/LOE: 2b/B-R
THRESHOLD_TIMING_DOSE: 3%; &lt;10%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DYS_CASE_122
ROLE: SOURCE_REVEAL
PROMPT: Consider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What risk reassessment can guide an uncertain treatment decision?
FULL_EXPECTED_ANSWER: In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coronary calcium scoring may be reasonable to aid in ASCVD risk stratification to inform decision-making about add-on therapy to reduce ASCVD risk.
SOURCE_PROVENANCE: PDF p82/e1235 §4.2.11 recommendation 7
SOURCE_IDS: SOURCE_A
DECISION_NODE_IDS: DN_4_2_11_R07
COR/LOE: 2b/B-R
THRESHOLD_TIMING_DOSE: 3%; &lt;10%
TERMINOLOGY: ASCVD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DYS_CASE_122
ROLE: SOURCE_REVEAL
PROMPT: Consider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What risk reassessment can guide an uncertain treatment decision?
FULL_EXPECTED_ANSWER: In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coronary calcium scoring may be reasonable to aid in ASCVD risk stratification to inform decision-making about add-on therapy to reduce ASCVD risk.
SOURCE_PROVENANCE: PDF p82/e1235 §4.2.11 recommendation 7
SOURCE_IDS: SOURCE_A
DECISION_NODE_IDS: DN_4_2_11_R07
COR/LOE: 2b/B-R
THRESHOLD_TIMING_DOSE: 3%; &lt;10%
TERMINOLOGY: ASCVD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DYS_CASE_123
ROLE: CASE_DECIDE
PROMPT: Adults without a history of clinical ASCVD who experience statin-attributed muscle symptoms on the recommended intensity of statin therapy (secondary causes excluded) and are at borderline or intermediate ASCVD risk based on the PREVENT-ASCVD equations of 3% to &lt;10%. What LDL-C-lowering option, if any, applies?
FULL_EXPECTED_ANSWER: In adults without a history of clinical ASCVD who experience statin-attributed muscle symptoms on the recommended intensity of statin therapy (secondary causes excluded) and are at borderline or intermediate ASCVD risk based on the PREVENT-ASCVD equations of 3% to &lt;10%, the addition of ezetimibe and/or bempedoic acid may be reasonable to lower LDL-C to &lt;100 mg/dL (2.6 mmol/L) and non–HDL-C to &lt;130 mg/dL (3.4 mmol/L) and reduce ASCVD risk.
SOURCE_PROVENANCE: PDF p82/e1235 §4.2.11 recommendation 8
SOURCE_IDS: SOURCE_A
DECISION_NODE_IDS: DN_4_2_11_R08
COR/LOE: 2b/B-NR
THRESHOLD_TIMING_DOSE: 3%; &lt;10%; &lt;100 mg/dL; 2.6 mmol/L; &lt;130 mg/dL; 3.4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DYS_CASE_123
ROLE: SOURCE_REVEAL
PROMPT: Adults without a history of clinical ASCVD who experience statin-attributed muscle symptoms on the recommended intensity of statin therapy (secondary causes excluded) and are at borderline or intermediate ASCVD risk based on the PREVENT-ASCVD equations of 3% to &lt;10%. What LDL-C-lowering option, if any, applies?
FULL_EXPECTED_ANSWER: In adults without a history of clinical ASCVD who experience statin-attributed muscle symptoms on the recommended intensity of statin therapy (secondary causes excluded) and are at borderline or intermediate ASCVD risk based on the PREVENT-ASCVD equations of 3% to &lt;10%, the addition of ezetimibe and/or bempedoic acid may be reasonable to lower LDL-C to &lt;100 mg/dL (2.6 mmol/L) and non–HDL-C to &lt;130 mg/dL (3.4 mmol/L) and reduce ASCVD risk.
SOURCE_PROVENANCE: PDF p82/e1235 §4.2.11 recommendation 8
SOURCE_IDS: SOURCE_A
DECISION_NODE_IDS: DN_4_2_11_R08
COR/LOE: 2b/B-NR
THRESHOLD_TIMING_DOSE: 3%; &lt;10%; &lt;100 mg/dL; 2.6 mmol/L; &lt;130 mg/dL; 3.4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DYS_CASE_124
ROLE: CASE_DECIDE
PROMPT: An adult with dyslipidemia is considering lipid-lowering medication. What discussion should precede lipid-lowering medication?
FULL_EXPECTED_ANSWER: In adults with dyslipidemia, an individualized clinician–patient discussion prior to initiating lipid-lowering medication is recommended to review the benefits and risks of pharmacotherapy to promote patient engagement and medication adherence.
SOURCE_PROVENANCE: PDF p85/e1238 §5.1 recommendation 1
SOURCE_IDS: SOURCE_A
DECISION_NODE_IDS: DN_5_1_R01
COR/LOE: 1/A
THRESHOLD_TIMING_DOSE: N/A
TERMINOLOGY: 5.1
EVIDENCE_STATUS: SOURCE_LOCKED_AUDITED; AUDIT_STATUS: PASS
REVEAL_PART: N/A
TEACHING_RULE: Preserve all source qualifiers. Do not introduce outside clinical knowledge.
---
CASE_ID: DYS_CASE_125
ROLE: CASE_DECIDE
PROMPT: Consider adults with elevated diabetes risk or new-onset diabetes. What statin continuation decision applies?
FULL_EXPECTED_ANSWER: In adults with elevated diabetes risk or new-onset diabetes, it is recommended to continue statin therapy, with added emphasis on adherence, net clinical benefit, and lifestyle management.
SOURCE_PROVENANCE: PDF p85/e1238 §5.1 recommendation 2
SOURCE_IDS: SOURCE_A
DECISION_NODE_IDS: DN_5_1_R02
COR/LOE: 1/A
THRESHOLD_TIMING_DOSE: N/A
TERMINOLOGY: diabetes
EVIDENCE_STATUS: SOURCE_LOCKED_AUDITED; AUDIT_STATUS: PASS
REVEAL_PART: N/A
TEACHING_RULE: Preserve all source qualifiers. Do not introduce outside clinical knowledge.
---
CASE_ID: DYS_CASE_126
ROLE: CASE_DECIDE
PROMPT: Consider adults at elevated ASCVD risk with chronic, stable liver disease (including metabolic dysfunction-associated steatotic liver disease). What statin treatment decision applies?
FULL_EXPECTED_ANSWER: In adults at elevated ASCVD risk with chronic, stable liver disease (including metabolic dysfunction-associated steatotic liver disease), it is reasonable to treat with statin therapy to reduce ASCVD risk.
SOURCE_PROVENANCE: PDF p85/e1238 §5.1 recommendation 3
SOURCE_IDS: SOURCE_A
DECISION_NODE_IDS: DN_5_1_R03
COR/LOE: 2a/B-R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DYS_CASE_124
ROLE: SOURCE_REVEAL
PROMPT: An adult with dyslipidemia is considering lipid-lowering medication. What discussion should precede lipid-lowering medication?
FULL_EXPECTED_ANSWER: In adults with dyslipidemia, an individualized clinician–patient discussion prior to initiating lipid-lowering medication is recommended to review the benefits and risks of pharmacotherapy to promote patient engagement and medication adherence.
SOURCE_PROVENANCE: PDF p85/e1238 §5.1 recommendation 1
SOURCE_IDS: SOURCE_A
DECISION_NODE_IDS: DN_5_1_R01
COR/LOE: 1/A
THRESHOLD_TIMING_DOSE: N/A
TERMINOLOGY: 5.1
EVIDENCE_STATUS: SOURCE_LOCKED_AUDITED; AUDIT_STATUS: PASS
REVEAL_PART: N/A
TEACHING_RULE: Preserve all source qualifiers. Do not introduce outside clinical knowledge.
---
CASE_ID: DYS_CASE_125
ROLE: SOURCE_REVEAL
PROMPT: Consider adults with elevated diabetes risk or new-onset diabetes. What statin continuation decision applies?
FULL_EXPECTED_ANSWER: In adults with elevated diabetes risk or new-onset diabetes, it is recommended to continue statin therapy, with added emphasis on adherence, net clinical benefit, and lifestyle management.
SOURCE_PROVENANCE: PDF p85/e1238 §5.1 recommendation 2
SOURCE_IDS: SOURCE_A
DECISION_NODE_IDS: DN_5_1_R02
COR/LOE: 1/A
THRESHOLD_TIMING_DOSE: N/A
TERMINOLOGY: diabetes
EVIDENCE_STATUS: SOURCE_LOCKED_AUDITED; AUDIT_STATUS: PASS
REVEAL_PART: N/A
TEACHING_RULE: Preserve all source qualifiers. Do not introduce outside clinical knowledge.
---
CASE_ID: DYS_CASE_126
ROLE: SOURCE_REVEAL
PROMPT: Consider adults at elevated ASCVD risk with chronic, stable liver disease (including metabolic dysfunction-associated steatotic liver disease). What statin treatment decision applies?
FULL_EXPECTED_ANSWER: In adults at elevated ASCVD risk with chronic, stable liver disease (including metabolic dysfunction-associated steatotic liver disease), it is reasonable to treat with statin therapy to reduce ASCVD risk.
SOURCE_PROVENANCE: PDF p85/e1238 §5.1 recommendation 3
SOURCE_IDS: SOURCE_A
DECISION_NODE_IDS: DN_5_1_R03
COR/LOE: 2a/B-R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DYS_CASE_127
ROLE: CASE_DECIDE
PROMPT: Consider adults on statin therapy. Should coenzyme Q10 be used routinely for statin-attributed muscle symptoms?
FULL_EXPECTED_ANSWER: In adults on statin therapy, routine use of coenzyme Q10 is not recommended to treat or prevent statin-attributed muscle symptoms.
SOURCE_PROVENANCE: PDF p85/e1238 §5.1 recommendation 4
SOURCE_IDS: SOURCE_A
DECISION_NODE_IDS: DN_5_1_R04
COR/LOE: 3: No Benefit/B-R
THRESHOLD_TIMING_DOSE: N/A
TERMINOLOGY: 5.1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DYS_CASE_127
ROLE: SOURCE_REVEAL
PROMPT: Consider adults on statin therapy. Should coenzyme Q10 be used routinely for statin-attributed muscle symptoms?
FULL_EXPECTED_ANSWER: In adults on statin therapy, routine use of coenzyme Q10 is not recommended to treat or prevent statin-attributed muscle symptoms.
SOURCE_PROVENANCE: PDF p85/e1238 §5.1 recommendation 4
SOURCE_IDS: SOURCE_A
DECISION_NODE_IDS: DN_5_1_R04
COR/LOE: 3: No Benefit/B-R
THRESHOLD_TIMING_DOSE: N/A
TERMINOLOGY: 5.1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DYS_CASE_128
ROLE: CASE_DECIDE
PROMPT: One adult taking a statin has no severe hepatotoxicity symptoms; another develops jaundice, fatigue, pruritus, nausea/vomiting, or abdominal pain. When should liver tests be checked, and what transaminase elevation prompts further evaluation?
FULL_EXPECTED_ANSWER: In adults treated with statin therapy who do not have severe symptoms suggestive of hepatotoxicity (ie, jaundice, pruritus, fatigue, nausea and vomiting, abdominal pain), routine measurement of hepatic function is not useful to assess safety. || Persistent hepatic transaminase elevation &gt;3 times the upper limit of normal is described as a reasonable threshold to investigate further and consider pausing statin therapy. || Measure hepatic transaminases, total bilirubin, and alkaline phosphatase in statin-treated patients with symptoms suggestive of hepatotoxicity such as jaundice, fatigue, pruritus, nausea/vomiting, or abdominal pain.
SOURCE_PROVENANCE: PDF p85/e1238 §5.1 recommendation 6; §5.1 supportive text, PDF p88/e1241
SOURCE_IDS: SOURCE_A
DECISION_NODE_IDS: DN_5_1_R06;DN_5_1_LIVER_3X_ULN;DN_5_1_SYMPTOMATIC_LIVER_TESTING
COR/LOE: 3: No Benefit/B-NR
THRESHOLD_TIMING_DOSE: &gt;3× ULN
TERMINOLOGY: 5.1 / statin safety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DYS_CASE_128
ROLE: SOURCE_REVEAL
PROMPT: One adult taking a statin has no severe hepatotoxicity symptoms; another develops jaundice, fatigue, pruritus, nausea/vomiting, or abdominal pain. When should liver tests be checked, and what transaminase elevation prompts further evaluation?
FULL_EXPECTED_ANSWER: In adults treated with statin therapy who do not have severe symptoms suggestive of hepatotoxicity (ie, jaundice, pruritus, fatigue, nausea and vomiting, abdominal pain), routine measurement of hepatic function is not useful to assess safety. || Persistent hepatic transaminase elevation &gt;3 times the upper limit of normal is described as a reasonable threshold to investigate further and consider pausing statin therapy. || Measure hepatic transaminases, total bilirubin, and alkaline phosphatase in statin-treated patients with symptoms suggestive of hepatotoxicity such as jaundice, fatigue, pruritus, nausea/vomiting, or abdominal pain.
SOURCE_PROVENANCE: PDF p85/e1238 §5.1 recommendation 6; §5.1 supportive text, PDF p88/e1241
SOURCE_IDS: SOURCE_A
DECISION_NODE_IDS: DN_5_1_R06;DN_5_1_LIVER_3X_ULN;DN_5_1_SYMPTOMATIC_LIVER_TESTING
COR/LOE: 3: No Benefit/B-NR
THRESHOLD_TIMING_DOSE: &gt;3× ULN
TERMINOLOGY: 5.1 / statin safety
EVIDENCE_STATUS: SOURCE_LOCKED_AUDITED; AUDIT_STATUS: PASS
REVEAL_PART: 1/3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DYS_CASE_128
ROLE: SOURCE_REVEAL
PROMPT: One adult taking a statin has no severe hepatotoxicity symptoms; another develops jaundice, fatigue, pruritus, nausea/vomiting, or abdominal pain. When should liver tests be checked, and what transaminase elevation prompts further evaluation?
FULL_EXPECTED_ANSWER: In adults treated with statin therapy who do not have severe symptoms suggestive of hepatotoxicity (ie, jaundice, pruritus, fatigue, nausea and vomiting, abdominal pain), routine measurement of hepatic function is not useful to assess safety. || Persistent hepatic transaminase elevation &gt;3 times the upper limit of normal is described as a reasonable threshold to investigate further and consider pausing statin therapy. || Measure hepatic transaminases, total bilirubin, and alkaline phosphatase in statin-treated patients with symptoms suggestive of hepatotoxicity such as jaundice, fatigue, pruritus, nausea/vomiting, or abdominal pain.
SOURCE_PROVENANCE: PDF p85/e1238 §5.1 recommendation 6; §5.1 supportive text, PDF p88/e1241
SOURCE_IDS: SOURCE_A
DECISION_NODE_IDS: DN_5_1_R06;DN_5_1_LIVER_3X_ULN;DN_5_1_SYMPTOMATIC_LIVER_TESTING
COR/LOE: 3: No Benefit/B-NR
THRESHOLD_TIMING_DOSE: &gt;3× ULN
TERMINOLOGY: 5.1 / statin safety
EVIDENCE_STATUS: SOURCE_LOCKED_AUDITED; AUDIT_STATUS: PASS
REVEAL_PART: 2/3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DYS_CASE_128
ROLE: SOURCE_REVEAL
PROMPT: One adult taking a statin has no severe hepatotoxicity symptoms; another develops jaundice, fatigue, pruritus, nausea/vomiting, or abdominal pain. When should liver tests be checked, and what transaminase elevation prompts further evaluation?
FULL_EXPECTED_ANSWER: In adults treated with statin therapy who do not have severe symptoms suggestive of hepatotoxicity (ie, jaundice, pruritus, fatigue, nausea and vomiting, abdominal pain), routine measurement of hepatic function is not useful to assess safety. || Persistent hepatic transaminase elevation &gt;3 times the upper limit of normal is described as a reasonable threshold to investigate further and consider pausing statin therapy. || Measure hepatic transaminases, total bilirubin, and alkaline phosphatase in statin-treated patients with symptoms suggestive of hepatotoxicity such as jaundice, fatigue, pruritus, nausea/vomiting, or abdominal pain.
SOURCE_PROVENANCE: PDF p85/e1238 §5.1 recommendation 6; §5.1 supportive text, PDF p88/e1241
SOURCE_IDS: SOURCE_A
DECISION_NODE_IDS: DN_5_1_R06;DN_5_1_LIVER_3X_ULN;DN_5_1_SYMPTOMATIC_LIVER_TESTING
COR/LOE: 3: No Benefit/B-NR
THRESHOLD_TIMING_DOSE: &gt;3× ULN
TERMINOLOGY: 5.1 / statin safety
EVIDENCE_STATUS: SOURCE_LOCKED_AUDITED; AUDIT_STATUS: PASS
REVEAL_PART: 3/3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DYS_CASE_158
ROLE: CASE_DECIDE
PROMPT: A patient reports muscle symptoms while taking a statin. Which factors increase the likelihood of statin-attributed muscle symptoms?
FULL_EXPECTED_ANSWER: Assess source-listed factors associated with increased risk of statin-attributed muscle symptoms.
SOURCE_PROVENANCE: Table 24, PDF p82/e1235
SOURCE_IDS: SOURCE_A
DECISION_NODE_IDS: DN_T24_SAMS_RISK_FACTORS
COR/LOE: N/A
THRESHOLD_TIMING_DOSE: age ≥65; high-dose statin
TERMINOLOGY: SAMS
EVIDENCE_STATUS: SOURCE_LOCKED_AUDITED; AUDIT_STATUS: PASS
REVEAL_PART: N/A
TEACHING_RULE: Preserve all source qualifiers. Do not introduce outside clinical knowledge.
---
CASE_ID: DYS_CASE_172
ROLE: CASE_DECIDE
PROMPT: An adult has statin-associated rhabdomyolysis, and reversible causes are being managed. What decisions about statin continuation and rechallenge are supported?
FULL_EXPECTED_ANSWER: Patients with statin-associated rhabdomyolysis may need indefinite statin discontinuation after reversible causes are managed; rechallenge should be approached cautiously.
SOURCE_PROVENANCE: §5.1 synopsis, PDF p86/e1239
SOURCE_IDS: SOURCE_A
DECISION_NODE_IDS: DN_5_1_RHABDO_MANAGEMENT
COR/LOE: N/A
THRESHOLD_TIMING_DOSE: N/A
TERMINOLOGY: statin adverse effect
EVIDENCE_STATUS: SOURCE_LOCKED_AUDITED; AUDIT_STATUS: PASS
REVEAL_PART: N/A
TEACHING_RULE: Preserve all source qualifiers. Do not introduce outside clinical knowledge.
---
CASE_ID: DYS_CASE_173
ROLE: CASE_DECIDE
PROMPT: A patient is suspected of statin-associated autoimmune myopathy. What management actions apply?
FULL_EXPECTED_ANSWER: Statin-associated autoimmune myopathy requires statin cessation, avoidance of potential myotoxic pharmacotherapy, and may require additional therapy directed at the autoimmune process.
SOURCE_PROVENANCE: §5.1 synopsis, PDF p86/e1239
SOURCE_IDS: SOURCE_A
DECISION_NODE_IDS: DN_5_1_AUTOIMMUNE_MYOPATHY
COR/LOE: N/A
THRESHOLD_TIMING_DOSE: N/A
TERMINOLOGY: statin adverse effect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DYS_CASE_158
ROLE: SOURCE_REVEAL
PROMPT: A patient reports muscle symptoms while taking a statin. Which factors increase the likelihood of statin-attributed muscle symptoms?
FULL_EXPECTED_ANSWER: Assess source-listed factors associated with increased risk of statin-attributed muscle symptoms.
SOURCE_PROVENANCE: Table 24, PDF p82/e1235
SOURCE_IDS: SOURCE_A
DECISION_NODE_IDS: DN_T24_SAMS_RISK_FACTORS
COR/LOE: N/A
THRESHOLD_TIMING_DOSE: age ≥65; high-dose statin
TERMINOLOGY: SAMS
EVIDENCE_STATUS: SOURCE_LOCKED_AUDITED; AUDIT_STATUS: PASS
REVEAL_PART: N/A
TEACHING_RULE: Preserve all source qualifiers. Do not introduce outside clinical knowledge.
---
CASE_ID: DYS_CASE_172
ROLE: SOURCE_REVEAL
PROMPT: An adult has statin-associated rhabdomyolysis, and reversible causes are being managed. What decisions about statin continuation and rechallenge are supported?
FULL_EXPECTED_ANSWER: Patients with statin-associated rhabdomyolysis may need indefinite statin discontinuation after reversible causes are managed; rechallenge should be approached cautiously.
SOURCE_PROVENANCE: §5.1 synopsis, PDF p86/e1239
SOURCE_IDS: SOURCE_A
DECISION_NODE_IDS: DN_5_1_RHABDO_MANAGEMENT
COR/LOE: N/A
THRESHOLD_TIMING_DOSE: N/A
TERMINOLOGY: statin adverse effect
EVIDENCE_STATUS: SOURCE_LOCKED_AUDITED; AUDIT_STATUS: PASS
REVEAL_PART: N/A
TEACHING_RULE: Preserve all source qualifiers. Do not introduce outside clinical knowledge.
---
CASE_ID: DYS_CASE_173
ROLE: SOURCE_REVEAL
PROMPT: A patient is suspected of statin-associated autoimmune myopathy. What management actions apply?
FULL_EXPECTED_ANSWER: Statin-associated autoimmune myopathy requires statin cessation, avoidance of potential myotoxic pharmacotherapy, and may require additional therapy directed at the autoimmune process.
SOURCE_PROVENANCE: §5.1 synopsis, PDF p86/e1239
SOURCE_IDS: SOURCE_A
DECISION_NODE_IDS: DN_5_1_AUTOIMMUNE_MYOPATHY
COR/LOE: N/A
THRESHOLD_TIMING_DOSE: N/A
TERMINOLOGY: statin adverse effect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1F33"/>
          </a:solidFill>
          <a:ln w="12700">
            <a:solidFill>
              <a:srgbClr val="0B1F33"/>
            </a:solidFill>
            <a:prstDash val="solid"/>
          </a:ln>
        </p:spPr>
      </p:sp>
      <p:sp>
        <p:nvSpPr>
          <p:cNvPr id="3" name="Text 1"/>
          <p:cNvSpPr/>
          <p:nvPr/>
        </p:nvSpPr>
        <p:spPr>
          <a:xfrm>
            <a:off x="411480" y="6510528"/>
            <a:ext cx="6766560" cy="201168"/>
          </a:xfrm>
          <a:prstGeom prst="rect">
            <a:avLst/>
          </a:prstGeom>
          <a:noFill/>
          <a:ln/>
        </p:spPr>
        <p:txBody>
          <a:bodyPr wrap="square" lIns="0" tIns="0" rIns="0" bIns="0" rtlCol="0" anchor="ctr"/>
          <a:lstStyle/>
          <a:p>
            <a:pPr indent="0" marL="0">
              <a:buNone/>
            </a:pPr>
            <a:r>
              <a:rPr lang="en-US" sz="1600" b="1" dirty="0">
                <a:solidFill>
                  <a:srgbClr val="536273"/>
                </a:solidFill>
                <a:latin typeface="Aptos" pitchFamily="34" charset="0"/>
                <a:ea typeface="Aptos" pitchFamily="34" charset="-122"/>
                <a:cs typeface="Aptos" pitchFamily="34" charset="-120"/>
              </a:rPr>
              <a:t>2026 ACC/AHA DYSLIPIDEMIA • EVIDENCE-LOCKED</a:t>
            </a:r>
            <a:endParaRPr lang="en-US" sz="1600" dirty="0"/>
          </a:p>
        </p:txBody>
      </p:sp>
      <p:sp>
        <p:nvSpPr>
          <p:cNvPr id="4" name="Text 2"/>
          <p:cNvSpPr/>
          <p:nvPr/>
        </p:nvSpPr>
        <p:spPr>
          <a:xfrm>
            <a:off x="7315200" y="6510528"/>
            <a:ext cx="4434840" cy="201168"/>
          </a:xfrm>
          <a:prstGeom prst="rect">
            <a:avLst/>
          </a:prstGeom>
          <a:noFill/>
          <a:ln/>
        </p:spPr>
        <p:txBody>
          <a:bodyPr wrap="square" lIns="0" tIns="0" rIns="0" bIns="0" rtlCol="0" anchor="ctr"/>
          <a:lstStyle/>
          <a:p>
            <a:pPr algn="r" indent="0" marL="0">
              <a:buNone/>
            </a:pPr>
            <a:r>
              <a:rPr lang="en-US" sz="1600" dirty="0">
                <a:solidFill>
                  <a:srgbClr val="536273"/>
                </a:solidFill>
                <a:latin typeface="Aptos" pitchFamily="34" charset="0"/>
                <a:ea typeface="Aptos" pitchFamily="34" charset="-122"/>
                <a:cs typeface="Aptos" pitchFamily="34" charset="-120"/>
              </a:rPr>
              <a:t>SOURCE_A + SOURCE_B correction-only</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Cover background"/>
          <p:cNvSpPr/>
          <p:nvPr/>
        </p:nvSpPr>
        <p:spPr>
          <a:xfrm>
            <a:off x="0" y="0"/>
            <a:ext cx="12192000" cy="6858000"/>
          </a:xfrm>
          <a:prstGeom prst="rect">
            <a:avLst/>
          </a:prstGeom>
          <a:gradFill rotWithShape="1">
            <a:gsLst>
              <a:gs pos="0">
                <a:srgbClr val="0E2A47"/>
              </a:gs>
              <a:gs pos="100000">
                <a:srgbClr val="0B1F33"/>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rail"/>
          <p:cNvSpPr/>
          <p:nvPr/>
        </p:nvSpPr>
        <p:spPr>
          <a:xfrm>
            <a:off x="571500" y="762000"/>
            <a:ext cx="88900" cy="1727200"/>
          </a:xfrm>
          <a:prstGeom prst="rect">
            <a:avLst/>
          </a:prstGeom>
          <a:solidFill>
            <a:srgbClr val="2E9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hase rail"/>
          <p:cNvSpPr/>
          <p:nvPr/>
        </p:nvSpPr>
        <p:spPr>
          <a:xfrm>
            <a:off x="571500" y="2501900"/>
            <a:ext cx="88900" cy="17272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hase rail"/>
          <p:cNvSpPr/>
          <p:nvPr/>
        </p:nvSpPr>
        <p:spPr>
          <a:xfrm>
            <a:off x="571500" y="4241800"/>
            <a:ext cx="88900" cy="17272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ver kicker"/>
          <p:cNvSpPr txBox="1"/>
          <p:nvPr/>
        </p:nvSpPr>
        <p:spPr>
          <a:xfrm>
            <a:off x="952500" y="838200"/>
            <a:ext cx="7112000" cy="508000"/>
          </a:xfrm>
          <a:prstGeom prst="rect">
            <a:avLst/>
          </a:prstGeom>
          <a:noFill/>
        </p:spPr>
        <p:txBody>
          <a:bodyPr wrap="none" lIns="0" rIns="0" tIns="0" bIns="0" anchor="b">
            <a:noAutofit/>
          </a:bodyPr>
          <a:lstStyle/>
          <a:p>
            <a:pPr algn="l">
              <a:lnSpc>
                <a:spcPts val="3840"/>
              </a:lnSpc>
              <a:spcBef>
                <a:spcPts val="0"/>
              </a:spcBef>
              <a:spcAft>
                <a:spcPts val="0"/>
              </a:spcAft>
            </a:pPr>
            <a:r>
              <a:rPr sz="3200" b="1">
                <a:solidFill>
                  <a:srgbClr val="7CB8FF"/>
                </a:solidFill>
                <a:latin typeface="Aptos Display"/>
              </a:rPr>
              <a:t>2026 ACC/AHA</a:t>
            </a:r>
          </a:p>
        </p:txBody>
      </p:sp>
      <p:sp>
        <p:nvSpPr>
          <p:cNvPr id="7" name="Cover title"/>
          <p:cNvSpPr txBox="1"/>
          <p:nvPr/>
        </p:nvSpPr>
        <p:spPr>
          <a:xfrm>
            <a:off x="952500" y="1371600"/>
            <a:ext cx="7112000" cy="889000"/>
          </a:xfrm>
          <a:prstGeom prst="rect">
            <a:avLst/>
          </a:prstGeom>
          <a:noFill/>
        </p:spPr>
        <p:txBody>
          <a:bodyPr wrap="none" lIns="0" rIns="0" tIns="0" bIns="0" anchor="t">
            <a:noAutofit/>
          </a:bodyPr>
          <a:lstStyle/>
          <a:p>
            <a:pPr algn="l">
              <a:lnSpc>
                <a:spcPts val="6380"/>
              </a:lnSpc>
              <a:spcBef>
                <a:spcPts val="0"/>
              </a:spcBef>
              <a:spcAft>
                <a:spcPts val="0"/>
              </a:spcAft>
            </a:pPr>
            <a:r>
              <a:rPr sz="5800" b="1">
                <a:solidFill>
                  <a:srgbClr val="FFFFFF"/>
                </a:solidFill>
                <a:latin typeface="Aptos Display"/>
              </a:rPr>
              <a:t>Dyslipidemia</a:t>
            </a:r>
          </a:p>
        </p:txBody>
      </p:sp>
      <p:sp>
        <p:nvSpPr>
          <p:cNvPr id="8" name="Cover subtitle"/>
          <p:cNvSpPr txBox="1"/>
          <p:nvPr/>
        </p:nvSpPr>
        <p:spPr>
          <a:xfrm>
            <a:off x="952500" y="2603500"/>
            <a:ext cx="7112000" cy="782320"/>
          </a:xfrm>
          <a:prstGeom prst="rect">
            <a:avLst/>
          </a:prstGeom>
          <a:noFill/>
        </p:spPr>
        <p:txBody>
          <a:bodyPr wrap="square" lIns="0" rIns="0" tIns="0" bIns="0" anchor="t">
            <a:noAutofit/>
          </a:bodyPr>
          <a:lstStyle/>
          <a:p>
            <a:pPr algn="l">
              <a:lnSpc>
                <a:spcPts val="2879"/>
              </a:lnSpc>
              <a:spcBef>
                <a:spcPts val="0"/>
              </a:spcBef>
              <a:spcAft>
                <a:spcPts val="0"/>
              </a:spcAft>
            </a:pPr>
            <a:r>
              <a:rPr sz="2400" b="1">
                <a:solidFill>
                  <a:srgbClr val="E3ECF7"/>
                </a:solidFill>
                <a:latin typeface="Aptos"/>
              </a:rPr>
              <a:t>Evidence-Locked Case-Based Clinical Presentation</a:t>
            </a:r>
          </a:p>
        </p:txBody>
      </p:sp>
      <p:sp>
        <p:nvSpPr>
          <p:cNvPr id="9" name="Audience"/>
          <p:cNvSpPr txBox="1"/>
          <p:nvPr/>
        </p:nvSpPr>
        <p:spPr>
          <a:xfrm>
            <a:off x="952500" y="3563620"/>
            <a:ext cx="7112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General practitioners / practicing physicians</a:t>
            </a:r>
          </a:p>
        </p:txBody>
      </p:sp>
      <p:sp>
        <p:nvSpPr>
          <p:cNvPr id="10" name="Audience note"/>
          <p:cNvSpPr txBox="1"/>
          <p:nvPr/>
        </p:nvSpPr>
        <p:spPr>
          <a:xfrm>
            <a:off x="952500" y="3919220"/>
            <a:ext cx="7112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 consultant depth routed separately</a:t>
            </a:r>
          </a:p>
        </p:txBody>
      </p:sp>
      <p:sp>
        <p:nvSpPr>
          <p:cNvPr id="11" name="Flow panel"/>
          <p:cNvSpPr/>
          <p:nvPr/>
        </p:nvSpPr>
        <p:spPr>
          <a:xfrm>
            <a:off x="8128000" y="952500"/>
            <a:ext cx="3657600" cy="2984500"/>
          </a:xfrm>
          <a:prstGeom prst="roundRect">
            <a:avLst>
              <a:gd name="adj" fmla="val 4255"/>
            </a:avLst>
          </a:prstGeom>
          <a:solidFill>
            <a:srgbClr val="172A3D"/>
          </a:solidFill>
          <a:ln w="12700">
            <a:solidFill>
              <a:srgbClr val="3355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low connector"/>
          <p:cNvSpPr/>
          <p:nvPr/>
        </p:nvSpPr>
        <p:spPr>
          <a:xfrm>
            <a:off x="8623300" y="1524000"/>
            <a:ext cx="25400" cy="1841500"/>
          </a:xfrm>
          <a:prstGeom prst="rect">
            <a:avLst/>
          </a:prstGeom>
          <a:solidFill>
            <a:srgbClr val="4857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ow step number"/>
          <p:cNvSpPr/>
          <p:nvPr/>
        </p:nvSpPr>
        <p:spPr>
          <a:xfrm>
            <a:off x="8432800" y="1333500"/>
            <a:ext cx="406400" cy="406400"/>
          </a:xfrm>
          <a:prstGeom prst="roundRect">
            <a:avLst>
              <a:gd name="adj" fmla="val 50000"/>
            </a:avLst>
          </a:prstGeom>
          <a:solidFill>
            <a:srgbClr val="2E9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FFFFFF"/>
                </a:solidFill>
                <a:latin typeface="Aptos"/>
              </a:rPr>
              <a:t>1</a:t>
            </a:r>
          </a:p>
        </p:txBody>
      </p:sp>
      <p:sp>
        <p:nvSpPr>
          <p:cNvPr id="14" name="Flow step label"/>
          <p:cNvSpPr txBox="1"/>
          <p:nvPr/>
        </p:nvSpPr>
        <p:spPr>
          <a:xfrm>
            <a:off x="8991600" y="1282700"/>
            <a:ext cx="2692400" cy="508000"/>
          </a:xfrm>
          <a:prstGeom prst="rect">
            <a:avLst/>
          </a:prstGeom>
          <a:noFill/>
        </p:spPr>
        <p:txBody>
          <a:bodyPr wrap="none" lIns="0" rIns="0" tIns="0" bIns="0" anchor="ctr">
            <a:noAutofit/>
          </a:bodyPr>
          <a:lstStyle/>
          <a:p>
            <a:pPr algn="l">
              <a:lnSpc>
                <a:spcPts val="2280"/>
              </a:lnSpc>
              <a:spcBef>
                <a:spcPts val="0"/>
              </a:spcBef>
              <a:spcAft>
                <a:spcPts val="0"/>
              </a:spcAft>
            </a:pPr>
            <a:r>
              <a:rPr sz="1900" b="1" spc="50">
                <a:solidFill>
                  <a:srgbClr val="FFFFFF"/>
                </a:solidFill>
                <a:latin typeface="Aptos"/>
              </a:rPr>
              <a:t>CASE</a:t>
            </a:r>
          </a:p>
        </p:txBody>
      </p:sp>
      <p:sp>
        <p:nvSpPr>
          <p:cNvPr id="15" name="Flow step number"/>
          <p:cNvSpPr/>
          <p:nvPr/>
        </p:nvSpPr>
        <p:spPr>
          <a:xfrm>
            <a:off x="8432800" y="2222500"/>
            <a:ext cx="406400" cy="4064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FFFFFF"/>
                </a:solidFill>
                <a:latin typeface="Aptos"/>
              </a:rPr>
              <a:t>2</a:t>
            </a:r>
          </a:p>
        </p:txBody>
      </p:sp>
      <p:sp>
        <p:nvSpPr>
          <p:cNvPr id="16" name="Flow step label"/>
          <p:cNvSpPr txBox="1"/>
          <p:nvPr/>
        </p:nvSpPr>
        <p:spPr>
          <a:xfrm>
            <a:off x="8991600" y="2171700"/>
            <a:ext cx="2692400" cy="508000"/>
          </a:xfrm>
          <a:prstGeom prst="rect">
            <a:avLst/>
          </a:prstGeom>
          <a:noFill/>
        </p:spPr>
        <p:txBody>
          <a:bodyPr wrap="none" lIns="0" rIns="0" tIns="0" bIns="0" anchor="ctr">
            <a:noAutofit/>
          </a:bodyPr>
          <a:lstStyle/>
          <a:p>
            <a:pPr algn="l">
              <a:lnSpc>
                <a:spcPts val="2280"/>
              </a:lnSpc>
              <a:spcBef>
                <a:spcPts val="0"/>
              </a:spcBef>
              <a:spcAft>
                <a:spcPts val="0"/>
              </a:spcAft>
            </a:pPr>
            <a:r>
              <a:rPr sz="1900" b="1" spc="50">
                <a:solidFill>
                  <a:srgbClr val="FFFFFF"/>
                </a:solidFill>
                <a:latin typeface="Aptos"/>
              </a:rPr>
              <a:t>→ DECIDE</a:t>
            </a:r>
          </a:p>
        </p:txBody>
      </p:sp>
      <p:sp>
        <p:nvSpPr>
          <p:cNvPr id="17" name="Flow step number"/>
          <p:cNvSpPr/>
          <p:nvPr/>
        </p:nvSpPr>
        <p:spPr>
          <a:xfrm>
            <a:off x="8432800" y="3111500"/>
            <a:ext cx="406400" cy="4064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FFFFFF"/>
                </a:solidFill>
                <a:latin typeface="Aptos"/>
              </a:rPr>
              <a:t>3</a:t>
            </a:r>
          </a:p>
        </p:txBody>
      </p:sp>
      <p:sp>
        <p:nvSpPr>
          <p:cNvPr id="18" name="Flow step label"/>
          <p:cNvSpPr txBox="1"/>
          <p:nvPr/>
        </p:nvSpPr>
        <p:spPr>
          <a:xfrm>
            <a:off x="8991600" y="3060700"/>
            <a:ext cx="2692400" cy="508000"/>
          </a:xfrm>
          <a:prstGeom prst="rect">
            <a:avLst/>
          </a:prstGeom>
          <a:noFill/>
        </p:spPr>
        <p:txBody>
          <a:bodyPr wrap="none" lIns="0" rIns="0" tIns="0" bIns="0" anchor="ctr">
            <a:noAutofit/>
          </a:bodyPr>
          <a:lstStyle/>
          <a:p>
            <a:pPr algn="l">
              <a:lnSpc>
                <a:spcPts val="2280"/>
              </a:lnSpc>
              <a:spcBef>
                <a:spcPts val="0"/>
              </a:spcBef>
              <a:spcAft>
                <a:spcPts val="0"/>
              </a:spcAft>
            </a:pPr>
            <a:r>
              <a:rPr sz="1900" b="1" spc="50">
                <a:solidFill>
                  <a:srgbClr val="FFFFFF"/>
                </a:solidFill>
                <a:latin typeface="Aptos"/>
              </a:rPr>
              <a:t>→ SOURCE REVEAL</a:t>
            </a:r>
          </a:p>
        </p:txBody>
      </p:sp>
      <p:sp>
        <p:nvSpPr>
          <p:cNvPr id="19" name="Cover rule"/>
          <p:cNvSpPr/>
          <p:nvPr/>
        </p:nvSpPr>
        <p:spPr>
          <a:xfrm>
            <a:off x="952500" y="5080000"/>
            <a:ext cx="10541000" cy="12700"/>
          </a:xfrm>
          <a:prstGeom prst="rect">
            <a:avLst/>
          </a:prstGeom>
          <a:solidFill>
            <a:srgbClr val="1D35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undary"/>
          <p:cNvSpPr txBox="1"/>
          <p:nvPr/>
        </p:nvSpPr>
        <p:spPr>
          <a:xfrm>
            <a:off x="952500" y="5232400"/>
            <a:ext cx="10541000" cy="304800"/>
          </a:xfrm>
          <a:prstGeom prst="rect">
            <a:avLst/>
          </a:prstGeom>
          <a:noFill/>
        </p:spPr>
        <p:txBody>
          <a:bodyPr wrap="square" lIns="0" rIns="0" tIns="0" bIns="0" anchor="t">
            <a:noAutofit/>
          </a:bodyPr>
          <a:lstStyle/>
          <a:p>
            <a:pPr algn="l">
              <a:lnSpc>
                <a:spcPts val="2160"/>
              </a:lnSpc>
              <a:spcBef>
                <a:spcPts val="0"/>
              </a:spcBef>
              <a:spcAft>
                <a:spcPts val="0"/>
              </a:spcAft>
            </a:pPr>
            <a:r>
              <a:rPr sz="1800" b="1">
                <a:solidFill>
                  <a:srgbClr val="E3ECF7"/>
                </a:solidFill>
                <a:latin typeface="Aptos"/>
              </a:rPr>
              <a:t>Clinical evidence boundary: SOURCE_A + explicit SOURCE_B corrections only</a:t>
            </a:r>
          </a:p>
        </p:txBody>
      </p:sp>
      <p:sp>
        <p:nvSpPr>
          <p:cNvPr id="21" name="Boundary detail"/>
          <p:cNvSpPr txBox="1"/>
          <p:nvPr/>
        </p:nvSpPr>
        <p:spPr>
          <a:xfrm>
            <a:off x="952500" y="5588000"/>
            <a:ext cx="10541000" cy="6096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B7C6D8"/>
                </a:solidFill>
                <a:latin typeface="Aptos"/>
              </a:rPr>
              <a:t>No web clinical evidence • no textbook supplementation • no remembered medical knowledge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Eyebrow"/>
          <p:cNvSpPr txBox="1"/>
          <p:nvPr/>
        </p:nvSpPr>
        <p:spPr>
          <a:xfrm>
            <a:off x="406400" y="2794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175CD3"/>
                </a:solidFill>
                <a:latin typeface="Aptos"/>
              </a:rPr>
              <a:t>TEACHING CONTRACT</a:t>
            </a:r>
          </a:p>
        </p:txBody>
      </p:sp>
      <p:sp>
        <p:nvSpPr>
          <p:cNvPr id="3" name="Title"/>
          <p:cNvSpPr txBox="1"/>
          <p:nvPr/>
        </p:nvSpPr>
        <p:spPr>
          <a:xfrm>
            <a:off x="406400" y="609600"/>
            <a:ext cx="11379200" cy="584200"/>
          </a:xfrm>
          <a:prstGeom prst="rect">
            <a:avLst/>
          </a:prstGeom>
          <a:noFill/>
        </p:spPr>
        <p:txBody>
          <a:bodyPr wrap="none" lIns="0" rIns="0" tIns="0" bIns="0" anchor="ctr">
            <a:noAutofit/>
          </a:bodyPr>
          <a:lstStyle/>
          <a:p>
            <a:pPr algn="l">
              <a:lnSpc>
                <a:spcPts val="4320"/>
              </a:lnSpc>
              <a:spcBef>
                <a:spcPts val="0"/>
              </a:spcBef>
              <a:spcAft>
                <a:spcPts val="0"/>
              </a:spcAft>
            </a:pPr>
            <a:r>
              <a:rPr sz="3600" b="1">
                <a:solidFill>
                  <a:srgbClr val="0B1F33"/>
                </a:solidFill>
                <a:latin typeface="Aptos Display"/>
              </a:rPr>
              <a:t>Decide first. Then reveal the source.</a:t>
            </a:r>
          </a:p>
        </p:txBody>
      </p:sp>
      <p:sp>
        <p:nvSpPr>
          <p:cNvPr id="4" name="Row card"/>
          <p:cNvSpPr/>
          <p:nvPr/>
        </p:nvSpPr>
        <p:spPr>
          <a:xfrm>
            <a:off x="406400" y="1371600"/>
            <a:ext cx="11379200" cy="939800"/>
          </a:xfrm>
          <a:prstGeom prst="roundRect">
            <a:avLst>
              <a:gd name="adj" fmla="val 8108"/>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w stripe"/>
          <p:cNvSpPr/>
          <p:nvPr/>
        </p:nvSpPr>
        <p:spPr>
          <a:xfrm>
            <a:off x="406400" y="1371600"/>
            <a:ext cx="63500" cy="939800"/>
          </a:xfrm>
          <a:prstGeom prst="rect">
            <a:avLst/>
          </a:prstGeom>
          <a:solidFill>
            <a:srgbClr val="2E9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w number"/>
          <p:cNvSpPr/>
          <p:nvPr/>
        </p:nvSpPr>
        <p:spPr>
          <a:xfrm>
            <a:off x="685800" y="1612900"/>
            <a:ext cx="457200" cy="457200"/>
          </a:xfrm>
          <a:prstGeom prst="roundRect">
            <a:avLst>
              <a:gd name="adj" fmla="val 50000"/>
            </a:avLst>
          </a:prstGeom>
          <a:solidFill>
            <a:srgbClr val="2E9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2160"/>
              </a:lnSpc>
              <a:spcBef>
                <a:spcPts val="0"/>
              </a:spcBef>
              <a:spcAft>
                <a:spcPts val="0"/>
              </a:spcAft>
            </a:pPr>
            <a:r>
              <a:rPr sz="1800" b="1">
                <a:solidFill>
                  <a:srgbClr val="FFFFFF"/>
                </a:solidFill>
                <a:latin typeface="Aptos"/>
              </a:rPr>
              <a:t>1</a:t>
            </a:r>
          </a:p>
        </p:txBody>
      </p:sp>
      <p:sp>
        <p:nvSpPr>
          <p:cNvPr id="7" name="Row label"/>
          <p:cNvSpPr txBox="1"/>
          <p:nvPr/>
        </p:nvSpPr>
        <p:spPr>
          <a:xfrm>
            <a:off x="1346200" y="1371600"/>
            <a:ext cx="2743200" cy="939800"/>
          </a:xfrm>
          <a:prstGeom prst="rect">
            <a:avLst/>
          </a:prstGeom>
          <a:noFill/>
        </p:spPr>
        <p:txBody>
          <a:bodyPr wrap="none" lIns="0" rIns="0" tIns="0" bIns="0" anchor="ctr">
            <a:noAutofit/>
          </a:bodyPr>
          <a:lstStyle/>
          <a:p>
            <a:pPr algn="l">
              <a:lnSpc>
                <a:spcPts val="2400"/>
              </a:lnSpc>
              <a:spcBef>
                <a:spcPts val="0"/>
              </a:spcBef>
              <a:spcAft>
                <a:spcPts val="0"/>
              </a:spcAft>
            </a:pPr>
            <a:r>
              <a:rPr sz="2000" b="1" spc="50">
                <a:solidFill>
                  <a:srgbClr val="0B1F33"/>
                </a:solidFill>
                <a:latin typeface="Aptos"/>
              </a:rPr>
              <a:t>CASE</a:t>
            </a:r>
          </a:p>
        </p:txBody>
      </p:sp>
      <p:sp>
        <p:nvSpPr>
          <p:cNvPr id="8" name="Row text"/>
          <p:cNvSpPr txBox="1"/>
          <p:nvPr/>
        </p:nvSpPr>
        <p:spPr>
          <a:xfrm>
            <a:off x="4191000" y="1371600"/>
            <a:ext cx="7416800" cy="939800"/>
          </a:xfrm>
          <a:prstGeom prst="rect">
            <a:avLst/>
          </a:prstGeom>
          <a:noFill/>
        </p:spPr>
        <p:txBody>
          <a:bodyPr wrap="square" lIns="0" rIns="0" tIns="0" bIns="0" anchor="ctr">
            <a:noAutofit/>
          </a:bodyPr>
          <a:lstStyle/>
          <a:p>
            <a:pPr algn="l">
              <a:lnSpc>
                <a:spcPts val="2760"/>
              </a:lnSpc>
              <a:spcBef>
                <a:spcPts val="0"/>
              </a:spcBef>
              <a:spcAft>
                <a:spcPts val="0"/>
              </a:spcAft>
            </a:pPr>
            <a:r>
              <a:rPr sz="2400" b="0">
                <a:solidFill>
                  <a:srgbClr val="17212B"/>
                </a:solidFill>
                <a:latin typeface="Aptos"/>
              </a:rPr>
              <a:t>Read only the source-derived scenario.</a:t>
            </a:r>
          </a:p>
        </p:txBody>
      </p:sp>
      <p:sp>
        <p:nvSpPr>
          <p:cNvPr id="9" name="Row card"/>
          <p:cNvSpPr/>
          <p:nvPr/>
        </p:nvSpPr>
        <p:spPr>
          <a:xfrm>
            <a:off x="406400" y="2438400"/>
            <a:ext cx="11379200" cy="939800"/>
          </a:xfrm>
          <a:prstGeom prst="roundRect">
            <a:avLst>
              <a:gd name="adj" fmla="val 8108"/>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w stripe"/>
          <p:cNvSpPr/>
          <p:nvPr/>
        </p:nvSpPr>
        <p:spPr>
          <a:xfrm>
            <a:off x="406400" y="2438400"/>
            <a:ext cx="63500" cy="9398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w number"/>
          <p:cNvSpPr/>
          <p:nvPr/>
        </p:nvSpPr>
        <p:spPr>
          <a:xfrm>
            <a:off x="685800" y="2679700"/>
            <a:ext cx="457200" cy="4572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2160"/>
              </a:lnSpc>
              <a:spcBef>
                <a:spcPts val="0"/>
              </a:spcBef>
              <a:spcAft>
                <a:spcPts val="0"/>
              </a:spcAft>
            </a:pPr>
            <a:r>
              <a:rPr sz="1800" b="1">
                <a:solidFill>
                  <a:srgbClr val="FFFFFF"/>
                </a:solidFill>
                <a:latin typeface="Aptos"/>
              </a:rPr>
              <a:t>2</a:t>
            </a:r>
          </a:p>
        </p:txBody>
      </p:sp>
      <p:sp>
        <p:nvSpPr>
          <p:cNvPr id="12" name="Row label"/>
          <p:cNvSpPr txBox="1"/>
          <p:nvPr/>
        </p:nvSpPr>
        <p:spPr>
          <a:xfrm>
            <a:off x="1346200" y="2438400"/>
            <a:ext cx="2743200" cy="939800"/>
          </a:xfrm>
          <a:prstGeom prst="rect">
            <a:avLst/>
          </a:prstGeom>
          <a:noFill/>
        </p:spPr>
        <p:txBody>
          <a:bodyPr wrap="none" lIns="0" rIns="0" tIns="0" bIns="0" anchor="ctr">
            <a:noAutofit/>
          </a:bodyPr>
          <a:lstStyle/>
          <a:p>
            <a:pPr algn="l">
              <a:lnSpc>
                <a:spcPts val="2400"/>
              </a:lnSpc>
              <a:spcBef>
                <a:spcPts val="0"/>
              </a:spcBef>
              <a:spcAft>
                <a:spcPts val="0"/>
              </a:spcAft>
            </a:pPr>
            <a:r>
              <a:rPr sz="2000" b="1" spc="50">
                <a:solidFill>
                  <a:srgbClr val="0B1F33"/>
                </a:solidFill>
                <a:latin typeface="Aptos"/>
              </a:rPr>
              <a:t>DECIDE</a:t>
            </a:r>
          </a:p>
        </p:txBody>
      </p:sp>
      <p:sp>
        <p:nvSpPr>
          <p:cNvPr id="13" name="Row text"/>
          <p:cNvSpPr txBox="1"/>
          <p:nvPr/>
        </p:nvSpPr>
        <p:spPr>
          <a:xfrm>
            <a:off x="4191000" y="2438400"/>
            <a:ext cx="7416800" cy="939800"/>
          </a:xfrm>
          <a:prstGeom prst="rect">
            <a:avLst/>
          </a:prstGeom>
          <a:noFill/>
        </p:spPr>
        <p:txBody>
          <a:bodyPr wrap="square" lIns="0" rIns="0" tIns="0" bIns="0" anchor="ctr">
            <a:noAutofit/>
          </a:bodyPr>
          <a:lstStyle/>
          <a:p>
            <a:pPr algn="l">
              <a:lnSpc>
                <a:spcPts val="2760"/>
              </a:lnSpc>
              <a:spcBef>
                <a:spcPts val="0"/>
              </a:spcBef>
              <a:spcAft>
                <a:spcPts val="0"/>
              </a:spcAft>
            </a:pPr>
            <a:r>
              <a:rPr sz="2400" b="0">
                <a:solidFill>
                  <a:srgbClr val="17212B"/>
                </a:solidFill>
                <a:latin typeface="Aptos"/>
              </a:rPr>
              <a:t>Commit to the next clinical decision.</a:t>
            </a:r>
          </a:p>
        </p:txBody>
      </p:sp>
      <p:sp>
        <p:nvSpPr>
          <p:cNvPr id="14" name="Row card"/>
          <p:cNvSpPr/>
          <p:nvPr/>
        </p:nvSpPr>
        <p:spPr>
          <a:xfrm>
            <a:off x="406400" y="3505200"/>
            <a:ext cx="11379200" cy="939800"/>
          </a:xfrm>
          <a:prstGeom prst="roundRect">
            <a:avLst>
              <a:gd name="adj" fmla="val 8108"/>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w stripe"/>
          <p:cNvSpPr/>
          <p:nvPr/>
        </p:nvSpPr>
        <p:spPr>
          <a:xfrm>
            <a:off x="406400" y="3505200"/>
            <a:ext cx="63500" cy="9398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w number"/>
          <p:cNvSpPr/>
          <p:nvPr/>
        </p:nvSpPr>
        <p:spPr>
          <a:xfrm>
            <a:off x="685800" y="3746500"/>
            <a:ext cx="457200" cy="4572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2160"/>
              </a:lnSpc>
              <a:spcBef>
                <a:spcPts val="0"/>
              </a:spcBef>
              <a:spcAft>
                <a:spcPts val="0"/>
              </a:spcAft>
            </a:pPr>
            <a:r>
              <a:rPr sz="1800" b="1">
                <a:solidFill>
                  <a:srgbClr val="FFFFFF"/>
                </a:solidFill>
                <a:latin typeface="Aptos"/>
              </a:rPr>
              <a:t>3</a:t>
            </a:r>
          </a:p>
        </p:txBody>
      </p:sp>
      <p:sp>
        <p:nvSpPr>
          <p:cNvPr id="17" name="Row label"/>
          <p:cNvSpPr txBox="1"/>
          <p:nvPr/>
        </p:nvSpPr>
        <p:spPr>
          <a:xfrm>
            <a:off x="1346200" y="3505200"/>
            <a:ext cx="2743200" cy="939800"/>
          </a:xfrm>
          <a:prstGeom prst="rect">
            <a:avLst/>
          </a:prstGeom>
          <a:noFill/>
        </p:spPr>
        <p:txBody>
          <a:bodyPr wrap="none" lIns="0" rIns="0" tIns="0" bIns="0" anchor="ctr">
            <a:noAutofit/>
          </a:bodyPr>
          <a:lstStyle/>
          <a:p>
            <a:pPr algn="l">
              <a:lnSpc>
                <a:spcPts val="2400"/>
              </a:lnSpc>
              <a:spcBef>
                <a:spcPts val="0"/>
              </a:spcBef>
              <a:spcAft>
                <a:spcPts val="0"/>
              </a:spcAft>
            </a:pPr>
            <a:r>
              <a:rPr sz="2000" b="1" spc="50">
                <a:solidFill>
                  <a:srgbClr val="0B1F33"/>
                </a:solidFill>
                <a:latin typeface="Aptos"/>
              </a:rPr>
              <a:t>SOURCE REVEAL</a:t>
            </a:r>
          </a:p>
        </p:txBody>
      </p:sp>
      <p:sp>
        <p:nvSpPr>
          <p:cNvPr id="18" name="Row text"/>
          <p:cNvSpPr txBox="1"/>
          <p:nvPr/>
        </p:nvSpPr>
        <p:spPr>
          <a:xfrm>
            <a:off x="4191000" y="3505200"/>
            <a:ext cx="7416800" cy="939800"/>
          </a:xfrm>
          <a:prstGeom prst="rect">
            <a:avLst/>
          </a:prstGeom>
          <a:noFill/>
        </p:spPr>
        <p:txBody>
          <a:bodyPr wrap="square" lIns="0" rIns="0" tIns="0" bIns="0" anchor="ctr">
            <a:noAutofit/>
          </a:bodyPr>
          <a:lstStyle/>
          <a:p>
            <a:pPr algn="l">
              <a:lnSpc>
                <a:spcPts val="2760"/>
              </a:lnSpc>
              <a:spcBef>
                <a:spcPts val="0"/>
              </a:spcBef>
              <a:spcAft>
                <a:spcPts val="0"/>
              </a:spcAft>
            </a:pPr>
            <a:r>
              <a:rPr sz="2400" b="0">
                <a:solidFill>
                  <a:srgbClr val="17212B"/>
                </a:solidFill>
                <a:latin typeface="Aptos"/>
              </a:rPr>
              <a:t>Compare your choice with the locked guideline decision.</a:t>
            </a:r>
          </a:p>
        </p:txBody>
      </p:sp>
      <p:sp>
        <p:nvSpPr>
          <p:cNvPr id="19" name="Row card"/>
          <p:cNvSpPr/>
          <p:nvPr/>
        </p:nvSpPr>
        <p:spPr>
          <a:xfrm>
            <a:off x="406400" y="4572000"/>
            <a:ext cx="11379200" cy="939800"/>
          </a:xfrm>
          <a:prstGeom prst="roundRect">
            <a:avLst>
              <a:gd name="adj" fmla="val 8108"/>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w stripe"/>
          <p:cNvSpPr/>
          <p:nvPr/>
        </p:nvSpPr>
        <p:spPr>
          <a:xfrm>
            <a:off x="406400" y="4572000"/>
            <a:ext cx="63500" cy="939800"/>
          </a:xfrm>
          <a:prstGeom prst="rect">
            <a:avLst/>
          </a:prstGeom>
          <a:solidFill>
            <a:srgbClr val="6B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w number"/>
          <p:cNvSpPr/>
          <p:nvPr/>
        </p:nvSpPr>
        <p:spPr>
          <a:xfrm>
            <a:off x="685800" y="4813300"/>
            <a:ext cx="457200" cy="457200"/>
          </a:xfrm>
          <a:prstGeom prst="roundRect">
            <a:avLst>
              <a:gd name="adj" fmla="val 50000"/>
            </a:avLst>
          </a:prstGeom>
          <a:solidFill>
            <a:srgbClr val="6B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2160"/>
              </a:lnSpc>
              <a:spcBef>
                <a:spcPts val="0"/>
              </a:spcBef>
              <a:spcAft>
                <a:spcPts val="0"/>
              </a:spcAft>
            </a:pPr>
            <a:r>
              <a:rPr sz="1800" b="1">
                <a:solidFill>
                  <a:srgbClr val="FFFFFF"/>
                </a:solidFill>
                <a:latin typeface="Aptos"/>
              </a:rPr>
              <a:t>4</a:t>
            </a:r>
          </a:p>
        </p:txBody>
      </p:sp>
      <p:sp>
        <p:nvSpPr>
          <p:cNvPr id="22" name="Row label"/>
          <p:cNvSpPr txBox="1"/>
          <p:nvPr/>
        </p:nvSpPr>
        <p:spPr>
          <a:xfrm>
            <a:off x="1346200" y="4572000"/>
            <a:ext cx="2743200" cy="939800"/>
          </a:xfrm>
          <a:prstGeom prst="rect">
            <a:avLst/>
          </a:prstGeom>
          <a:noFill/>
        </p:spPr>
        <p:txBody>
          <a:bodyPr wrap="none" lIns="0" rIns="0" tIns="0" bIns="0" anchor="ctr">
            <a:noAutofit/>
          </a:bodyPr>
          <a:lstStyle/>
          <a:p>
            <a:pPr algn="l">
              <a:lnSpc>
                <a:spcPts val="2400"/>
              </a:lnSpc>
              <a:spcBef>
                <a:spcPts val="0"/>
              </a:spcBef>
              <a:spcAft>
                <a:spcPts val="0"/>
              </a:spcAft>
            </a:pPr>
            <a:r>
              <a:rPr sz="2000" b="1" spc="50">
                <a:solidFill>
                  <a:srgbClr val="0B1F33"/>
                </a:solidFill>
                <a:latin typeface="Aptos"/>
              </a:rPr>
              <a:t>QUALIFIERS</a:t>
            </a:r>
          </a:p>
        </p:txBody>
      </p:sp>
      <p:sp>
        <p:nvSpPr>
          <p:cNvPr id="23" name="Row text"/>
          <p:cNvSpPr txBox="1"/>
          <p:nvPr/>
        </p:nvSpPr>
        <p:spPr>
          <a:xfrm>
            <a:off x="4191000" y="4572000"/>
            <a:ext cx="7416800" cy="939800"/>
          </a:xfrm>
          <a:prstGeom prst="rect">
            <a:avLst/>
          </a:prstGeom>
          <a:noFill/>
        </p:spPr>
        <p:txBody>
          <a:bodyPr wrap="square" lIns="0" rIns="0" tIns="0" bIns="0" anchor="ctr">
            <a:noAutofit/>
          </a:bodyPr>
          <a:lstStyle/>
          <a:p>
            <a:pPr algn="l">
              <a:lnSpc>
                <a:spcPts val="2760"/>
              </a:lnSpc>
              <a:spcBef>
                <a:spcPts val="0"/>
              </a:spcBef>
              <a:spcAft>
                <a:spcPts val="0"/>
              </a:spcAft>
            </a:pPr>
            <a:r>
              <a:rPr sz="2400" b="0">
                <a:solidFill>
                  <a:srgbClr val="17212B"/>
                </a:solidFill>
                <a:latin typeface="Aptos"/>
              </a:rPr>
              <a:t>Use speaker notes for complete source qualifiers/provenance.</a:t>
            </a:r>
          </a:p>
        </p:txBody>
      </p:sp>
      <p:sp>
        <p:nvSpPr>
          <p:cNvPr id="24" name="Note"/>
          <p:cNvSpPr/>
          <p:nvPr/>
        </p:nvSpPr>
        <p:spPr>
          <a:xfrm>
            <a:off x="406400" y="5664200"/>
            <a:ext cx="11379200" cy="477520"/>
          </a:xfrm>
          <a:prstGeom prst="roundRect">
            <a:avLst>
              <a:gd name="adj" fmla="val 15957"/>
            </a:avLst>
          </a:prstGeom>
          <a:solidFill>
            <a:srgbClr val="EAF2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0" bIns="0">
            <a:noAutofit/>
          </a:bodyPr>
          <a:lstStyle/>
          <a:p>
            <a:pPr algn="l">
              <a:lnSpc>
                <a:spcPts val="2160"/>
              </a:lnSpc>
              <a:spcBef>
                <a:spcPts val="0"/>
              </a:spcBef>
              <a:spcAft>
                <a:spcPts val="0"/>
              </a:spcAft>
            </a:pPr>
            <a:r>
              <a:rPr sz="1800" b="1">
                <a:solidFill>
                  <a:srgbClr val="175CD3"/>
                </a:solidFill>
                <a:latin typeface="Aptos"/>
              </a:rPr>
              <a:t>Audience tiers change teaching order only; they do not change the frozen clinical content.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01</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M01</a:t>
            </a:r>
          </a:p>
        </p:txBody>
      </p:sp>
      <p:sp>
        <p:nvSpPr>
          <p:cNvPr id="5" name="Module name"/>
          <p:cNvSpPr txBox="1"/>
          <p:nvPr/>
        </p:nvSpPr>
        <p:spPr>
          <a:xfrm>
            <a:off x="660400" y="2095500"/>
            <a:ext cx="9525000" cy="72263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Foundations &amp; Screening</a:t>
            </a:r>
          </a:p>
        </p:txBody>
      </p:sp>
      <p:sp>
        <p:nvSpPr>
          <p:cNvPr id="6" name="Module meta"/>
          <p:cNvSpPr txBox="1"/>
          <p:nvPr/>
        </p:nvSpPr>
        <p:spPr>
          <a:xfrm>
            <a:off x="660400" y="309753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4 Core GP cases • 0 Important cases in Master/Core route</a:t>
            </a:r>
          </a:p>
        </p:txBody>
      </p:sp>
      <p:sp>
        <p:nvSpPr>
          <p:cNvPr id="7" name="Divider rule"/>
          <p:cNvSpPr/>
          <p:nvPr/>
        </p:nvSpPr>
        <p:spPr>
          <a:xfrm>
            <a:off x="660400" y="378333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03733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03733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03733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462153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Foundations &amp; Screening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12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01"/>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001</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01"/>
          <p:cNvSpPr txBox="1"/>
          <p:nvPr/>
        </p:nvSpPr>
        <p:spPr>
          <a:xfrm>
            <a:off x="622300"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An adult presents for lipid screening. At what age and interval should lipid screening occur, and when is more frequent screening indicated?</a:t>
            </a:r>
          </a:p>
        </p:txBody>
      </p:sp>
      <p:sp>
        <p:nvSpPr>
          <p:cNvPr id="14" name="Card CASE 002"/>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002</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02"/>
          <p:cNvSpPr txBox="1"/>
          <p:nvPr/>
        </p:nvSpPr>
        <p:spPr>
          <a:xfrm>
            <a:off x="4474633"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Consider children 9 to 11 y of age not previously tested. What lipid screening is indicated?</a:t>
            </a:r>
          </a:p>
        </p:txBody>
      </p:sp>
      <p:sp>
        <p:nvSpPr>
          <p:cNvPr id="20" name="Card CASE 003"/>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003</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03"/>
          <p:cNvSpPr txBox="1"/>
          <p:nvPr/>
        </p:nvSpPr>
        <p:spPr>
          <a:xfrm>
            <a:off x="8326967"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Consider individuals with first- or second-degree relatives with premature ASCVD, severe hypercholesterolemia, or FH. When and how should relatives be screened for FH?</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SOURCE REVEAL — Foundations &amp; Screening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12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01"/>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001</a:t>
            </a:r>
          </a:p>
        </p:txBody>
      </p:sp>
      <p:sp>
        <p:nvSpPr>
          <p:cNvPr id="12" name="Reveal label"/>
          <p:cNvSpPr txBox="1"/>
          <p:nvPr/>
        </p:nvSpPr>
        <p:spPr>
          <a:xfrm>
            <a:off x="2047834"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13" name="COR/LOE badge"/>
          <p:cNvSpPr/>
          <p:nvPr/>
        </p:nvSpPr>
        <p:spPr>
          <a:xfrm>
            <a:off x="3067774"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14" name="Body CASE 001"/>
          <p:cNvSpPr txBox="1"/>
          <p:nvPr/>
        </p:nvSpPr>
        <p:spPr>
          <a:xfrm>
            <a:off x="622300"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screening with a lipid profile is recommended beginning at age 19 y and at least every 5 y thereafter to identify treatable ASCVD risk, with frequent screening recommended for individuals with additional ASCVD risk factors.</a:t>
            </a:r>
          </a:p>
        </p:txBody>
      </p:sp>
      <p:sp>
        <p:nvSpPr>
          <p:cNvPr id="15" name="Card CASE 002"/>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002</a:t>
            </a:r>
          </a:p>
        </p:txBody>
      </p:sp>
      <p:sp>
        <p:nvSpPr>
          <p:cNvPr id="19" name="Reveal label"/>
          <p:cNvSpPr txBox="1"/>
          <p:nvPr/>
        </p:nvSpPr>
        <p:spPr>
          <a:xfrm>
            <a:off x="5900168"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0" name="COR/LOE badge"/>
          <p:cNvSpPr/>
          <p:nvPr/>
        </p:nvSpPr>
        <p:spPr>
          <a:xfrm>
            <a:off x="6920107"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21" name="Body CASE 002"/>
          <p:cNvSpPr txBox="1"/>
          <p:nvPr/>
        </p:nvSpPr>
        <p:spPr>
          <a:xfrm>
            <a:off x="4474633"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children 9 to 11 y of age not previously tested, it is recommended to screen with a lipid profile to identify familial hypercholesterolemia (FH) and other significant lipid disorders.</a:t>
            </a:r>
          </a:p>
        </p:txBody>
      </p:sp>
      <p:sp>
        <p:nvSpPr>
          <p:cNvPr id="22" name="Card CASE 003"/>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003</a:t>
            </a:r>
          </a:p>
        </p:txBody>
      </p:sp>
      <p:sp>
        <p:nvSpPr>
          <p:cNvPr id="26" name="Reveal label"/>
          <p:cNvSpPr txBox="1"/>
          <p:nvPr/>
        </p:nvSpPr>
        <p:spPr>
          <a:xfrm>
            <a:off x="9641885"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661824" y="1498600"/>
            <a:ext cx="971376"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6B4B00"/>
                </a:solidFill>
                <a:latin typeface="Aptos"/>
              </a:rPr>
              <a:t>2a/B-NR</a:t>
            </a:r>
          </a:p>
        </p:txBody>
      </p:sp>
      <p:sp>
        <p:nvSpPr>
          <p:cNvPr id="28" name="Body CASE 003"/>
          <p:cNvSpPr txBox="1"/>
          <p:nvPr/>
        </p:nvSpPr>
        <p:spPr>
          <a:xfrm>
            <a:off x="8326967"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individuals with first- or second-degree relatives with premature ASCVD, severe hypercholesterolemia, or FH, it is reasonable to perform screening with a single lipid profile (eg, cascade screening) starting at ≥2 y of age to identify FH.</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Foundations &amp; Screening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12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6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162</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162</a:t>
            </a:r>
          </a:p>
        </p:txBody>
      </p:sp>
      <p:sp>
        <p:nvSpPr>
          <p:cNvPr id="14" name="Body CASE 162"/>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 child is undergoing routine lipid screening. Which lipid tests does the guideline use, and is apoB part of routine pediatric screening?</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SOURCE REVEAL — Foundations &amp; Screening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12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6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162</a:t>
            </a:r>
          </a:p>
        </p:txBody>
      </p:sp>
      <p:sp>
        <p:nvSpPr>
          <p:cNvPr id="12"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162</a:t>
            </a:r>
          </a:p>
        </p:txBody>
      </p:sp>
      <p:sp>
        <p:nvSpPr>
          <p:cNvPr id="14" name="Body CASE 162"/>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ApoB measurement is not part of routine pediatric lipid screening; pediatric screening can use nonfasting TC/HDL-C to calculate non-HDL-C or a fasting lipid profile.</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02</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M02</a:t>
            </a:r>
          </a:p>
        </p:txBody>
      </p:sp>
      <p:sp>
        <p:nvSpPr>
          <p:cNvPr id="5" name="Module name"/>
          <p:cNvSpPr txBox="1"/>
          <p:nvPr/>
        </p:nvSpPr>
        <p:spPr>
          <a:xfrm>
            <a:off x="660400" y="2095500"/>
            <a:ext cx="9525000" cy="139446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Measurement, ApoB, Lp(a) &amp; Monitoring</a:t>
            </a:r>
          </a:p>
        </p:txBody>
      </p:sp>
      <p:sp>
        <p:nvSpPr>
          <p:cNvPr id="6" name="Module meta"/>
          <p:cNvSpPr txBox="1"/>
          <p:nvPr/>
        </p:nvSpPr>
        <p:spPr>
          <a:xfrm>
            <a:off x="660400" y="376936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12 Core GP cases • 0 Important cases in Master/Core route</a:t>
            </a:r>
          </a:p>
        </p:txBody>
      </p:sp>
      <p:sp>
        <p:nvSpPr>
          <p:cNvPr id="7" name="Divider rule"/>
          <p:cNvSpPr/>
          <p:nvPr/>
        </p:nvSpPr>
        <p:spPr>
          <a:xfrm>
            <a:off x="660400" y="445516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70916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70916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70916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529336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DECIDE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04"/>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004</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04"/>
          <p:cNvSpPr txBox="1"/>
          <p:nvPr/>
        </p:nvSpPr>
        <p:spPr>
          <a:xfrm>
            <a:off x="622300"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An adult or child needs a baseline lipid assessment. Which lipid profile is appropriate, and what clinical decisions should it support?</a:t>
            </a:r>
          </a:p>
        </p:txBody>
      </p:sp>
      <p:sp>
        <p:nvSpPr>
          <p:cNvPr id="14" name="Card CASE 005"/>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005</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05"/>
          <p:cNvSpPr txBox="1"/>
          <p:nvPr/>
        </p:nvSpPr>
        <p:spPr>
          <a:xfrm>
            <a:off x="4474633"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Consider adults and children with a family history of dyslipidemia or premature ASCVD, a personally known or suspected disorder in TG metabolism, or whose nonfasting lipid profile reveals a TG level ≥400 mg/dL (≥4.5 mmol/L). When is a fasting lipid profile indicated?</a:t>
            </a:r>
          </a:p>
        </p:txBody>
      </p:sp>
      <p:sp>
        <p:nvSpPr>
          <p:cNvPr id="20" name="Card CASE 006"/>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006</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06"/>
          <p:cNvSpPr txBox="1"/>
          <p:nvPr/>
        </p:nvSpPr>
        <p:spPr>
          <a:xfrm>
            <a:off x="8326967"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An adult or child has a standard lipid profile and needs an LDL-C estimate. How do the Martin/Hopkins and Sampson/NIH equations compare with Friedewald calculation for this decision?</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360"/>
              </a:lnSpc>
              <a:spcBef>
                <a:spcPts val="0"/>
              </a:spcBef>
              <a:spcAft>
                <a:spcPts val="0"/>
              </a:spcAft>
            </a:pPr>
            <a:r>
              <a:rPr sz="2800" b="1">
                <a:solidFill>
                  <a:srgbClr val="0B1F33"/>
                </a:solidFill>
                <a:latin typeface="Aptos Display"/>
              </a:rPr>
              <a:t>SOURCE REVEAL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04"/>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004</a:t>
            </a:r>
          </a:p>
        </p:txBody>
      </p:sp>
      <p:sp>
        <p:nvSpPr>
          <p:cNvPr id="12" name="Reveal label"/>
          <p:cNvSpPr txBox="1"/>
          <p:nvPr/>
        </p:nvSpPr>
        <p:spPr>
          <a:xfrm>
            <a:off x="2047834"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13" name="COR/LOE badge"/>
          <p:cNvSpPr/>
          <p:nvPr/>
        </p:nvSpPr>
        <p:spPr>
          <a:xfrm>
            <a:off x="3067774"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14" name="Body CASE 004"/>
          <p:cNvSpPr txBox="1"/>
          <p:nvPr/>
        </p:nvSpPr>
        <p:spPr>
          <a:xfrm>
            <a:off x="622300"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and children, a standard nonfasting or fasting lipid profile is recommended to document baseline lipid levels, estimate ASCVD risk, and guide initiation of LLT.</a:t>
            </a:r>
          </a:p>
        </p:txBody>
      </p:sp>
      <p:sp>
        <p:nvSpPr>
          <p:cNvPr id="15" name="Card CASE 005"/>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005</a:t>
            </a:r>
          </a:p>
        </p:txBody>
      </p:sp>
      <p:sp>
        <p:nvSpPr>
          <p:cNvPr id="19" name="Reveal label"/>
          <p:cNvSpPr txBox="1"/>
          <p:nvPr/>
        </p:nvSpPr>
        <p:spPr>
          <a:xfrm>
            <a:off x="5900168"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0" name="COR/LOE badge"/>
          <p:cNvSpPr/>
          <p:nvPr/>
        </p:nvSpPr>
        <p:spPr>
          <a:xfrm>
            <a:off x="6920107"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21" name="Body CASE 005"/>
          <p:cNvSpPr txBox="1"/>
          <p:nvPr/>
        </p:nvSpPr>
        <p:spPr>
          <a:xfrm>
            <a:off x="4474633"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and children with a family history of dyslipidemia or premature ASCVD, a personally known or suspected disorder in TG metabolism, or whose nonfasting lipid profile reveals a TG level ≥400 mg/dL (≥4.5 mmol/L), a fasting lipid profile should be performed to more accurately estimate the LDL-C level.</a:t>
            </a:r>
          </a:p>
        </p:txBody>
      </p:sp>
      <p:sp>
        <p:nvSpPr>
          <p:cNvPr id="22" name="Card CASE 006"/>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006</a:t>
            </a:r>
          </a:p>
        </p:txBody>
      </p:sp>
      <p:sp>
        <p:nvSpPr>
          <p:cNvPr id="26" name="Reveal label"/>
          <p:cNvSpPr txBox="1"/>
          <p:nvPr/>
        </p:nvSpPr>
        <p:spPr>
          <a:xfrm>
            <a:off x="9752501"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772440"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28" name="Body CASE 006"/>
          <p:cNvSpPr txBox="1"/>
          <p:nvPr/>
        </p:nvSpPr>
        <p:spPr>
          <a:xfrm>
            <a:off x="8326967"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and children who have undergone a standard lipid profile, use of either the Martin/Hopkins equation or the Sampson/National Institutes of Health (NIH) equation is preferred over calculation by the Friedewald equation to estimate LDL-C.</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DECIDE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07"/>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007</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07"/>
          <p:cNvSpPr txBox="1"/>
          <p:nvPr/>
        </p:nvSpPr>
        <p:spPr>
          <a:xfrm>
            <a:off x="622300"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An adult or child has a standard lipid profile and needs an LDL-C estimate. How do the Martin/Hopkins and Sampson/NIH equations compare with direct LDL-C measurement other than beta-quantification?</a:t>
            </a:r>
          </a:p>
        </p:txBody>
      </p:sp>
      <p:sp>
        <p:nvSpPr>
          <p:cNvPr id="14" name="Card CASE 008"/>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008</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08"/>
          <p:cNvSpPr txBox="1"/>
          <p:nvPr/>
        </p:nvSpPr>
        <p:spPr>
          <a:xfrm>
            <a:off x="4474633"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Consider adults and children who have undergone a standard lipid profile. What role does non–HDL-C reporting have after a standard lipid profile?</a:t>
            </a:r>
          </a:p>
        </p:txBody>
      </p:sp>
      <p:sp>
        <p:nvSpPr>
          <p:cNvPr id="20" name="Card CASE 009"/>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009</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09"/>
          <p:cNvSpPr txBox="1"/>
          <p:nvPr/>
        </p:nvSpPr>
        <p:spPr>
          <a:xfrm>
            <a:off x="8326967"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Consider adults and children. Should advanced lipoprotein testing be used routinely for ASCVD risk assessment?</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007</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and children who have undergone a standard lipid profile, use of either the Martin/Hopkins equation or Sampson/NIH equation is preferred over direct LDL-C measurement (other than by beta-quantification) to estimate LDL-C.</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008</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and children who have undergone a standard lipid profile, reporting of non–HDL-C is recommended for ASCVD risk assessment and to guide initiation and monitoring of LLT.</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009</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Benefit/B-NR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adults and children, routine advanced lipoprotein testing (eg, gradient gel electrophoresis, density gradient ultracentrifugation, nuclear magnetic resonance spectroscopy, ion mobility analysis) to assess lipoprotein subclasses and parameters such as LDL particle size is not recommended to estimate ASCVD risk and guide initiation of LLT.</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DECIDE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0"/>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010</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10"/>
          <p:cNvSpPr txBox="1"/>
          <p:nvPr/>
        </p:nvSpPr>
        <p:spPr>
          <a:xfrm>
            <a:off x="622300" y="2108200"/>
            <a:ext cx="52324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An adult on LLT, particularly with ASCVD, CKM syndrome, type 2 diabetes, and/or elevated TG, has achieved LDL-C and/or non–HDL-C goals. What role does apoB measurement have in deciding on further treatment intensification?</a:t>
            </a:r>
          </a:p>
        </p:txBody>
      </p:sp>
      <p:sp>
        <p:nvSpPr>
          <p:cNvPr id="14" name="Card CASE 011"/>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011</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11"/>
          <p:cNvSpPr txBox="1"/>
          <p:nvPr/>
        </p:nvSpPr>
        <p:spPr>
          <a:xfrm>
            <a:off x="6400800" y="2108200"/>
            <a:ext cx="52324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An adult not taking LLT needs ASCVD risk assessment. What role, if any, does apoB measurement have in risk assessment and treatment decisions?</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360"/>
              </a:lnSpc>
              <a:spcBef>
                <a:spcPts val="0"/>
              </a:spcBef>
              <a:spcAft>
                <a:spcPts val="0"/>
              </a:spcAft>
            </a:pPr>
            <a:r>
              <a:rPr sz="2800" b="1">
                <a:solidFill>
                  <a:srgbClr val="0B1F33"/>
                </a:solidFill>
                <a:latin typeface="Aptos Display"/>
              </a:rPr>
              <a:t>SOURCE REVEAL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0"/>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010</a:t>
            </a:r>
          </a:p>
        </p:txBody>
      </p:sp>
      <p:sp>
        <p:nvSpPr>
          <p:cNvPr id="12" name="Reveal label"/>
          <p:cNvSpPr txBox="1"/>
          <p:nvPr/>
        </p:nvSpPr>
        <p:spPr>
          <a:xfrm>
            <a:off x="36442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7772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Body CASE 010"/>
          <p:cNvSpPr txBox="1"/>
          <p:nvPr/>
        </p:nvSpPr>
        <p:spPr>
          <a:xfrm>
            <a:off x="622300" y="2108200"/>
            <a:ext cx="5232400" cy="3759200"/>
          </a:xfrm>
          <a:prstGeom prst="rect">
            <a:avLst/>
          </a:prstGeom>
          <a:noFill/>
        </p:spPr>
        <p:txBody>
          <a:bodyPr wrap="square" lIns="0" rIns="0" tIns="0" bIns="0" anchor="t">
            <a:noAutofit/>
          </a:bodyPr>
          <a:lstStyle/>
          <a:p>
            <a:pPr algn="l">
              <a:lnSpc>
                <a:spcPts val="3125"/>
              </a:lnSpc>
              <a:spcBef>
                <a:spcPts val="0"/>
              </a:spcBef>
              <a:spcAft>
                <a:spcPts val="0"/>
              </a:spcAft>
            </a:pPr>
            <a:r>
              <a:rPr sz="2500" b="0">
                <a:solidFill>
                  <a:srgbClr val="17212B"/>
                </a:solidFill>
                <a:latin typeface="Aptos"/>
              </a:rPr>
              <a:t>In adults on LLT, particularly those with ASCVD, CKM syndrome, type 2 diabetes, and/or elevated TG, measurement of apoB is reasonable to guide decisions regarding further therapeutic intensification once LDL-C and/or non–HDL-C goals are achieved.</a:t>
            </a:r>
          </a:p>
        </p:txBody>
      </p:sp>
      <p:sp>
        <p:nvSpPr>
          <p:cNvPr id="15" name="Card CASE 011"/>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011</a:t>
            </a:r>
          </a:p>
        </p:txBody>
      </p:sp>
      <p:sp>
        <p:nvSpPr>
          <p:cNvPr id="19" name="Reveal label"/>
          <p:cNvSpPr txBox="1"/>
          <p:nvPr/>
        </p:nvSpPr>
        <p:spPr>
          <a:xfrm>
            <a:off x="941670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549654" y="1498600"/>
            <a:ext cx="1083546"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2b/B-NR</a:t>
            </a:r>
          </a:p>
        </p:txBody>
      </p:sp>
      <p:sp>
        <p:nvSpPr>
          <p:cNvPr id="21" name="Body CASE 011"/>
          <p:cNvSpPr txBox="1"/>
          <p:nvPr/>
        </p:nvSpPr>
        <p:spPr>
          <a:xfrm>
            <a:off x="6400800" y="2108200"/>
            <a:ext cx="5232400" cy="3759200"/>
          </a:xfrm>
          <a:prstGeom prst="rect">
            <a:avLst/>
          </a:prstGeom>
          <a:noFill/>
        </p:spPr>
        <p:txBody>
          <a:bodyPr wrap="square" lIns="0" rIns="0" tIns="0" bIns="0" anchor="t">
            <a:noAutofit/>
          </a:bodyPr>
          <a:lstStyle/>
          <a:p>
            <a:pPr algn="l">
              <a:lnSpc>
                <a:spcPts val="3125"/>
              </a:lnSpc>
              <a:spcBef>
                <a:spcPts val="0"/>
              </a:spcBef>
              <a:spcAft>
                <a:spcPts val="0"/>
              </a:spcAft>
            </a:pPr>
            <a:r>
              <a:rPr sz="2500" b="0">
                <a:solidFill>
                  <a:srgbClr val="17212B"/>
                </a:solidFill>
                <a:latin typeface="Aptos"/>
              </a:rPr>
              <a:t>In adults not on LLT, measurement of apoB may be reasonable to enhance ASCVD risk assessment, guide decisions about initiation of LLT, and characterize inherited lipid disorders.</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DECIDE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012</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012</a:t>
            </a:r>
          </a:p>
        </p:txBody>
      </p:sp>
      <p:sp>
        <p:nvSpPr>
          <p:cNvPr id="14" name="Body CASE 012"/>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An adult is undergoing ASCVD risk assessment with Lp(a) testing under consideration. What Lp(a) testing and fasting decisions apply?</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120"/>
              </a:lnSpc>
              <a:spcBef>
                <a:spcPts val="0"/>
              </a:spcBef>
              <a:spcAft>
                <a:spcPts val="0"/>
              </a:spcAft>
            </a:pPr>
            <a:r>
              <a:rPr sz="2600" b="1">
                <a:solidFill>
                  <a:srgbClr val="0B1F33"/>
                </a:solidFill>
                <a:latin typeface="Aptos Display"/>
              </a:rPr>
              <a:t>SOURCE REVEAL 1/2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012</a:t>
            </a:r>
          </a:p>
        </p:txBody>
      </p:sp>
      <p:sp>
        <p:nvSpPr>
          <p:cNvPr id="12" name="Reveal label"/>
          <p:cNvSpPr txBox="1"/>
          <p:nvPr/>
        </p:nvSpPr>
        <p:spPr>
          <a:xfrm>
            <a:off x="95491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6821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012</a:t>
            </a:r>
          </a:p>
        </p:txBody>
      </p:sp>
      <p:sp>
        <p:nvSpPr>
          <p:cNvPr id="15" name="Body CASE 012"/>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In all adults, measurement of Lp(a) concentration is recommended at least once for ASCVD risk assessment.</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120"/>
              </a:lnSpc>
              <a:spcBef>
                <a:spcPts val="0"/>
              </a:spcBef>
              <a:spcAft>
                <a:spcPts val="0"/>
              </a:spcAft>
            </a:pPr>
            <a:r>
              <a:rPr sz="2600" b="1">
                <a:solidFill>
                  <a:srgbClr val="0B1F33"/>
                </a:solidFill>
                <a:latin typeface="Aptos Display"/>
              </a:rPr>
              <a:t>SOURCE REVEAL 2/2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012</a:t>
            </a:r>
          </a:p>
        </p:txBody>
      </p:sp>
      <p:sp>
        <p:nvSpPr>
          <p:cNvPr id="12" name="Reveal label"/>
          <p:cNvSpPr txBox="1"/>
          <p:nvPr/>
        </p:nvSpPr>
        <p:spPr>
          <a:xfrm>
            <a:off x="95491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6821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012</a:t>
            </a:r>
          </a:p>
        </p:txBody>
      </p:sp>
      <p:sp>
        <p:nvSpPr>
          <p:cNvPr id="15" name="Body CASE 012"/>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Fasting is not required for Lp(a) testing.</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DECIDE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3"/>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013</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013</a:t>
            </a:r>
          </a:p>
        </p:txBody>
      </p:sp>
      <p:sp>
        <p:nvSpPr>
          <p:cNvPr id="14" name="Body CASE 013"/>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Consider individuals with FH, premature ASCVD, or high Lp(a). What family screening for elevated Lp(a) is indicated?</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360"/>
              </a:lnSpc>
              <a:spcBef>
                <a:spcPts val="0"/>
              </a:spcBef>
              <a:spcAft>
                <a:spcPts val="0"/>
              </a:spcAft>
            </a:pPr>
            <a:r>
              <a:rPr sz="2800" b="1">
                <a:solidFill>
                  <a:srgbClr val="0B1F33"/>
                </a:solidFill>
                <a:latin typeface="Aptos Display"/>
              </a:rPr>
              <a:t>SOURCE REVEAL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3"/>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013</a:t>
            </a:r>
          </a:p>
        </p:txBody>
      </p:sp>
      <p:sp>
        <p:nvSpPr>
          <p:cNvPr id="12" name="Reveal label"/>
          <p:cNvSpPr txBox="1"/>
          <p:nvPr/>
        </p:nvSpPr>
        <p:spPr>
          <a:xfrm>
            <a:off x="95491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6821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013</a:t>
            </a:r>
          </a:p>
        </p:txBody>
      </p:sp>
      <p:sp>
        <p:nvSpPr>
          <p:cNvPr id="15" name="Body CASE 013"/>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In individuals with FH, premature ASCVD, or high Lp(a), cascade testing of first-degree family members for high Lp(a) concentration is recommended to identify those at increased ASCVD risk.</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DECIDE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4"/>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014</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014</a:t>
            </a:r>
          </a:p>
        </p:txBody>
      </p:sp>
      <p:sp>
        <p:nvSpPr>
          <p:cNvPr id="14" name="Body CASE 014"/>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An individual is undergoing Lp(a) assessment. Which assay characteristics matter, and what role does genetic testing have?</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120"/>
              </a:lnSpc>
              <a:spcBef>
                <a:spcPts val="0"/>
              </a:spcBef>
              <a:spcAft>
                <a:spcPts val="0"/>
              </a:spcAft>
            </a:pPr>
            <a:r>
              <a:rPr sz="2600" b="1">
                <a:solidFill>
                  <a:srgbClr val="0B1F33"/>
                </a:solidFill>
                <a:latin typeface="Aptos Display"/>
              </a:rPr>
              <a:t>SOURCE REVEAL 1/2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4"/>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014</a:t>
            </a:r>
          </a:p>
        </p:txBody>
      </p:sp>
      <p:sp>
        <p:nvSpPr>
          <p:cNvPr id="12" name="Reveal label"/>
          <p:cNvSpPr txBox="1"/>
          <p:nvPr/>
        </p:nvSpPr>
        <p:spPr>
          <a:xfrm>
            <a:off x="95491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6821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014</a:t>
            </a:r>
          </a:p>
        </p:txBody>
      </p:sp>
      <p:sp>
        <p:nvSpPr>
          <p:cNvPr id="15" name="Body CASE 014"/>
          <p:cNvSpPr txBox="1"/>
          <p:nvPr/>
        </p:nvSpPr>
        <p:spPr>
          <a:xfrm>
            <a:off x="622300" y="2108200"/>
            <a:ext cx="8343900" cy="3759200"/>
          </a:xfrm>
          <a:prstGeom prst="rect">
            <a:avLst/>
          </a:prstGeom>
          <a:noFill/>
        </p:spPr>
        <p:txBody>
          <a:bodyPr wrap="square" lIns="0" rIns="0" tIns="0" bIns="0" anchor="t">
            <a:noAutofit/>
          </a:bodyPr>
          <a:lstStyle/>
          <a:p>
            <a:pPr algn="l">
              <a:lnSpc>
                <a:spcPts val="3750"/>
              </a:lnSpc>
              <a:spcBef>
                <a:spcPts val="0"/>
              </a:spcBef>
              <a:spcAft>
                <a:spcPts val="0"/>
              </a:spcAft>
            </a:pPr>
            <a:r>
              <a:rPr sz="3000" b="0">
                <a:solidFill>
                  <a:srgbClr val="17212B"/>
                </a:solidFill>
                <a:latin typeface="Aptos"/>
              </a:rPr>
              <a:t>For individuals undergoing measurement of Lp(a), use of laboratories employing assays that are insensitive to apolipoprotein(a) [apo(a)] isoforms and traceable to official reference standard materials is recommended to more accurately measure Lp(a) and characterize ASCVD risk.</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120"/>
              </a:lnSpc>
              <a:spcBef>
                <a:spcPts val="0"/>
              </a:spcBef>
              <a:spcAft>
                <a:spcPts val="0"/>
              </a:spcAft>
            </a:pPr>
            <a:r>
              <a:rPr sz="2600" b="1">
                <a:solidFill>
                  <a:srgbClr val="0B1F33"/>
                </a:solidFill>
                <a:latin typeface="Aptos Display"/>
              </a:rPr>
              <a:t>SOURCE REVEAL 2/2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4"/>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014</a:t>
            </a:r>
          </a:p>
        </p:txBody>
      </p:sp>
      <p:sp>
        <p:nvSpPr>
          <p:cNvPr id="12" name="Reveal label"/>
          <p:cNvSpPr txBox="1"/>
          <p:nvPr/>
        </p:nvSpPr>
        <p:spPr>
          <a:xfrm>
            <a:off x="95491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6821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014</a:t>
            </a:r>
          </a:p>
        </p:txBody>
      </p:sp>
      <p:sp>
        <p:nvSpPr>
          <p:cNvPr id="15" name="Body CASE 014"/>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Genetic testing for Lp(a) is not advised for clinical purposes because measured Lp(a) concentration is sufficient for ASCVD risk assessment.</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DECIDE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5"/>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015</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015</a:t>
            </a:r>
          </a:p>
        </p:txBody>
      </p:sp>
      <p:sp>
        <p:nvSpPr>
          <p:cNvPr id="14" name="Body CASE 015"/>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An individual on lipid-lowering therapy has recently started treatment or had a dose adjustment. When should lipid profiles be checked to assess efficacy and adherence?</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360"/>
              </a:lnSpc>
              <a:spcBef>
                <a:spcPts val="0"/>
              </a:spcBef>
              <a:spcAft>
                <a:spcPts val="0"/>
              </a:spcAft>
            </a:pPr>
            <a:r>
              <a:rPr sz="2800" b="1">
                <a:solidFill>
                  <a:srgbClr val="0B1F33"/>
                </a:solidFill>
                <a:latin typeface="Aptos Display"/>
              </a:rPr>
              <a:t>SOURCE REVEAL — Measurement, ApoB, Lp(a) &amp; Monitoring</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625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5"/>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015</a:t>
            </a:r>
          </a:p>
        </p:txBody>
      </p:sp>
      <p:sp>
        <p:nvSpPr>
          <p:cNvPr id="12" name="Reveal label"/>
          <p:cNvSpPr txBox="1"/>
          <p:nvPr/>
        </p:nvSpPr>
        <p:spPr>
          <a:xfrm>
            <a:off x="992108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1054029"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015</a:t>
            </a:r>
          </a:p>
        </p:txBody>
      </p:sp>
      <p:sp>
        <p:nvSpPr>
          <p:cNvPr id="15" name="Body CASE 015"/>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In individuals on LLT, clinicians should perform a lipid profile 4 to 12 wk after initiation or dose adjustment and every 6 to 12 mo thereafter to assess efficacy and adherence to LLTs.</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03</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M03</a:t>
            </a:r>
          </a:p>
        </p:txBody>
      </p:sp>
      <p:sp>
        <p:nvSpPr>
          <p:cNvPr id="5" name="Module name"/>
          <p:cNvSpPr txBox="1"/>
          <p:nvPr/>
        </p:nvSpPr>
        <p:spPr>
          <a:xfrm>
            <a:off x="660400" y="2095500"/>
            <a:ext cx="9525000" cy="72263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Lifestyle &amp; Nutrition</a:t>
            </a:r>
          </a:p>
        </p:txBody>
      </p:sp>
      <p:sp>
        <p:nvSpPr>
          <p:cNvPr id="6" name="Module meta"/>
          <p:cNvSpPr txBox="1"/>
          <p:nvPr/>
        </p:nvSpPr>
        <p:spPr>
          <a:xfrm>
            <a:off x="660400" y="309753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9 Core GP cases • 2 Important cases in Master/Core route</a:t>
            </a:r>
          </a:p>
        </p:txBody>
      </p:sp>
      <p:sp>
        <p:nvSpPr>
          <p:cNvPr id="7" name="Divider rule"/>
          <p:cNvSpPr/>
          <p:nvPr/>
        </p:nvSpPr>
        <p:spPr>
          <a:xfrm>
            <a:off x="660400" y="378333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03733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03733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03733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462153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Lifestyle &amp; Nutrition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24384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6"/>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016</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16"/>
          <p:cNvSpPr txBox="1"/>
          <p:nvPr/>
        </p:nvSpPr>
        <p:spPr>
          <a:xfrm>
            <a:off x="622300"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children and healthy adults. Which lifelong health behaviors should be addressed?</a:t>
            </a:r>
          </a:p>
        </p:txBody>
      </p:sp>
      <p:sp>
        <p:nvSpPr>
          <p:cNvPr id="14" name="Card CASE 017"/>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017</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17"/>
          <p:cNvSpPr txBox="1"/>
          <p:nvPr/>
        </p:nvSpPr>
        <p:spPr>
          <a:xfrm>
            <a:off x="4474633"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adults and children with or without ASCVD. What dietary pattern should be addressed?</a:t>
            </a:r>
          </a:p>
        </p:txBody>
      </p:sp>
      <p:sp>
        <p:nvSpPr>
          <p:cNvPr id="20" name="Card CASE 018"/>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018</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18"/>
          <p:cNvSpPr txBox="1"/>
          <p:nvPr/>
        </p:nvSpPr>
        <p:spPr>
          <a:xfrm>
            <a:off x="8326967"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adults with fasting TG levels of 150 to 499 mg/dL (1.7–5.6 mmol/L). What dietary approach applies to this TG range?</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Lifestyle &amp; Nutrition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24384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6"/>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016</a:t>
            </a:r>
          </a:p>
        </p:txBody>
      </p:sp>
      <p:sp>
        <p:nvSpPr>
          <p:cNvPr id="12" name="Reveal label"/>
          <p:cNvSpPr txBox="1"/>
          <p:nvPr/>
        </p:nvSpPr>
        <p:spPr>
          <a:xfrm>
            <a:off x="2216416"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3349363"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14" name="Body CASE 016"/>
          <p:cNvSpPr txBox="1"/>
          <p:nvPr/>
        </p:nvSpPr>
        <p:spPr>
          <a:xfrm>
            <a:off x="622300"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children and healthy adults, healthy dietary patterns, regular physical activity, maintenance of a healthy weight, healthy sleep, stress management, and avoidance of tobacco products should be promoted and reinforced lifelong to reduce the risk for dyslipidemia and ASCVD.</a:t>
            </a:r>
          </a:p>
        </p:txBody>
      </p:sp>
      <p:sp>
        <p:nvSpPr>
          <p:cNvPr id="15" name="Card CASE 017"/>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017</a:t>
            </a:r>
          </a:p>
        </p:txBody>
      </p:sp>
      <p:sp>
        <p:nvSpPr>
          <p:cNvPr id="19" name="Reveal label"/>
          <p:cNvSpPr txBox="1"/>
          <p:nvPr/>
        </p:nvSpPr>
        <p:spPr>
          <a:xfrm>
            <a:off x="5867016"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6999962"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21" name="Body CASE 017"/>
          <p:cNvSpPr txBox="1"/>
          <p:nvPr/>
        </p:nvSpPr>
        <p:spPr>
          <a:xfrm>
            <a:off x="4474633"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and children with or without ASCVD, a diet emphasizing intake of fruits, vegetables, nuts, legumes, whole grains, and fiber, while replacing saturated and trans fats with dietary monounsaturated and polyunsaturated fats, is recommended to decrease LDL-C levels and reduce ASCVD risk.</a:t>
            </a:r>
          </a:p>
        </p:txBody>
      </p:sp>
      <p:sp>
        <p:nvSpPr>
          <p:cNvPr id="22" name="Card CASE 018"/>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018</a:t>
            </a:r>
          </a:p>
        </p:txBody>
      </p:sp>
      <p:sp>
        <p:nvSpPr>
          <p:cNvPr id="26" name="Reveal label"/>
          <p:cNvSpPr txBox="1"/>
          <p:nvPr/>
        </p:nvSpPr>
        <p:spPr>
          <a:xfrm>
            <a:off x="992108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7" name="COR/LOE badge"/>
          <p:cNvSpPr/>
          <p:nvPr/>
        </p:nvSpPr>
        <p:spPr>
          <a:xfrm>
            <a:off x="11054029"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28" name="Body CASE 018"/>
          <p:cNvSpPr txBox="1"/>
          <p:nvPr/>
        </p:nvSpPr>
        <p:spPr>
          <a:xfrm>
            <a:off x="8326967"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with fasting TG levels of 150 to 499 mg/dL (1.7–5.6 mmol/L), a diet that is low in added sugar, refined carbohydrates, and saturated fat, and that minimizes alcohol (Figure 2) is beneficial to reduce TG and ASCVD risk.</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Lifestyle &amp; Nutrition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24384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9"/>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019</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19"/>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fasting TG levels of 500 to 999 mg/dL (5.7–11.3 mmol/L). What dietary approach applies to this TG range?</a:t>
            </a:r>
          </a:p>
        </p:txBody>
      </p:sp>
      <p:sp>
        <p:nvSpPr>
          <p:cNvPr id="14" name="Card CASE 020"/>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020</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20"/>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fasting TG levels of ≥1000 mg/dL (11.3 mmol/L). What dietary approach applies to this TG range?</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Lifestyle &amp; Nutrition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24384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19"/>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019</a:t>
            </a:r>
          </a:p>
        </p:txBody>
      </p:sp>
      <p:sp>
        <p:nvSpPr>
          <p:cNvPr id="12" name="Reveal label"/>
          <p:cNvSpPr txBox="1"/>
          <p:nvPr/>
        </p:nvSpPr>
        <p:spPr>
          <a:xfrm>
            <a:off x="37706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9036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Body CASE 019"/>
          <p:cNvSpPr txBox="1"/>
          <p:nvPr/>
        </p:nvSpPr>
        <p:spPr>
          <a:xfrm>
            <a:off x="622300" y="2108200"/>
            <a:ext cx="5232400"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In adults with fasting TG levels of 500 to 999 mg/dL (5.7–11.3 mmol/L), a diet that is low in added sugar, refined carbohydrates, and saturated fat, with no alcohol and individualized limitation of total fat (Figure 2) is beneficial to reduce TG for the reduction of ASCVD risk and risk of pancreatitis.</a:t>
            </a:r>
          </a:p>
        </p:txBody>
      </p:sp>
      <p:sp>
        <p:nvSpPr>
          <p:cNvPr id="15" name="Card CASE 020"/>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020</a:t>
            </a:r>
          </a:p>
        </p:txBody>
      </p:sp>
      <p:sp>
        <p:nvSpPr>
          <p:cNvPr id="19" name="Reveal label"/>
          <p:cNvSpPr txBox="1"/>
          <p:nvPr/>
        </p:nvSpPr>
        <p:spPr>
          <a:xfrm>
            <a:off x="95491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6821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21" name="Body CASE 020"/>
          <p:cNvSpPr txBox="1"/>
          <p:nvPr/>
        </p:nvSpPr>
        <p:spPr>
          <a:xfrm>
            <a:off x="6400800" y="2108200"/>
            <a:ext cx="5232400"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In adults with fasting TG levels of ≥1000 mg/dL (11.3 mmol/L), a diet that is very low in total fat and refined carbohydrates, with elimination of alcohol and added sugars (Figure 2) is beneficial to reduce TG and risk for pancreatitis.</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Lifestyle &amp; Nutrition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24384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21"/>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021</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021</a:t>
            </a:r>
          </a:p>
        </p:txBody>
      </p:sp>
      <p:sp>
        <p:nvSpPr>
          <p:cNvPr id="14" name="Body CASE 021"/>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An adult has fasting TG ≥150 mg/dL (1.7 mmol/L) or nonfasting TG ≥175 mg/dL (2 mmol/L), with overweight/obesity or CKM-related lifestyle factors. Which lifestyle and physical-activity measures reduce TG?</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Lifestyle &amp; Nutrition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24384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21"/>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021</a:t>
            </a:r>
          </a:p>
        </p:txBody>
      </p:sp>
      <p:sp>
        <p:nvSpPr>
          <p:cNvPr id="12" name="Reveal label"/>
          <p:cNvSpPr txBox="1"/>
          <p:nvPr/>
        </p:nvSpPr>
        <p:spPr>
          <a:xfrm>
            <a:off x="95491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6821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021</a:t>
            </a:r>
          </a:p>
        </p:txBody>
      </p:sp>
      <p:sp>
        <p:nvSpPr>
          <p:cNvPr id="15" name="Body CASE 021"/>
          <p:cNvSpPr txBox="1"/>
          <p:nvPr/>
        </p:nvSpPr>
        <p:spPr>
          <a:xfrm>
            <a:off x="622300" y="2108200"/>
            <a:ext cx="8343900" cy="3759200"/>
          </a:xfrm>
          <a:prstGeom prst="rect">
            <a:avLst/>
          </a:prstGeom>
          <a:noFill/>
        </p:spPr>
        <p:txBody>
          <a:bodyPr wrap="square" lIns="0" rIns="0" tIns="0" bIns="0" anchor="t">
            <a:noAutofit/>
          </a:bodyPr>
          <a:lstStyle/>
          <a:p>
            <a:pPr algn="l">
              <a:lnSpc>
                <a:spcPts val="3375"/>
              </a:lnSpc>
              <a:spcBef>
                <a:spcPts val="0"/>
              </a:spcBef>
              <a:spcAft>
                <a:spcPts val="0"/>
              </a:spcAft>
            </a:pPr>
            <a:r>
              <a:rPr sz="2700" b="0">
                <a:solidFill>
                  <a:srgbClr val="17212B"/>
                </a:solidFill>
                <a:latin typeface="Aptos"/>
              </a:rPr>
              <a:t>In adults with fasting TG levels ≥150 mg/dL (1.7 mmol/L) or nonfasting TG levels ≥175 mg/dL (2 mmol/L), improvement in lifestyle factors related to overweight/obesity and CKM syndrome, weight loss of 5% to 10%, moderate-to-vigorous intensity physical activity of ≥150 min/wk, and upper and lower body resistance exercise 2 d/wk (Figure 2) are beneficial to reduce TG.</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Lifestyle &amp; Nutrition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24384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22"/>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022</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22"/>
          <p:cNvSpPr txBox="1"/>
          <p:nvPr/>
        </p:nvSpPr>
        <p:spPr>
          <a:xfrm>
            <a:off x="622300"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individuals with overweight or obesity and dyslipidemia. What weight-management approach applies?</a:t>
            </a:r>
          </a:p>
        </p:txBody>
      </p:sp>
      <p:sp>
        <p:nvSpPr>
          <p:cNvPr id="14" name="Card CASE 023"/>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023</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23"/>
          <p:cNvSpPr txBox="1"/>
          <p:nvPr/>
        </p:nvSpPr>
        <p:spPr>
          <a:xfrm>
            <a:off x="4474633"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individual with dyslipidemia is discussing a physical activity program. What physical activity approach applies?</a:t>
            </a:r>
          </a:p>
        </p:txBody>
      </p:sp>
      <p:sp>
        <p:nvSpPr>
          <p:cNvPr id="20" name="Card CASE 024"/>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024</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24"/>
          <p:cNvSpPr txBox="1"/>
          <p:nvPr/>
        </p:nvSpPr>
        <p:spPr>
          <a:xfrm>
            <a:off x="8326967"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individual with dyslipidemia is considering a dietary supplement to lower LDL-C or TG. Should dietary supplements be used for that purpose?</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Lifestyle &amp; Nutrition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238070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022</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individuals with overweight or obesity and dyslipidemia, counseling and treatment to achieve weight reduction and maintenance of a healthy weight are recommended to improve dyslipidemia.</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023</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individuals with dyslipidemia, regular physical activity that includes moderate-to-vigorous intensity aerobic exercise for ≥150 min/wk along with upper and lower body resistance exercise 2 d/wk should be recommended as part of a program to improve blood lipids and cardiovascular health.</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024</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Benefit/B-R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individuals with dyslipidemia, the use of dietary supplements is not recommended to lower LDL-C or TG based on limited and inconsistent data and/or limited benefits in lipid-lowering and reduction in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Lifestyle &amp; Nutrition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24384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25"/>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025</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25"/>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individuals with fasting TG ≥1000 mg/dL (11.3 mmol/L). What nutrition referral, if any, applies?</a:t>
            </a:r>
          </a:p>
        </p:txBody>
      </p:sp>
      <p:sp>
        <p:nvSpPr>
          <p:cNvPr id="14" name="Card CASE 026"/>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026</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26"/>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individuals with fasting TG ≥150 to 999 mg/dL (≥1.7–11.3 mmol/L) and features of the CKM syndrome. What nutrition referral, if any, applies?</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Lifestyle &amp; Nutrition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24384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25"/>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025</a:t>
            </a:r>
          </a:p>
        </p:txBody>
      </p:sp>
      <p:sp>
        <p:nvSpPr>
          <p:cNvPr id="12" name="Reveal label"/>
          <p:cNvSpPr txBox="1"/>
          <p:nvPr/>
        </p:nvSpPr>
        <p:spPr>
          <a:xfrm>
            <a:off x="37706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9036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Body CASE 025"/>
          <p:cNvSpPr txBox="1"/>
          <p:nvPr/>
        </p:nvSpPr>
        <p:spPr>
          <a:xfrm>
            <a:off x="622300" y="2108200"/>
            <a:ext cx="52324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In individuals with fasting TG ≥1000 mg/dL (11.3 mmol/L), referral to an RDN is recommended to create an individualized treatment plan aimed at reducing TG and the risk of pancreatitis.</a:t>
            </a:r>
          </a:p>
        </p:txBody>
      </p:sp>
      <p:sp>
        <p:nvSpPr>
          <p:cNvPr id="15" name="Card CASE 026"/>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026</a:t>
            </a:r>
          </a:p>
        </p:txBody>
      </p:sp>
      <p:sp>
        <p:nvSpPr>
          <p:cNvPr id="19"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21" name="Body CASE 026"/>
          <p:cNvSpPr txBox="1"/>
          <p:nvPr/>
        </p:nvSpPr>
        <p:spPr>
          <a:xfrm>
            <a:off x="6400800" y="2108200"/>
            <a:ext cx="52324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In individuals with fasting TG ≥150 to 999 mg/dL (≥1.7–11.3 mmol/L) and features of the CKM syndrome, referral to an RDN to provide counseling on evidence-based dietary patterns can be beneficial to improve lipoprotein levels and reduce the risk of pancreatitis.</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04</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M04</a:t>
            </a:r>
          </a:p>
        </p:txBody>
      </p:sp>
      <p:sp>
        <p:nvSpPr>
          <p:cNvPr id="5" name="Module name"/>
          <p:cNvSpPr txBox="1"/>
          <p:nvPr/>
        </p:nvSpPr>
        <p:spPr>
          <a:xfrm>
            <a:off x="660400" y="2095500"/>
            <a:ext cx="9525000" cy="139446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Pharmacologic Toolkit &amp; Referral</a:t>
            </a:r>
          </a:p>
        </p:txBody>
      </p:sp>
      <p:sp>
        <p:nvSpPr>
          <p:cNvPr id="6" name="Module meta"/>
          <p:cNvSpPr txBox="1"/>
          <p:nvPr/>
        </p:nvSpPr>
        <p:spPr>
          <a:xfrm>
            <a:off x="660400" y="376936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6 Core GP cases • 4 Important cases in Master/Core route</a:t>
            </a:r>
          </a:p>
        </p:txBody>
      </p:sp>
      <p:sp>
        <p:nvSpPr>
          <p:cNvPr id="7" name="Divider rule"/>
          <p:cNvSpPr/>
          <p:nvPr/>
        </p:nvSpPr>
        <p:spPr>
          <a:xfrm>
            <a:off x="660400" y="445516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70916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70916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70916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529336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34"/>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134</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134</a:t>
            </a:r>
          </a:p>
        </p:txBody>
      </p:sp>
      <p:sp>
        <p:nvSpPr>
          <p:cNvPr id="14" name="Body CASE 134"/>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You are choosing statin therapy. What statin dose ranges, schedules, and intensity framework apply?</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1/2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34"/>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134</a:t>
            </a:r>
          </a:p>
        </p:txBody>
      </p:sp>
      <p:sp>
        <p:nvSpPr>
          <p:cNvPr id="12"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134</a:t>
            </a:r>
          </a:p>
        </p:txBody>
      </p:sp>
      <p:sp>
        <p:nvSpPr>
          <p:cNvPr id="14" name="Body CASE 134"/>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Use source-listed statin dose ranges and once-/twice-daily schedules; statins are described as first-line for ASCVD risk reduction in nearly all patients, with expected LDL-C reduction 18%-55%.</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2/2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34"/>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134</a:t>
            </a:r>
          </a:p>
        </p:txBody>
      </p:sp>
      <p:sp>
        <p:nvSpPr>
          <p:cNvPr id="12"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134</a:t>
            </a:r>
          </a:p>
        </p:txBody>
      </p:sp>
      <p:sp>
        <p:nvSpPr>
          <p:cNvPr id="14" name="Body CASE 134"/>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Choose source-listed statin doses according to intended LDL-C reduction: high intensity ≥50%, moderate 30%-49%, low &lt;30%.</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35"/>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135</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35"/>
          <p:cNvSpPr txBox="1"/>
          <p:nvPr/>
        </p:nvSpPr>
        <p:spPr>
          <a:xfrm>
            <a:off x="622300" y="2108200"/>
            <a:ext cx="3306233" cy="3759200"/>
          </a:xfrm>
          <a:prstGeom prst="rect">
            <a:avLst/>
          </a:prstGeom>
          <a:noFill/>
        </p:spPr>
        <p:txBody>
          <a:bodyPr wrap="square" lIns="0" rIns="0" tIns="0" bIns="0" anchor="t">
            <a:noAutofit/>
          </a:bodyPr>
          <a:lstStyle/>
          <a:p>
            <a:pPr algn="l">
              <a:lnSpc>
                <a:spcPts val="2750"/>
              </a:lnSpc>
              <a:spcBef>
                <a:spcPts val="0"/>
              </a:spcBef>
              <a:spcAft>
                <a:spcPts val="0"/>
              </a:spcAft>
            </a:pPr>
            <a:r>
              <a:rPr sz="2200" b="0">
                <a:solidFill>
                  <a:srgbClr val="17212B"/>
                </a:solidFill>
                <a:latin typeface="Aptos"/>
              </a:rPr>
              <a:t>You are using ezetimibe in a guideline-supported pathway. What dose and approximate LDL-C reduction apply?</a:t>
            </a:r>
          </a:p>
        </p:txBody>
      </p:sp>
      <p:sp>
        <p:nvSpPr>
          <p:cNvPr id="14" name="Card CASE 136"/>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136</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36"/>
          <p:cNvSpPr txBox="1"/>
          <p:nvPr/>
        </p:nvSpPr>
        <p:spPr>
          <a:xfrm>
            <a:off x="4474633" y="2108200"/>
            <a:ext cx="3306233" cy="3759200"/>
          </a:xfrm>
          <a:prstGeom prst="rect">
            <a:avLst/>
          </a:prstGeom>
          <a:noFill/>
        </p:spPr>
        <p:txBody>
          <a:bodyPr wrap="square" lIns="0" rIns="0" tIns="0" bIns="0" anchor="t">
            <a:noAutofit/>
          </a:bodyPr>
          <a:lstStyle/>
          <a:p>
            <a:pPr algn="l">
              <a:lnSpc>
                <a:spcPts val="2750"/>
              </a:lnSpc>
              <a:spcBef>
                <a:spcPts val="0"/>
              </a:spcBef>
              <a:spcAft>
                <a:spcPts val="0"/>
              </a:spcAft>
            </a:pPr>
            <a:r>
              <a:rPr sz="2200" b="0">
                <a:solidFill>
                  <a:srgbClr val="17212B"/>
                </a:solidFill>
                <a:latin typeface="Aptos"/>
              </a:rPr>
              <a:t>You are selecting a PCSK9 monoclonal antibody. What alirocumab/evolocumab schedules and approximate LDL-C reduction apply?</a:t>
            </a:r>
          </a:p>
        </p:txBody>
      </p:sp>
      <p:sp>
        <p:nvSpPr>
          <p:cNvPr id="20" name="Card CASE 137"/>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137</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137"/>
          <p:cNvSpPr txBox="1"/>
          <p:nvPr/>
        </p:nvSpPr>
        <p:spPr>
          <a:xfrm>
            <a:off x="8326967" y="2108200"/>
            <a:ext cx="3306233" cy="3759200"/>
          </a:xfrm>
          <a:prstGeom prst="rect">
            <a:avLst/>
          </a:prstGeom>
          <a:noFill/>
        </p:spPr>
        <p:txBody>
          <a:bodyPr wrap="square" lIns="0" rIns="0" tIns="0" bIns="0" anchor="t">
            <a:noAutofit/>
          </a:bodyPr>
          <a:lstStyle/>
          <a:p>
            <a:pPr algn="l">
              <a:lnSpc>
                <a:spcPts val="2750"/>
              </a:lnSpc>
              <a:spcBef>
                <a:spcPts val="0"/>
              </a:spcBef>
              <a:spcAft>
                <a:spcPts val="0"/>
              </a:spcAft>
            </a:pPr>
            <a:r>
              <a:rPr sz="2200" b="0">
                <a:solidFill>
                  <a:srgbClr val="17212B"/>
                </a:solidFill>
                <a:latin typeface="Aptos"/>
              </a:rPr>
              <a:t>You are considering bempedoic acid. What dose and LDL-C reduction ranges apply?</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840"/>
              </a:lnSpc>
              <a:spcBef>
                <a:spcPts val="0"/>
              </a:spcBef>
              <a:spcAft>
                <a:spcPts val="0"/>
              </a:spcAft>
            </a:pPr>
            <a:r>
              <a:rPr sz="3200" b="1">
                <a:solidFill>
                  <a:srgbClr val="0B1F33"/>
                </a:solidFill>
                <a:latin typeface="Aptos Display"/>
              </a:rPr>
              <a:t>SOURCE REVEAL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35"/>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135</a:t>
            </a:r>
          </a:p>
        </p:txBody>
      </p:sp>
      <p:sp>
        <p:nvSpPr>
          <p:cNvPr id="12" name="Phase badge"/>
          <p:cNvSpPr/>
          <p:nvPr/>
        </p:nvSpPr>
        <p:spPr>
          <a:xfrm>
            <a:off x="2852486"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Body CASE 135"/>
          <p:cNvSpPr txBox="1"/>
          <p:nvPr/>
        </p:nvSpPr>
        <p:spPr>
          <a:xfrm>
            <a:off x="622300"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Ezetimibe is listed at 10 mg once daily, with expected LDL-C reduction about 18% as monotherapy and about 25% incremental when combined with statin therapy.</a:t>
            </a:r>
          </a:p>
        </p:txBody>
      </p:sp>
      <p:sp>
        <p:nvSpPr>
          <p:cNvPr id="14" name="Card CASE 136"/>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136</a:t>
            </a:r>
          </a:p>
        </p:txBody>
      </p:sp>
      <p:sp>
        <p:nvSpPr>
          <p:cNvPr id="18" name="Phase badge"/>
          <p:cNvSpPr/>
          <p:nvPr/>
        </p:nvSpPr>
        <p:spPr>
          <a:xfrm>
            <a:off x="6704819"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9" name="Body CASE 136"/>
          <p:cNvSpPr txBox="1"/>
          <p:nvPr/>
        </p:nvSpPr>
        <p:spPr>
          <a:xfrm>
            <a:off x="4474633"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Source-listed PCSK9 monoclonal antibody dosing: alirocumab 75–150 mg every 2 weeks or 300 mg every 4 weeks; evolocumab 140 mg every 2 weeks; expected LDL-C reduction 45%-64%.</a:t>
            </a:r>
          </a:p>
        </p:txBody>
      </p:sp>
      <p:sp>
        <p:nvSpPr>
          <p:cNvPr id="20" name="Card CASE 137"/>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137</a:t>
            </a:r>
          </a:p>
        </p:txBody>
      </p:sp>
      <p:sp>
        <p:nvSpPr>
          <p:cNvPr id="24"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25" name="Body CASE 137"/>
          <p:cNvSpPr txBox="1"/>
          <p:nvPr/>
        </p:nvSpPr>
        <p:spPr>
          <a:xfrm>
            <a:off x="8326967"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Bempedoic acid is listed at 180 mg once daily; expected LDL-C reduction 21%-24% as monotherapy in statin-attributed side effects and 17%-18% incremental with a statin.</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38"/>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138</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38"/>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You are considering inclisiran. What initial and maintenance dosing schedule and LDL-C reduction apply?</a:t>
            </a:r>
          </a:p>
        </p:txBody>
      </p:sp>
      <p:sp>
        <p:nvSpPr>
          <p:cNvPr id="14" name="Card CASE 139"/>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139</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39"/>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You are prescribing a bile acid sequestrant. What corrected dose and frequency values apply to cholestyramine, colesevelam, and colestipol?</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 SOURCE B correction (Table 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840"/>
              </a:lnSpc>
              <a:spcBef>
                <a:spcPts val="0"/>
              </a:spcBef>
              <a:spcAft>
                <a:spcPts val="0"/>
              </a:spcAft>
            </a:pPr>
            <a:r>
              <a:rPr sz="3200" b="1">
                <a:solidFill>
                  <a:srgbClr val="0B1F33"/>
                </a:solidFill>
                <a:latin typeface="Aptos Display"/>
              </a:rPr>
              <a:t>SOURCE REVEAL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38"/>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138</a:t>
            </a:r>
          </a:p>
        </p:txBody>
      </p:sp>
      <p:sp>
        <p:nvSpPr>
          <p:cNvPr id="12" name="Phase badge"/>
          <p:cNvSpPr/>
          <p:nvPr/>
        </p:nvSpPr>
        <p:spPr>
          <a:xfrm>
            <a:off x="47786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Body CASE 138"/>
          <p:cNvSpPr txBox="1"/>
          <p:nvPr/>
        </p:nvSpPr>
        <p:spPr>
          <a:xfrm>
            <a:off x="622300" y="2108200"/>
            <a:ext cx="5232400"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Inclisiran is listed at 284 mg initially, a second dose at 3 months, then every 6 months; expected LDL-C reduction 48%-52%; cardiovascular outcomes trials are in progress.</a:t>
            </a:r>
          </a:p>
        </p:txBody>
      </p:sp>
      <p:sp>
        <p:nvSpPr>
          <p:cNvPr id="14" name="Card CASE 139"/>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139</a:t>
            </a:r>
          </a:p>
        </p:txBody>
      </p:sp>
      <p:sp>
        <p:nvSpPr>
          <p:cNvPr id="18"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9" name="Body CASE 139"/>
          <p:cNvSpPr txBox="1"/>
          <p:nvPr/>
        </p:nvSpPr>
        <p:spPr>
          <a:xfrm>
            <a:off x="6400800" y="2108200"/>
            <a:ext cx="5232400"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Use the corrected bile-acid-sequestrant dose/frequency data: cholestyramine 8–16 g in 1 to 4 equally divided doses; colesevelam 3.75 g in 1 or 2 equally divided doses; colestipol 2–16 g in 1 or 2 equally divided doses. Avoid if TG ≥300 mg/dL per Table 5 comments.</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 SOURCE B correction (Table 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4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142</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142</a:t>
            </a:r>
          </a:p>
        </p:txBody>
      </p:sp>
      <p:sp>
        <p:nvSpPr>
          <p:cNvPr id="14" name="Body CASE 142"/>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An adult with severe hypertriglyceridemia is being considered for a fibrate; another adult taking a statin seeks ASCVD risk reduction. How do the fibrate decisions differ?</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1/2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4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142</a:t>
            </a:r>
          </a:p>
        </p:txBody>
      </p:sp>
      <p:sp>
        <p:nvSpPr>
          <p:cNvPr id="12"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142</a:t>
            </a:r>
          </a:p>
        </p:txBody>
      </p:sp>
      <p:sp>
        <p:nvSpPr>
          <p:cNvPr id="14" name="Body CASE 142"/>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Fibrates are listed as a first-line option for severe hypertriglyceridemia (≥500 mg/dL, especially ≥1000 mg/dL), with expected TG reduction 30%-50%; gemfibrozil should not be combined with statin therapy.</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2/2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4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142</a:t>
            </a:r>
          </a:p>
        </p:txBody>
      </p:sp>
      <p:sp>
        <p:nvSpPr>
          <p:cNvPr id="12"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142</a:t>
            </a:r>
          </a:p>
        </p:txBody>
      </p:sp>
      <p:sp>
        <p:nvSpPr>
          <p:cNvPr id="14" name="Body CASE 142"/>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Fibrates and niacin are not recommended for routine ASCVD-risk reduction when added to statin therapy because proven event reduction is lacking.</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44"/>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144</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144</a:t>
            </a:r>
          </a:p>
        </p:txBody>
      </p:sp>
      <p:sp>
        <p:nvSpPr>
          <p:cNvPr id="14" name="Body CASE 144"/>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An adult with severe hypertriglyceridemia is being considered for niacin; another adult taking a statin seeks ASCVD risk reduction. How do the niacin decisions differ?</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1/2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44"/>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144</a:t>
            </a:r>
          </a:p>
        </p:txBody>
      </p:sp>
      <p:sp>
        <p:nvSpPr>
          <p:cNvPr id="12"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144</a:t>
            </a:r>
          </a:p>
        </p:txBody>
      </p:sp>
      <p:sp>
        <p:nvSpPr>
          <p:cNvPr id="14" name="Body CASE 144"/>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Niacin is described as a last-line agent for severe hypertriglyceridemia because of poor tolerability and adverse effects; CVOTs show no cardiovascular-event reduction when added to statin therapy in secondary prevention.</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2/2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44"/>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144</a:t>
            </a:r>
          </a:p>
        </p:txBody>
      </p:sp>
      <p:sp>
        <p:nvSpPr>
          <p:cNvPr id="12"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144</a:t>
            </a:r>
          </a:p>
        </p:txBody>
      </p:sp>
      <p:sp>
        <p:nvSpPr>
          <p:cNvPr id="14" name="Body CASE 144"/>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Niacin should generally be avoided because of poor tolerability and adverse effects with or without statin therapy.</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55"/>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155</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55"/>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A patient is being managed for rosuvastatin use across ancestry groups. How should rosuvastatin initiation account for ancestry?</a:t>
            </a:r>
          </a:p>
        </p:txBody>
      </p:sp>
      <p:sp>
        <p:nvSpPr>
          <p:cNvPr id="14" name="Card CASE 165"/>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165</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65"/>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A patient has TG ≥500 mg/dL and needs ASCVD-risk management. What role do statins have relative to TG-lowering drugs?</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840"/>
              </a:lnSpc>
              <a:spcBef>
                <a:spcPts val="0"/>
              </a:spcBef>
              <a:spcAft>
                <a:spcPts val="0"/>
              </a:spcAft>
            </a:pPr>
            <a:r>
              <a:rPr sz="3200" b="1">
                <a:solidFill>
                  <a:srgbClr val="0B1F33"/>
                </a:solidFill>
                <a:latin typeface="Aptos Display"/>
              </a:rPr>
              <a:t>SOURCE REVEAL — Pharmacologic Toolkit &amp; Referral</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3251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55"/>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155</a:t>
            </a:r>
          </a:p>
        </p:txBody>
      </p:sp>
      <p:sp>
        <p:nvSpPr>
          <p:cNvPr id="12" name="Phase badge"/>
          <p:cNvSpPr/>
          <p:nvPr/>
        </p:nvSpPr>
        <p:spPr>
          <a:xfrm>
            <a:off x="47786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Body CASE 155"/>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Some individuals of Chinese, Japanese, or Korean ancestry may have higher rosuvastatin concentrations and may benefit from starting rosuvastatin at a lower dose.</a:t>
            </a:r>
          </a:p>
        </p:txBody>
      </p:sp>
      <p:sp>
        <p:nvSpPr>
          <p:cNvPr id="14" name="Card CASE 165"/>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165</a:t>
            </a:r>
          </a:p>
        </p:txBody>
      </p:sp>
      <p:sp>
        <p:nvSpPr>
          <p:cNvPr id="18"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9" name="Body CASE 165"/>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Statins remain first-line therapy for patients with TG ≥500 mg/dL to reduce ASCVD risk, even though they lower TG less than fibrates or omega-3 fatty acids.</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05</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M05</a:t>
            </a:r>
          </a:p>
        </p:txBody>
      </p:sp>
      <p:sp>
        <p:nvSpPr>
          <p:cNvPr id="5" name="Module name"/>
          <p:cNvSpPr txBox="1"/>
          <p:nvPr/>
        </p:nvSpPr>
        <p:spPr>
          <a:xfrm>
            <a:off x="660400" y="2095500"/>
            <a:ext cx="9525000" cy="139446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Primary Prevention Risk Assessment</a:t>
            </a:r>
          </a:p>
        </p:txBody>
      </p:sp>
      <p:sp>
        <p:nvSpPr>
          <p:cNvPr id="6" name="Module meta"/>
          <p:cNvSpPr txBox="1"/>
          <p:nvPr/>
        </p:nvSpPr>
        <p:spPr>
          <a:xfrm>
            <a:off x="660400" y="376936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13 Core GP cases • 0 Important cases in Master/Core route</a:t>
            </a:r>
          </a:p>
        </p:txBody>
      </p:sp>
      <p:sp>
        <p:nvSpPr>
          <p:cNvPr id="7" name="Divider rule"/>
          <p:cNvSpPr/>
          <p:nvPr/>
        </p:nvSpPr>
        <p:spPr>
          <a:xfrm>
            <a:off x="660400" y="445516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70916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70916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70916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529336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200"/>
              </a:lnSpc>
              <a:spcBef>
                <a:spcPts val="0"/>
              </a:spcBef>
              <a:spcAft>
                <a:spcPts val="0"/>
              </a:spcAft>
            </a:pPr>
            <a:r>
              <a:rPr sz="3500" b="1">
                <a:solidFill>
                  <a:srgbClr val="0B1F33"/>
                </a:solidFill>
                <a:latin typeface="Aptos Display"/>
              </a:rPr>
              <a:t>DECIDE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27"/>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027</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27"/>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an individual with dyslipidemia. What should the clinician–patient risk discussion cover?</a:t>
            </a:r>
          </a:p>
        </p:txBody>
      </p:sp>
      <p:sp>
        <p:nvSpPr>
          <p:cNvPr id="14" name="Card CASE 028"/>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028</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28"/>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aged 30 to 79 y without ASCVD or subclinical atherosclerosis and with an LDL-C level between 70 and 189 mg/dL (1.8–4.9 mmol/L). Which risk-estimation method and time horizon apply?</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27"/>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027</a:t>
            </a:r>
          </a:p>
        </p:txBody>
      </p:sp>
      <p:sp>
        <p:nvSpPr>
          <p:cNvPr id="12" name="Reveal label"/>
          <p:cNvSpPr txBox="1"/>
          <p:nvPr/>
        </p:nvSpPr>
        <p:spPr>
          <a:xfrm>
            <a:off x="37706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9036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Body CASE 027"/>
          <p:cNvSpPr txBox="1"/>
          <p:nvPr/>
        </p:nvSpPr>
        <p:spPr>
          <a:xfrm>
            <a:off x="6223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individuals with dyslipidemia, clinicians and their patients should engage in a discussion of the patient’s ASCVD risk, healthy lifestyle as the foundation of risk reduction, expected risk reduction benefits from LLT, possible harms and DDI, costs, and patient preferences to make individualized treatment decisions and/or consider additional options for evaluation to aid in decision-making.</a:t>
            </a:r>
          </a:p>
        </p:txBody>
      </p:sp>
      <p:sp>
        <p:nvSpPr>
          <p:cNvPr id="15" name="Card CASE 028"/>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028</a:t>
            </a:r>
          </a:p>
        </p:txBody>
      </p:sp>
      <p:sp>
        <p:nvSpPr>
          <p:cNvPr id="19" name="Reveal label"/>
          <p:cNvSpPr txBox="1"/>
          <p:nvPr/>
        </p:nvSpPr>
        <p:spPr>
          <a:xfrm>
            <a:off x="95491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6821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21" name="Body CASE 028"/>
          <p:cNvSpPr txBox="1"/>
          <p:nvPr/>
        </p:nvSpPr>
        <p:spPr>
          <a:xfrm>
            <a:off x="64008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aged 30 to 79 y without ASCVD or subclinical atherosclerosis and with an LDL-C level between 70 and 189 mg/dL (1.8–4.9 mmol/L), the PREVENT-ASCVD equations should be used to estimate 10-y ASCVD risk, with categorization as having low (&lt;3%), borderline (3% to &lt;5%), intermediate (5% to &lt;10%), or high (≥10%) 10-y estimated ASCVD risk.</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200"/>
              </a:lnSpc>
              <a:spcBef>
                <a:spcPts val="0"/>
              </a:spcBef>
              <a:spcAft>
                <a:spcPts val="0"/>
              </a:spcAft>
            </a:pPr>
            <a:r>
              <a:rPr sz="3500" b="1">
                <a:solidFill>
                  <a:srgbClr val="0B1F33"/>
                </a:solidFill>
                <a:latin typeface="Aptos Display"/>
              </a:rPr>
              <a:t>DECIDE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29"/>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029</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29"/>
          <p:cNvSpPr txBox="1"/>
          <p:nvPr/>
        </p:nvSpPr>
        <p:spPr>
          <a:xfrm>
            <a:off x="622300" y="2108200"/>
            <a:ext cx="52324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Consider adults without ASCVD with a borderline 10-y ASCVD risk estimate (3% to &lt;5%) by the PREVENT-ASCVD equations. How should risk enhancers inform the LLT discussion?</a:t>
            </a:r>
          </a:p>
        </p:txBody>
      </p:sp>
      <p:sp>
        <p:nvSpPr>
          <p:cNvPr id="14" name="Card CASE 030"/>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030</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30"/>
          <p:cNvSpPr txBox="1"/>
          <p:nvPr/>
        </p:nvSpPr>
        <p:spPr>
          <a:xfrm>
            <a:off x="6400800" y="2108200"/>
            <a:ext cx="52324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An adult without ASCVD has a borderline 10-y ASCVD risk estimate (3% to &lt;5%) by PREVENT-ASCVD; hsCRP is ≥2 mg/L on 2 successive occasions with no identifiable underlying cause. What statin intensity is supported to reduce ASCVD events?</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29"/>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029</a:t>
            </a:r>
          </a:p>
        </p:txBody>
      </p:sp>
      <p:sp>
        <p:nvSpPr>
          <p:cNvPr id="12" name="Reveal label"/>
          <p:cNvSpPr txBox="1"/>
          <p:nvPr/>
        </p:nvSpPr>
        <p:spPr>
          <a:xfrm>
            <a:off x="36442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7772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Body CASE 029"/>
          <p:cNvSpPr txBox="1"/>
          <p:nvPr/>
        </p:nvSpPr>
        <p:spPr>
          <a:xfrm>
            <a:off x="622300" y="2108200"/>
            <a:ext cx="5232400" cy="3759200"/>
          </a:xfrm>
          <a:prstGeom prst="rect">
            <a:avLst/>
          </a:prstGeom>
          <a:noFill/>
        </p:spPr>
        <p:txBody>
          <a:bodyPr wrap="square" lIns="0" rIns="0" tIns="0" bIns="0" anchor="t">
            <a:noAutofit/>
          </a:bodyPr>
          <a:lstStyle/>
          <a:p>
            <a:pPr algn="l">
              <a:lnSpc>
                <a:spcPts val="2750"/>
              </a:lnSpc>
              <a:spcBef>
                <a:spcPts val="0"/>
              </a:spcBef>
              <a:spcAft>
                <a:spcPts val="0"/>
              </a:spcAft>
            </a:pPr>
            <a:r>
              <a:rPr sz="2200" b="0">
                <a:solidFill>
                  <a:srgbClr val="17212B"/>
                </a:solidFill>
                <a:latin typeface="Aptos"/>
              </a:rPr>
              <a:t>In adults without ASCVD with a borderline 10-y ASCVD risk estimate (3% to &lt;5%) by the PREVENT-ASCVD equations, consideration of risk enhancers is reasonable to personalize risk assessment and the potential benefit of initiating LLT as an adjunct to lifestyle management to reduce ASCVD risk (Table 13).</a:t>
            </a:r>
          </a:p>
        </p:txBody>
      </p:sp>
      <p:sp>
        <p:nvSpPr>
          <p:cNvPr id="15" name="Card CASE 030"/>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030</a:t>
            </a:r>
          </a:p>
        </p:txBody>
      </p:sp>
      <p:sp>
        <p:nvSpPr>
          <p:cNvPr id="19" name="Reveal label"/>
          <p:cNvSpPr txBox="1"/>
          <p:nvPr/>
        </p:nvSpPr>
        <p:spPr>
          <a:xfrm>
            <a:off x="959293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725880" y="1498600"/>
            <a:ext cx="907320"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2a/B-R</a:t>
            </a:r>
          </a:p>
        </p:txBody>
      </p:sp>
      <p:sp>
        <p:nvSpPr>
          <p:cNvPr id="21" name="Body CASE 030"/>
          <p:cNvSpPr txBox="1"/>
          <p:nvPr/>
        </p:nvSpPr>
        <p:spPr>
          <a:xfrm>
            <a:off x="6400800" y="2108200"/>
            <a:ext cx="5232400" cy="3759200"/>
          </a:xfrm>
          <a:prstGeom prst="rect">
            <a:avLst/>
          </a:prstGeom>
          <a:noFill/>
        </p:spPr>
        <p:txBody>
          <a:bodyPr wrap="square" lIns="0" rIns="0" tIns="0" bIns="0" anchor="t">
            <a:noAutofit/>
          </a:bodyPr>
          <a:lstStyle/>
          <a:p>
            <a:pPr algn="l">
              <a:lnSpc>
                <a:spcPts val="2750"/>
              </a:lnSpc>
              <a:spcBef>
                <a:spcPts val="0"/>
              </a:spcBef>
              <a:spcAft>
                <a:spcPts val="0"/>
              </a:spcAft>
            </a:pPr>
            <a:r>
              <a:rPr sz="2200" b="0">
                <a:solidFill>
                  <a:srgbClr val="17212B"/>
                </a:solidFill>
                <a:latin typeface="Aptos"/>
              </a:rPr>
              <a:t>In adults without ASCVD with a borderline 10-y ASCVD risk estimate (3% to &lt;5%) by the PREVENT-ASCVD equations, if high-sensitivity C-reactive protein (hsCRP) is measured and is ≥2 mg/L on 2 successive occasions with no identifiable underlying cause of hsCRP elevation, high-intensity statin therapy can be useful to reduce the risk of ASCVD events.</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200"/>
              </a:lnSpc>
              <a:spcBef>
                <a:spcPts val="0"/>
              </a:spcBef>
              <a:spcAft>
                <a:spcPts val="0"/>
              </a:spcAft>
            </a:pPr>
            <a:r>
              <a:rPr sz="3500" b="1">
                <a:solidFill>
                  <a:srgbClr val="0B1F33"/>
                </a:solidFill>
                <a:latin typeface="Aptos Display"/>
              </a:rPr>
              <a:t>DECIDE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31"/>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031</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31"/>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without ASCVD. How should reproductive history inform ASCVD risk assessment?</a:t>
            </a:r>
          </a:p>
        </p:txBody>
      </p:sp>
      <p:sp>
        <p:nvSpPr>
          <p:cNvPr id="14" name="Card CASE 032"/>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032</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32"/>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at intermediate risk and select adults at borderline risk with no prior ASCVD, if the decision regarding LLT remains uncertain. What additional risk assessment can guide an uncertain LLT decision?</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31"/>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031</a:t>
            </a:r>
          </a:p>
        </p:txBody>
      </p:sp>
      <p:sp>
        <p:nvSpPr>
          <p:cNvPr id="12" name="Reveal label"/>
          <p:cNvSpPr txBox="1"/>
          <p:nvPr/>
        </p:nvSpPr>
        <p:spPr>
          <a:xfrm>
            <a:off x="36442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7772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Body CASE 031"/>
          <p:cNvSpPr txBox="1"/>
          <p:nvPr/>
        </p:nvSpPr>
        <p:spPr>
          <a:xfrm>
            <a:off x="622300" y="2108200"/>
            <a:ext cx="5232400" cy="3759200"/>
          </a:xfrm>
          <a:prstGeom prst="rect">
            <a:avLst/>
          </a:prstGeom>
          <a:noFill/>
        </p:spPr>
        <p:txBody>
          <a:bodyPr wrap="square" lIns="0" rIns="0" tIns="0" bIns="0" anchor="t">
            <a:noAutofit/>
          </a:bodyPr>
          <a:lstStyle/>
          <a:p>
            <a:pPr algn="l">
              <a:lnSpc>
                <a:spcPts val="2500"/>
              </a:lnSpc>
              <a:spcBef>
                <a:spcPts val="0"/>
              </a:spcBef>
              <a:spcAft>
                <a:spcPts val="0"/>
              </a:spcAft>
            </a:pPr>
            <a:r>
              <a:rPr sz="2000" b="0">
                <a:solidFill>
                  <a:srgbClr val="17212B"/>
                </a:solidFill>
                <a:latin typeface="Aptos"/>
              </a:rPr>
              <a:t>In adults without ASCVD, consideration of reproductive risk markers, such as early menopause (&lt;45 y) and history of adverse pregnancy outcomes (gestational hypertension, preeclampsia, gestational diabetes, preterm delivery) is reasonable to personalize ASCVD risk assessment when considering the potential benefit of initiating LLT as an adjunct to lifestyle management for primary ASCVD prevention.</a:t>
            </a:r>
          </a:p>
        </p:txBody>
      </p:sp>
      <p:sp>
        <p:nvSpPr>
          <p:cNvPr id="15" name="Card CASE 032"/>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032</a:t>
            </a:r>
          </a:p>
        </p:txBody>
      </p:sp>
      <p:sp>
        <p:nvSpPr>
          <p:cNvPr id="19" name="Reveal label"/>
          <p:cNvSpPr txBox="1"/>
          <p:nvPr/>
        </p:nvSpPr>
        <p:spPr>
          <a:xfrm>
            <a:off x="97193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8522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21" name="Body CASE 032"/>
          <p:cNvSpPr txBox="1"/>
          <p:nvPr/>
        </p:nvSpPr>
        <p:spPr>
          <a:xfrm>
            <a:off x="6400800" y="2108200"/>
            <a:ext cx="5232400" cy="3759200"/>
          </a:xfrm>
          <a:prstGeom prst="rect">
            <a:avLst/>
          </a:prstGeom>
          <a:noFill/>
        </p:spPr>
        <p:txBody>
          <a:bodyPr wrap="square" lIns="0" rIns="0" tIns="0" bIns="0" anchor="t">
            <a:noAutofit/>
          </a:bodyPr>
          <a:lstStyle/>
          <a:p>
            <a:pPr algn="l">
              <a:lnSpc>
                <a:spcPts val="2500"/>
              </a:lnSpc>
              <a:spcBef>
                <a:spcPts val="0"/>
              </a:spcBef>
              <a:spcAft>
                <a:spcPts val="0"/>
              </a:spcAft>
            </a:pPr>
            <a:r>
              <a:rPr sz="2000" b="0">
                <a:solidFill>
                  <a:srgbClr val="17212B"/>
                </a:solidFill>
                <a:latin typeface="Aptos"/>
              </a:rPr>
              <a:t>In adults at intermediate risk and select adults at borderline risk with no prior ASCVD, if the decision regarding LLT remains uncertain, a CAC score should be used for further risk stratification and to guide the decision to withhold, postpone, or initiate therapy.</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200"/>
              </a:lnSpc>
              <a:spcBef>
                <a:spcPts val="0"/>
              </a:spcBef>
              <a:spcAft>
                <a:spcPts val="0"/>
              </a:spcAft>
            </a:pPr>
            <a:r>
              <a:rPr sz="3500" b="1">
                <a:solidFill>
                  <a:srgbClr val="0B1F33"/>
                </a:solidFill>
                <a:latin typeface="Aptos Display"/>
              </a:rPr>
              <a:t>DECIDE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33"/>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033</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033</a:t>
            </a:r>
          </a:p>
        </p:txBody>
      </p:sp>
      <p:sp>
        <p:nvSpPr>
          <p:cNvPr id="14" name="Body CASE 033"/>
          <p:cNvSpPr txBox="1"/>
          <p:nvPr/>
        </p:nvSpPr>
        <p:spPr>
          <a:xfrm>
            <a:off x="622300" y="2108200"/>
            <a:ext cx="83439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Consider adults at intermediate risk or select adults at borderline risk who undergo CAC testing, the CAC score is 0 Agatston units (AU), there is preference to avoid LLT and focus on lifestyle management, and no higher risk conditions (FH or severe hypercholesterolemia &gt;190 mg/dL, diabetes and age &gt;40 y, current cigarette smoking, strong family history of premature ASCVD) are present. What LLT decision and follow-up apply with this CAC result?</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360"/>
              </a:lnSpc>
              <a:spcBef>
                <a:spcPts val="0"/>
              </a:spcBef>
              <a:spcAft>
                <a:spcPts val="0"/>
              </a:spcAft>
            </a:pPr>
            <a:r>
              <a:rPr sz="2800" b="1">
                <a:solidFill>
                  <a:srgbClr val="0B1F33"/>
                </a:solidFill>
                <a:latin typeface="Aptos Display"/>
              </a:rPr>
              <a:t>SOURCE REVEAL 1/2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33"/>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033</a:t>
            </a:r>
          </a:p>
        </p:txBody>
      </p:sp>
      <p:sp>
        <p:nvSpPr>
          <p:cNvPr id="12"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033</a:t>
            </a:r>
          </a:p>
        </p:txBody>
      </p:sp>
      <p:sp>
        <p:nvSpPr>
          <p:cNvPr id="15" name="Body CASE 033"/>
          <p:cNvSpPr txBox="1"/>
          <p:nvPr/>
        </p:nvSpPr>
        <p:spPr>
          <a:xfrm>
            <a:off x="622300" y="2108200"/>
            <a:ext cx="83439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In adults at intermediate risk or select adults at borderline risk who undergo CAC testing, if the CAC score is 0 Agatston units (AU), and there is preference to avoid LLT and focus on lifestyle management, and no higher risk conditions (FH or severe hypercholesterolemia &gt;190 mg/dL, diabetes and age &gt;40 y, current cigarette smoking, strong family history of premature ASCVD) are present, it is reasonable to defer therapy and</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360"/>
              </a:lnSpc>
              <a:spcBef>
                <a:spcPts val="0"/>
              </a:spcBef>
              <a:spcAft>
                <a:spcPts val="0"/>
              </a:spcAft>
            </a:pPr>
            <a:r>
              <a:rPr sz="2800" b="1">
                <a:solidFill>
                  <a:srgbClr val="0B1F33"/>
                </a:solidFill>
                <a:latin typeface="Aptos Display"/>
              </a:rPr>
              <a:t>SOURCE REVEAL 2/2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33"/>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033</a:t>
            </a:r>
          </a:p>
        </p:txBody>
      </p:sp>
      <p:sp>
        <p:nvSpPr>
          <p:cNvPr id="12"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033</a:t>
            </a:r>
          </a:p>
        </p:txBody>
      </p:sp>
      <p:sp>
        <p:nvSpPr>
          <p:cNvPr id="15" name="Body CASE 033"/>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reassess with repeat CAC testing in 3 to 7 y to personalize management.</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200"/>
              </a:lnSpc>
              <a:spcBef>
                <a:spcPts val="0"/>
              </a:spcBef>
              <a:spcAft>
                <a:spcPts val="0"/>
              </a:spcAft>
            </a:pPr>
            <a:r>
              <a:rPr sz="3500" b="1">
                <a:solidFill>
                  <a:srgbClr val="0B1F33"/>
                </a:solidFill>
                <a:latin typeface="Aptos Display"/>
              </a:rPr>
              <a:t>DECIDE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34"/>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034</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34"/>
          <p:cNvSpPr txBox="1"/>
          <p:nvPr/>
        </p:nvSpPr>
        <p:spPr>
          <a:xfrm>
            <a:off x="622300"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Consider adults at intermediate risk and select adults at borderline risk, if the CAC score is &gt;0 AU. What LLT decision follows this CAC result?</a:t>
            </a:r>
          </a:p>
        </p:txBody>
      </p:sp>
      <p:sp>
        <p:nvSpPr>
          <p:cNvPr id="14" name="Card CASE 035"/>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035</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35"/>
          <p:cNvSpPr txBox="1"/>
          <p:nvPr/>
        </p:nvSpPr>
        <p:spPr>
          <a:xfrm>
            <a:off x="4474633"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Consider adults at intermediate or high risk with no prior ASCVD, if there is uncertainty about the intensity of LLT. What additional risk assessment can guide LLT intensity?</a:t>
            </a:r>
          </a:p>
        </p:txBody>
      </p:sp>
      <p:sp>
        <p:nvSpPr>
          <p:cNvPr id="20" name="Card CASE 036"/>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036</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36"/>
          <p:cNvSpPr txBox="1"/>
          <p:nvPr/>
        </p:nvSpPr>
        <p:spPr>
          <a:xfrm>
            <a:off x="8326967"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Consider adults with no prior ASCVD, if incidental CAC is identified on noncardiac computed tomography (CT) scans (eg, by visual estimation or a validated artificial-intelligence–based algorithm). How should incidental CAC affect risk interpretation?</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34"/>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034</a:t>
            </a:r>
          </a:p>
        </p:txBody>
      </p:sp>
      <p:sp>
        <p:nvSpPr>
          <p:cNvPr id="12" name="Reveal label"/>
          <p:cNvSpPr txBox="1"/>
          <p:nvPr/>
        </p:nvSpPr>
        <p:spPr>
          <a:xfrm>
            <a:off x="2047834"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13" name="COR/LOE badge"/>
          <p:cNvSpPr/>
          <p:nvPr/>
        </p:nvSpPr>
        <p:spPr>
          <a:xfrm>
            <a:off x="3067774"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14" name="Body CASE 034"/>
          <p:cNvSpPr txBox="1"/>
          <p:nvPr/>
        </p:nvSpPr>
        <p:spPr>
          <a:xfrm>
            <a:off x="622300"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at intermediate risk and select adults at borderline risk, if the CAC score is &gt;0 AU, it is recommended to initiate LLT, particularly if the CAC score is ≥100 AU or ≥75th standardized percentile to reduce ASCVD risk.</a:t>
            </a:r>
          </a:p>
        </p:txBody>
      </p:sp>
      <p:sp>
        <p:nvSpPr>
          <p:cNvPr id="15" name="Card CASE 035"/>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035</a:t>
            </a:r>
          </a:p>
        </p:txBody>
      </p:sp>
      <p:sp>
        <p:nvSpPr>
          <p:cNvPr id="19" name="Reveal label"/>
          <p:cNvSpPr txBox="1"/>
          <p:nvPr/>
        </p:nvSpPr>
        <p:spPr>
          <a:xfrm>
            <a:off x="5789552"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0" name="COR/LOE badge"/>
          <p:cNvSpPr/>
          <p:nvPr/>
        </p:nvSpPr>
        <p:spPr>
          <a:xfrm>
            <a:off x="6809491" y="1498600"/>
            <a:ext cx="971376"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6B4B00"/>
                </a:solidFill>
                <a:latin typeface="Aptos"/>
              </a:rPr>
              <a:t>2a/B-NR</a:t>
            </a:r>
          </a:p>
        </p:txBody>
      </p:sp>
      <p:sp>
        <p:nvSpPr>
          <p:cNvPr id="21" name="Body CASE 035"/>
          <p:cNvSpPr txBox="1"/>
          <p:nvPr/>
        </p:nvSpPr>
        <p:spPr>
          <a:xfrm>
            <a:off x="4474633"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at intermediate or high risk with no prior ASCVD, if there is uncertainty about the intensity of LLT, a CAC score can be useful to refine treatment goals and decide whether to intensify LLT.</a:t>
            </a:r>
          </a:p>
        </p:txBody>
      </p:sp>
      <p:sp>
        <p:nvSpPr>
          <p:cNvPr id="22" name="Card CASE 036"/>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036</a:t>
            </a:r>
          </a:p>
        </p:txBody>
      </p:sp>
      <p:sp>
        <p:nvSpPr>
          <p:cNvPr id="26" name="Reveal label"/>
          <p:cNvSpPr txBox="1"/>
          <p:nvPr/>
        </p:nvSpPr>
        <p:spPr>
          <a:xfrm>
            <a:off x="9752501"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772440"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28" name="Body CASE 036"/>
          <p:cNvSpPr txBox="1"/>
          <p:nvPr/>
        </p:nvSpPr>
        <p:spPr>
          <a:xfrm>
            <a:off x="8326967"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with no prior ASCVD, if incidental CAC is identified on noncardiac computed tomography (CT) scans (eg, by visual estimation or a validated artificial-intelligence–based algorithm), the presence of coronary atherosclerosis should be considered during decision-making about initiation or intensification of LLT to reduce ASCVD risk.</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200"/>
              </a:lnSpc>
              <a:spcBef>
                <a:spcPts val="0"/>
              </a:spcBef>
              <a:spcAft>
                <a:spcPts val="0"/>
              </a:spcAft>
            </a:pPr>
            <a:r>
              <a:rPr sz="3500" b="1">
                <a:solidFill>
                  <a:srgbClr val="0B1F33"/>
                </a:solidFill>
                <a:latin typeface="Aptos Display"/>
              </a:rPr>
              <a:t>DECIDE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37"/>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037</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37"/>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no prior ASCVD who are likely to have a high burden of noncalcified plaque (eg, inflammatory disorders, persons living with HIV, and diabetes). What imaging approach, if any, can inform risk?</a:t>
            </a:r>
          </a:p>
        </p:txBody>
      </p:sp>
      <p:sp>
        <p:nvSpPr>
          <p:cNvPr id="14" name="Card CASE 147"/>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147</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47"/>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Primary-prevention ASCVD risk is being personalized using risk enhancers. Which risk enhancers and thresholds affect the discussion?</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037</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2b/B-NR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with no prior ASCVD who are likely to have a high burden of noncalcified plaque (eg, inflammatory disorders, persons living with HIV, and diabetes), selective use of coronary computed tomography angiography (CCTA) may be useful to inform risk assessment and guide decisions regarding treatment intensity of LLT.</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147</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When personalizing primary-prevention risk, consider source-listed risk enhancers including premature family ASCVD, higher-risk ancestry, high PRS if measured, chronic inflammatory disease, Lp(a) ≥125 nmol/L or ≥50 mg/dL, hsCRP ≥2 mg/L on &gt;1 occasion, persistently elevated TG (≥175 mg/dL nonfasting or ≥150 mg/dL fasting), CKM syndrome, LDL-C 160–189 mg/dL/non-HDL-C 190–219 mg/dL/apoB ≥120 mg/dL, and reproductive risk markers.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200"/>
              </a:lnSpc>
              <a:spcBef>
                <a:spcPts val="0"/>
              </a:spcBef>
              <a:spcAft>
                <a:spcPts val="0"/>
              </a:spcAft>
            </a:pPr>
            <a:r>
              <a:rPr sz="3500" b="1">
                <a:solidFill>
                  <a:srgbClr val="0B1F33"/>
                </a:solidFill>
                <a:latin typeface="Aptos Display"/>
              </a:rPr>
              <a:t>DECIDE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4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148</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148</a:t>
            </a:r>
          </a:p>
        </p:txBody>
      </p:sp>
      <p:sp>
        <p:nvSpPr>
          <p:cNvPr id="14" name="Body CASE 148"/>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Reproductive history is being considered during primary-prevention ASCVD risk personalization. Which reproductive risk markers affect the discussion?</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 Primary Prevention Risk Assessment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0640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4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148</a:t>
            </a:r>
          </a:p>
        </p:txBody>
      </p:sp>
      <p:sp>
        <p:nvSpPr>
          <p:cNvPr id="12"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148</a:t>
            </a:r>
          </a:p>
        </p:txBody>
      </p:sp>
      <p:sp>
        <p:nvSpPr>
          <p:cNvPr id="14" name="Body CASE 148"/>
          <p:cNvSpPr txBox="1"/>
          <p:nvPr/>
        </p:nvSpPr>
        <p:spPr>
          <a:xfrm>
            <a:off x="622300" y="2108200"/>
            <a:ext cx="8343900" cy="3759200"/>
          </a:xfrm>
          <a:prstGeom prst="rect">
            <a:avLst/>
          </a:prstGeom>
          <a:noFill/>
        </p:spPr>
        <p:txBody>
          <a:bodyPr wrap="square" lIns="0" rIns="0" tIns="0" bIns="0" anchor="t">
            <a:noAutofit/>
          </a:bodyPr>
          <a:lstStyle/>
          <a:p>
            <a:pPr algn="l">
              <a:lnSpc>
                <a:spcPts val="3625"/>
              </a:lnSpc>
              <a:spcBef>
                <a:spcPts val="0"/>
              </a:spcBef>
              <a:spcAft>
                <a:spcPts val="0"/>
              </a:spcAft>
            </a:pPr>
            <a:r>
              <a:rPr sz="2900" b="0">
                <a:solidFill>
                  <a:srgbClr val="17212B"/>
                </a:solidFill>
                <a:latin typeface="Aptos"/>
              </a:rPr>
              <a:t>Reproductive risk markers include hypertensive disorders of pregnancy, gestational diabetes, small-for-gestational-age infant (&lt;10th percentile), preterm delivery (&lt;37 weeks), recurrent spontaneous pregnancy loss, early menarche (&lt;10 y), early menopause (&lt;45 y; particularly &lt;40), and polycystic ovary syndrome/irregular menses.</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06</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M06</a:t>
            </a:r>
          </a:p>
        </p:txBody>
      </p:sp>
      <p:sp>
        <p:nvSpPr>
          <p:cNvPr id="5" name="Module name"/>
          <p:cNvSpPr txBox="1"/>
          <p:nvPr/>
        </p:nvSpPr>
        <p:spPr>
          <a:xfrm>
            <a:off x="660400" y="2095500"/>
            <a:ext cx="9525000" cy="72263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Primary Prevention Treatment</a:t>
            </a:r>
          </a:p>
        </p:txBody>
      </p:sp>
      <p:sp>
        <p:nvSpPr>
          <p:cNvPr id="6" name="Module meta"/>
          <p:cNvSpPr txBox="1"/>
          <p:nvPr/>
        </p:nvSpPr>
        <p:spPr>
          <a:xfrm>
            <a:off x="660400" y="309753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12 Core GP cases • 0 Important cases in Master/Core route</a:t>
            </a:r>
          </a:p>
        </p:txBody>
      </p:sp>
      <p:sp>
        <p:nvSpPr>
          <p:cNvPr id="7" name="Divider rule"/>
          <p:cNvSpPr/>
          <p:nvPr/>
        </p:nvSpPr>
        <p:spPr>
          <a:xfrm>
            <a:off x="660400" y="378333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03733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03733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03733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462153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Primary Prevention Treatment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876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38"/>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038</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38"/>
          <p:cNvSpPr txBox="1"/>
          <p:nvPr/>
        </p:nvSpPr>
        <p:spPr>
          <a:xfrm>
            <a:off x="622300"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Consider adults being assessed for primary prevention of ASCVD. What health-behavior discussion accompanies LLT consideration?</a:t>
            </a:r>
          </a:p>
        </p:txBody>
      </p:sp>
      <p:sp>
        <p:nvSpPr>
          <p:cNvPr id="14" name="Card CASE 039"/>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039</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39"/>
          <p:cNvSpPr txBox="1"/>
          <p:nvPr/>
        </p:nvSpPr>
        <p:spPr>
          <a:xfrm>
            <a:off x="4474633"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Consider adults aged 30 to 59 y, at low (&lt;3%) 10-y estimated risk for ASCVD who have an LDL-C &lt;160 mg/dL (4.1 mmol/L) and a 30-y risk estimate of &lt;10%. What prevention counseling applies?</a:t>
            </a:r>
          </a:p>
        </p:txBody>
      </p:sp>
      <p:sp>
        <p:nvSpPr>
          <p:cNvPr id="20" name="Card CASE 040"/>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040</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40"/>
          <p:cNvSpPr txBox="1"/>
          <p:nvPr/>
        </p:nvSpPr>
        <p:spPr>
          <a:xfrm>
            <a:off x="8326967"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Consider adults aged 30 to 59 y, at low (&lt;3%) 10-y estimated risk for ASCVD but with an LDL-C of 160 to 189 mg/dL (4.1–4.9 mmol/L) or a 30-y ASCVD risk ≥10% (for those aged 30–59 y). What lipid-lowering approach applies?</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SOURCE REVEAL — Primary Prevention Treatment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876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38"/>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038</a:t>
            </a:r>
          </a:p>
        </p:txBody>
      </p:sp>
      <p:sp>
        <p:nvSpPr>
          <p:cNvPr id="12" name="Reveal label"/>
          <p:cNvSpPr txBox="1"/>
          <p:nvPr/>
        </p:nvSpPr>
        <p:spPr>
          <a:xfrm>
            <a:off x="2216416"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3349363"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14" name="Body CASE 038"/>
          <p:cNvSpPr txBox="1"/>
          <p:nvPr/>
        </p:nvSpPr>
        <p:spPr>
          <a:xfrm>
            <a:off x="622300"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being assessed for primary prevention of ASCVD, health behavior recommendations should be provided in addition to a benefit-risk discussion for consideration of LLT (Section 4.1.2, “Dietary Approaches in Dyslipidemia”).</a:t>
            </a:r>
          </a:p>
        </p:txBody>
      </p:sp>
      <p:sp>
        <p:nvSpPr>
          <p:cNvPr id="15" name="Card CASE 039"/>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039</a:t>
            </a:r>
          </a:p>
        </p:txBody>
      </p:sp>
      <p:sp>
        <p:nvSpPr>
          <p:cNvPr id="19" name="Reveal label"/>
          <p:cNvSpPr txBox="1"/>
          <p:nvPr/>
        </p:nvSpPr>
        <p:spPr>
          <a:xfrm>
            <a:off x="60687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7201696"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21" name="Body CASE 039"/>
          <p:cNvSpPr txBox="1"/>
          <p:nvPr/>
        </p:nvSpPr>
        <p:spPr>
          <a:xfrm>
            <a:off x="4474633"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aged 30 to 59 y, at low (&lt;3%) 10-y estimated risk for ASCVD who have an LDL-C &lt;160 mg/dL (4.1 mmol/L) and a 30-y risk estimate of &lt;10%, counseling on health behaviors is recommended to reduce LDL-C and risk for ASCVD.</a:t>
            </a:r>
          </a:p>
        </p:txBody>
      </p:sp>
      <p:sp>
        <p:nvSpPr>
          <p:cNvPr id="22" name="Card CASE 040"/>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040</a:t>
            </a:r>
          </a:p>
        </p:txBody>
      </p:sp>
      <p:sp>
        <p:nvSpPr>
          <p:cNvPr id="26" name="Reveal label"/>
          <p:cNvSpPr txBox="1"/>
          <p:nvPr/>
        </p:nvSpPr>
        <p:spPr>
          <a:xfrm>
            <a:off x="9679064"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699003" y="1498600"/>
            <a:ext cx="934197"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6B4B00"/>
                </a:solidFill>
                <a:latin typeface="Aptos"/>
              </a:rPr>
              <a:t>2a/C-LD</a:t>
            </a:r>
          </a:p>
        </p:txBody>
      </p:sp>
      <p:sp>
        <p:nvSpPr>
          <p:cNvPr id="28" name="Body CASE 040"/>
          <p:cNvSpPr txBox="1"/>
          <p:nvPr/>
        </p:nvSpPr>
        <p:spPr>
          <a:xfrm>
            <a:off x="8326967"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aged 30 to 59 y, at low (&lt;3%) 10-y estimated risk for ASCVD but with an LDL-C of 160 to 189 mg/dL (4.1–4.9 mmol/L) or a 30-y ASCVD risk ≥10% (for those aged 30–59 y), a moderate-intensity statin is reasonable to reduce cumulative exposure to atherogenic lipoproteins. ASCVD Risk</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Primary Prevention Treatment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876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41"/>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041</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41"/>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at borderline (3% to &lt;5%) 10-y estimated risk for ASCVD in whom a decision is made to initiate statin therapy for primary prevention. What statin intensity and LDL-C reduction goal apply?</a:t>
            </a:r>
          </a:p>
        </p:txBody>
      </p:sp>
      <p:sp>
        <p:nvSpPr>
          <p:cNvPr id="14" name="Card CASE 042"/>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042</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42"/>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at intermediate (5% to &lt;10%) 10-y estimated risk for ASCVD. What statin intensity and LDL-C reduction goal apply?</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SOURCE REVEAL — Primary Prevention Treatment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876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41"/>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041</a:t>
            </a:r>
          </a:p>
        </p:txBody>
      </p:sp>
      <p:sp>
        <p:nvSpPr>
          <p:cNvPr id="12" name="Reveal label"/>
          <p:cNvSpPr txBox="1"/>
          <p:nvPr/>
        </p:nvSpPr>
        <p:spPr>
          <a:xfrm>
            <a:off x="4016167"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5149114" y="1498600"/>
            <a:ext cx="705586"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2a/A</a:t>
            </a:r>
          </a:p>
        </p:txBody>
      </p:sp>
      <p:sp>
        <p:nvSpPr>
          <p:cNvPr id="14" name="Body CASE 041"/>
          <p:cNvSpPr txBox="1"/>
          <p:nvPr/>
        </p:nvSpPr>
        <p:spPr>
          <a:xfrm>
            <a:off x="622300" y="2108200"/>
            <a:ext cx="5232400"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In adults at borderline (3% to &lt;5%) 10-y estimated risk for ASCVD in whom a decision is made to initiate statin therapy for primary prevention, a moderate-intensity statin is reasonable to achieve ≥30% to 49% LDL-C reduction and to reduce ASCVD risk.</a:t>
            </a:r>
          </a:p>
        </p:txBody>
      </p:sp>
      <p:sp>
        <p:nvSpPr>
          <p:cNvPr id="15" name="Card CASE 042"/>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042</a:t>
            </a:r>
          </a:p>
        </p:txBody>
      </p:sp>
      <p:sp>
        <p:nvSpPr>
          <p:cNvPr id="19" name="Reveal label"/>
          <p:cNvSpPr txBox="1"/>
          <p:nvPr/>
        </p:nvSpPr>
        <p:spPr>
          <a:xfrm>
            <a:off x="992108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1054029"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21" name="Body CASE 042"/>
          <p:cNvSpPr txBox="1"/>
          <p:nvPr/>
        </p:nvSpPr>
        <p:spPr>
          <a:xfrm>
            <a:off x="6400800" y="2108200"/>
            <a:ext cx="5232400"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In adults at intermediate (5% to &lt;10%) 10-y estimated risk for ASCVD, at least a moderateintensity statin is recommended to achieve ≥30% to 49% LDL-C reduction and to reduce ASCVD risk; for those in the higher end of this risk range, a high-intensity statin is beneficial to further reduce LDL-C by ≥50% and reduce ASCVD risk.</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Primary Prevention Treatment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876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43"/>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043</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43"/>
          <p:cNvSpPr txBox="1"/>
          <p:nvPr/>
        </p:nvSpPr>
        <p:spPr>
          <a:xfrm>
            <a:off x="622300"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adults at borderline (3% to &lt;5%) or intermediate (5% to &lt;10%) 10-y estimated risk for ASCVD in whom statin therapy is initiated. What lipid treatment goals apply?</a:t>
            </a:r>
          </a:p>
        </p:txBody>
      </p:sp>
      <p:sp>
        <p:nvSpPr>
          <p:cNvPr id="14" name="Card CASE 044"/>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044</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44"/>
          <p:cNvSpPr txBox="1"/>
          <p:nvPr/>
        </p:nvSpPr>
        <p:spPr>
          <a:xfrm>
            <a:off x="4474633"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has high (≥10%) 10-y estimated ASCVD risk, and LLT is being initiated for primary prevention. What statin intensity and LDL-C reduction goal apply?</a:t>
            </a:r>
          </a:p>
        </p:txBody>
      </p:sp>
      <p:sp>
        <p:nvSpPr>
          <p:cNvPr id="20" name="Card CASE 045"/>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045</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45"/>
          <p:cNvSpPr txBox="1"/>
          <p:nvPr/>
        </p:nvSpPr>
        <p:spPr>
          <a:xfrm>
            <a:off x="8326967"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adults at high (≥10%) 10-y estimated risk for ASCVD in whom a decision to initiate statin therapy is made. What lipid treatment goals apply?</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SOURCE REVEAL — Primary Prevention Treatment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876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43"/>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043</a:t>
            </a:r>
          </a:p>
        </p:txBody>
      </p:sp>
      <p:sp>
        <p:nvSpPr>
          <p:cNvPr id="12" name="Reveal label"/>
          <p:cNvSpPr txBox="1"/>
          <p:nvPr/>
        </p:nvSpPr>
        <p:spPr>
          <a:xfrm>
            <a:off x="1937218"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13" name="COR/LOE badge"/>
          <p:cNvSpPr/>
          <p:nvPr/>
        </p:nvSpPr>
        <p:spPr>
          <a:xfrm>
            <a:off x="2957157" y="1498600"/>
            <a:ext cx="971376"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6B4B00"/>
                </a:solidFill>
                <a:latin typeface="Aptos"/>
              </a:rPr>
              <a:t>2a/B-NR</a:t>
            </a:r>
          </a:p>
        </p:txBody>
      </p:sp>
      <p:sp>
        <p:nvSpPr>
          <p:cNvPr id="14" name="Body CASE 043"/>
          <p:cNvSpPr txBox="1"/>
          <p:nvPr/>
        </p:nvSpPr>
        <p:spPr>
          <a:xfrm>
            <a:off x="622300" y="2108200"/>
            <a:ext cx="3306233" cy="3759200"/>
          </a:xfrm>
          <a:prstGeom prst="rect">
            <a:avLst/>
          </a:prstGeom>
          <a:noFill/>
        </p:spPr>
        <p:txBody>
          <a:bodyPr wrap="square" lIns="0" rIns="0" tIns="0" bIns="0" anchor="t">
            <a:noAutofit/>
          </a:bodyPr>
          <a:lstStyle/>
          <a:p>
            <a:pPr algn="l">
              <a:lnSpc>
                <a:spcPts val="2500"/>
              </a:lnSpc>
              <a:spcBef>
                <a:spcPts val="0"/>
              </a:spcBef>
              <a:spcAft>
                <a:spcPts val="0"/>
              </a:spcAft>
            </a:pPr>
            <a:r>
              <a:rPr sz="2000" b="0">
                <a:solidFill>
                  <a:srgbClr val="17212B"/>
                </a:solidFill>
                <a:latin typeface="Aptos"/>
              </a:rPr>
              <a:t>In adults at borderline (3% to &lt;5%) or intermediate (5% to &lt;10%) 10-y estimated risk for ASCVD in whom statin therapy is initiated, it is reasonable to treat to a goal of LDL-C &lt;100 mg/dL (2.6 mmol/L) and non–HDL-C &lt;130 mg/dL (3.4 mmol/L) to reduce ASCVD risk.</a:t>
            </a:r>
          </a:p>
        </p:txBody>
      </p:sp>
      <p:sp>
        <p:nvSpPr>
          <p:cNvPr id="15" name="Card CASE 044"/>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044</a:t>
            </a:r>
          </a:p>
        </p:txBody>
      </p:sp>
      <p:sp>
        <p:nvSpPr>
          <p:cNvPr id="19" name="Reveal label"/>
          <p:cNvSpPr txBox="1"/>
          <p:nvPr/>
        </p:nvSpPr>
        <p:spPr>
          <a:xfrm>
            <a:off x="60687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7201696"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21" name="Body CASE 044"/>
          <p:cNvSpPr txBox="1"/>
          <p:nvPr/>
        </p:nvSpPr>
        <p:spPr>
          <a:xfrm>
            <a:off x="4474633" y="2108200"/>
            <a:ext cx="3306233" cy="3759200"/>
          </a:xfrm>
          <a:prstGeom prst="rect">
            <a:avLst/>
          </a:prstGeom>
          <a:noFill/>
        </p:spPr>
        <p:txBody>
          <a:bodyPr wrap="square" lIns="0" rIns="0" tIns="0" bIns="0" anchor="t">
            <a:noAutofit/>
          </a:bodyPr>
          <a:lstStyle/>
          <a:p>
            <a:pPr algn="l">
              <a:lnSpc>
                <a:spcPts val="2500"/>
              </a:lnSpc>
              <a:spcBef>
                <a:spcPts val="0"/>
              </a:spcBef>
              <a:spcAft>
                <a:spcPts val="0"/>
              </a:spcAft>
            </a:pPr>
            <a:r>
              <a:rPr sz="2000" b="0">
                <a:solidFill>
                  <a:srgbClr val="17212B"/>
                </a:solidFill>
                <a:latin typeface="Aptos"/>
              </a:rPr>
              <a:t>In adults at high (≥10%) 10-y estimated risk for ASCVD in whom LLT is initiated for primary prevention, high-intensity statin therapy is recommended to achieve an LDL-C reduction of ≥50% to reduce the risk of ASCVD.</a:t>
            </a:r>
          </a:p>
        </p:txBody>
      </p:sp>
      <p:sp>
        <p:nvSpPr>
          <p:cNvPr id="22" name="Card CASE 045"/>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045</a:t>
            </a:r>
          </a:p>
        </p:txBody>
      </p:sp>
      <p:sp>
        <p:nvSpPr>
          <p:cNvPr id="26" name="Reveal label"/>
          <p:cNvSpPr txBox="1"/>
          <p:nvPr/>
        </p:nvSpPr>
        <p:spPr>
          <a:xfrm>
            <a:off x="9790763"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810702" y="1498600"/>
            <a:ext cx="822498"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6B4B00"/>
                </a:solidFill>
                <a:latin typeface="Aptos"/>
              </a:rPr>
              <a:t>2a/B-R</a:t>
            </a:r>
          </a:p>
        </p:txBody>
      </p:sp>
      <p:sp>
        <p:nvSpPr>
          <p:cNvPr id="28" name="Body CASE 045"/>
          <p:cNvSpPr txBox="1"/>
          <p:nvPr/>
        </p:nvSpPr>
        <p:spPr>
          <a:xfrm>
            <a:off x="8326967" y="2108200"/>
            <a:ext cx="3306233" cy="3759200"/>
          </a:xfrm>
          <a:prstGeom prst="rect">
            <a:avLst/>
          </a:prstGeom>
          <a:noFill/>
        </p:spPr>
        <p:txBody>
          <a:bodyPr wrap="square" lIns="0" rIns="0" tIns="0" bIns="0" anchor="t">
            <a:noAutofit/>
          </a:bodyPr>
          <a:lstStyle/>
          <a:p>
            <a:pPr algn="l">
              <a:lnSpc>
                <a:spcPts val="2500"/>
              </a:lnSpc>
              <a:spcBef>
                <a:spcPts val="0"/>
              </a:spcBef>
              <a:spcAft>
                <a:spcPts val="0"/>
              </a:spcAft>
            </a:pPr>
            <a:r>
              <a:rPr sz="2000" b="0">
                <a:solidFill>
                  <a:srgbClr val="17212B"/>
                </a:solidFill>
                <a:latin typeface="Aptos"/>
              </a:rPr>
              <a:t>In adults at high (≥10%) 10-y estimated risk for ASCVD in whom a decision to initiate statin therapy is made, it is reasonable to treat to a goal of LDL-C &lt;70 mg/dL (1.8 mmol/L) and non– HDL-C &lt;100 mg/dL (2.6 mmol/L) to reduce ASCVD risk.</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Primary Prevention Treatment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876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46"/>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046</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46"/>
          <p:cNvSpPr txBox="1"/>
          <p:nvPr/>
        </p:nvSpPr>
        <p:spPr>
          <a:xfrm>
            <a:off x="622300"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Consider adults at high (≥10%) 10-y estimated risk for ASCVD on maximally tolerated statin. What add-on therapy, if any, applies when lipid goals are unmet?</a:t>
            </a:r>
          </a:p>
        </p:txBody>
      </p:sp>
      <p:sp>
        <p:nvSpPr>
          <p:cNvPr id="14" name="Card CASE 047"/>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047</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47"/>
          <p:cNvSpPr txBox="1"/>
          <p:nvPr/>
        </p:nvSpPr>
        <p:spPr>
          <a:xfrm>
            <a:off x="4474633"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Consider adults at high (≥10%) 10-y estimated risk for ASCVD on maximally tolerated statin with or without ezetimibe. What further add-on therapy, if any, applies when lipid goals are unmet?</a:t>
            </a:r>
          </a:p>
        </p:txBody>
      </p:sp>
      <p:sp>
        <p:nvSpPr>
          <p:cNvPr id="20" name="Card CASE 048"/>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048</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48"/>
          <p:cNvSpPr txBox="1"/>
          <p:nvPr/>
        </p:nvSpPr>
        <p:spPr>
          <a:xfrm>
            <a:off x="8326967"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Consider individuals with a life expectancy of &lt;1 y. What should be considered for primary-prevention LLT?</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SOURCE REVEAL — Primary Prevention Treatment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876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46"/>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046</a:t>
            </a:r>
          </a:p>
        </p:txBody>
      </p:sp>
      <p:sp>
        <p:nvSpPr>
          <p:cNvPr id="12" name="Reveal label"/>
          <p:cNvSpPr txBox="1"/>
          <p:nvPr/>
        </p:nvSpPr>
        <p:spPr>
          <a:xfrm>
            <a:off x="2086096"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13" name="COR/LOE badge"/>
          <p:cNvSpPr/>
          <p:nvPr/>
        </p:nvSpPr>
        <p:spPr>
          <a:xfrm>
            <a:off x="3106035" y="1498600"/>
            <a:ext cx="822498"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6B4B00"/>
                </a:solidFill>
                <a:latin typeface="Aptos"/>
              </a:rPr>
              <a:t>2a/B-R</a:t>
            </a:r>
          </a:p>
        </p:txBody>
      </p:sp>
      <p:sp>
        <p:nvSpPr>
          <p:cNvPr id="14" name="Body CASE 046"/>
          <p:cNvSpPr txBox="1"/>
          <p:nvPr/>
        </p:nvSpPr>
        <p:spPr>
          <a:xfrm>
            <a:off x="622300"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at high (≥10%) 10-y estimated risk for ASCVD on maximally tolerated statin, it is reasonable to add ezetimibe if a goal of LDL-C &lt;70 mg/dL (1.8 mmol/L) and non–HDL-C &lt;100 mg/dL (2.6 mmol/L) is not achieved.</a:t>
            </a:r>
          </a:p>
        </p:txBody>
      </p:sp>
      <p:sp>
        <p:nvSpPr>
          <p:cNvPr id="15" name="Card CASE 047"/>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047</a:t>
            </a:r>
          </a:p>
        </p:txBody>
      </p:sp>
      <p:sp>
        <p:nvSpPr>
          <p:cNvPr id="19" name="Reveal label"/>
          <p:cNvSpPr txBox="1"/>
          <p:nvPr/>
        </p:nvSpPr>
        <p:spPr>
          <a:xfrm>
            <a:off x="5784237"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0" name="COR/LOE badge"/>
          <p:cNvSpPr/>
          <p:nvPr/>
        </p:nvSpPr>
        <p:spPr>
          <a:xfrm>
            <a:off x="6804177" y="1498600"/>
            <a:ext cx="976690"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8A3605"/>
                </a:solidFill>
                <a:latin typeface="Aptos"/>
              </a:rPr>
              <a:t>2b/B-NR</a:t>
            </a:r>
          </a:p>
        </p:txBody>
      </p:sp>
      <p:sp>
        <p:nvSpPr>
          <p:cNvPr id="21" name="Body CASE 047"/>
          <p:cNvSpPr txBox="1"/>
          <p:nvPr/>
        </p:nvSpPr>
        <p:spPr>
          <a:xfrm>
            <a:off x="4474633"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at high (≥10%) 10-y estimated risk for ASCVD on maximally tolerated statin with or without ezetimibe, it may be reasonable to add a PCSK9 mAb or bempedoic acid if a goal of LDL-C &lt;70 mg/dL (1.8 mmol/L) and non–HDL-C &lt;100 mg/dL (2.6 mmol/L) is not achieved to lower LDL-C and reduce ASCVD risk.</a:t>
            </a:r>
          </a:p>
        </p:txBody>
      </p:sp>
      <p:sp>
        <p:nvSpPr>
          <p:cNvPr id="22" name="Card CASE 048"/>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048</a:t>
            </a:r>
          </a:p>
        </p:txBody>
      </p:sp>
      <p:sp>
        <p:nvSpPr>
          <p:cNvPr id="26" name="Reveal label"/>
          <p:cNvSpPr txBox="1"/>
          <p:nvPr/>
        </p:nvSpPr>
        <p:spPr>
          <a:xfrm>
            <a:off x="9785449"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805388" y="1498600"/>
            <a:ext cx="827812"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8A3605"/>
                </a:solidFill>
                <a:latin typeface="Aptos"/>
              </a:rPr>
              <a:t>2b/B-R</a:t>
            </a:r>
          </a:p>
        </p:txBody>
      </p:sp>
      <p:sp>
        <p:nvSpPr>
          <p:cNvPr id="28" name="Body CASE 048"/>
          <p:cNvSpPr txBox="1"/>
          <p:nvPr/>
        </p:nvSpPr>
        <p:spPr>
          <a:xfrm>
            <a:off x="8326967"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individuals with a life expectancy of &lt;1 y, it may be reasonable to discontinue LLT that was prescribed for primary prevention purposes to avoid unnecessary medication use or adverse medication effects.</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Primary Prevention Treatment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876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49"/>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049</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049</a:t>
            </a:r>
          </a:p>
        </p:txBody>
      </p:sp>
      <p:sp>
        <p:nvSpPr>
          <p:cNvPr id="14" name="Body CASE 049"/>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An adult has baseline untreated LDL-C &lt;70 mg/dL (1.8 mmol/L) and non–HDL-C &lt;100 mg/dL (2.6 mmol/L), with no additional ASCVD risk factors. Is initiating LLT for primary prevention likely to reduce ASCVD risk?</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960"/>
              </a:lnSpc>
              <a:spcBef>
                <a:spcPts val="0"/>
              </a:spcBef>
              <a:spcAft>
                <a:spcPts val="0"/>
              </a:spcAft>
            </a:pPr>
            <a:r>
              <a:rPr sz="3300" b="1">
                <a:solidFill>
                  <a:srgbClr val="0B1F33"/>
                </a:solidFill>
                <a:latin typeface="Aptos Display"/>
              </a:rPr>
              <a:t>SOURCE REVEAL — Primary Prevention Treatment</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4876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49"/>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049</a:t>
            </a:r>
          </a:p>
        </p:txBody>
      </p:sp>
      <p:sp>
        <p:nvSpPr>
          <p:cNvPr id="12" name="Reveal label"/>
          <p:cNvSpPr txBox="1"/>
          <p:nvPr/>
        </p:nvSpPr>
        <p:spPr>
          <a:xfrm>
            <a:off x="8319805"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9452751" y="1498600"/>
            <a:ext cx="2180449" cy="304800"/>
          </a:xfrm>
          <a:prstGeom prst="roundRect">
            <a:avLst>
              <a:gd name="adj" fmla="val 50000"/>
            </a:avLst>
          </a:prstGeom>
          <a:solidFill>
            <a:srgbClr val="FDE2DF"/>
          </a:solidFill>
          <a:ln w="9525">
            <a:solidFill>
              <a:srgbClr val="F3A9A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A11A12"/>
                </a:solidFill>
                <a:latin typeface="Aptos"/>
              </a:rPr>
              <a:t>3: No Benefit/B-NR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049</a:t>
            </a:r>
          </a:p>
        </p:txBody>
      </p:sp>
      <p:sp>
        <p:nvSpPr>
          <p:cNvPr id="15" name="Body CASE 049"/>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In adults with a baseline untreated LDL-C &lt;70 mg/dL (1.8 mmol/L) and non–HDL-C &lt;100 mg/dL (2.6 mmol/L) and without additional ASCVD risk factors, initiation of LLT for primary prevention is unlikely to reduce ASCVD risk.</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07</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M07</a:t>
            </a:r>
          </a:p>
        </p:txBody>
      </p:sp>
      <p:sp>
        <p:nvSpPr>
          <p:cNvPr id="5" name="Module name"/>
          <p:cNvSpPr txBox="1"/>
          <p:nvPr/>
        </p:nvSpPr>
        <p:spPr>
          <a:xfrm>
            <a:off x="660400" y="2095500"/>
            <a:ext cx="9525000" cy="139446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Severe Hypercholesterolemia &amp; FH</a:t>
            </a:r>
          </a:p>
        </p:txBody>
      </p:sp>
      <p:sp>
        <p:nvSpPr>
          <p:cNvPr id="6" name="Module meta"/>
          <p:cNvSpPr txBox="1"/>
          <p:nvPr/>
        </p:nvSpPr>
        <p:spPr>
          <a:xfrm>
            <a:off x="660400" y="376936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8 Core GP cases • 5 Important cases in Master/Core route</a:t>
            </a:r>
          </a:p>
        </p:txBody>
      </p:sp>
      <p:sp>
        <p:nvSpPr>
          <p:cNvPr id="7" name="Divider rule"/>
          <p:cNvSpPr/>
          <p:nvPr/>
        </p:nvSpPr>
        <p:spPr>
          <a:xfrm>
            <a:off x="660400" y="445516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70916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70916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70916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529336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440"/>
              </a:lnSpc>
              <a:spcBef>
                <a:spcPts val="0"/>
              </a:spcBef>
              <a:spcAft>
                <a:spcPts val="0"/>
              </a:spcAft>
            </a:pPr>
            <a:r>
              <a:rPr sz="3700" b="1">
                <a:solidFill>
                  <a:srgbClr val="0B1F33"/>
                </a:solidFill>
                <a:latin typeface="Aptos Display"/>
              </a:rPr>
              <a:t>DECIDE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5"/>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055</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55"/>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severe hypercholesterolemia with an LDL-C ≥190 mg/dL (4.9 mmol/L). How should secondary causes be handled?</a:t>
            </a:r>
          </a:p>
        </p:txBody>
      </p:sp>
      <p:sp>
        <p:nvSpPr>
          <p:cNvPr id="14" name="Card CASE 056"/>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056</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56"/>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severe hypercholesterolemia with an LDL-C ≥190 mg/dL (4.9 mmol/L). What initial lipid-lowering therapy applies?</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719"/>
              </a:lnSpc>
              <a:spcBef>
                <a:spcPts val="0"/>
              </a:spcBef>
              <a:spcAft>
                <a:spcPts val="0"/>
              </a:spcAft>
            </a:pPr>
            <a:r>
              <a:rPr sz="3100" b="1">
                <a:solidFill>
                  <a:srgbClr val="0B1F33"/>
                </a:solidFill>
                <a:latin typeface="Aptos Display"/>
              </a:rPr>
              <a:t>SOURCE REVEAL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5"/>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055</a:t>
            </a:r>
          </a:p>
        </p:txBody>
      </p:sp>
      <p:sp>
        <p:nvSpPr>
          <p:cNvPr id="12" name="Reveal label"/>
          <p:cNvSpPr txBox="1"/>
          <p:nvPr/>
        </p:nvSpPr>
        <p:spPr>
          <a:xfrm>
            <a:off x="37706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9036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Body CASE 055"/>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In adults with severe hypercholesterolemia with an LDL-C ≥190 mg/dL (4.9 mmol/L),* secondary causes of dyslipidemia should be excluded and addressed to reduce LDL-C (Table 15).</a:t>
            </a:r>
          </a:p>
        </p:txBody>
      </p:sp>
      <p:sp>
        <p:nvSpPr>
          <p:cNvPr id="15" name="Card CASE 056"/>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056</a:t>
            </a:r>
          </a:p>
        </p:txBody>
      </p:sp>
      <p:sp>
        <p:nvSpPr>
          <p:cNvPr id="19" name="Reveal label"/>
          <p:cNvSpPr txBox="1"/>
          <p:nvPr/>
        </p:nvSpPr>
        <p:spPr>
          <a:xfrm>
            <a:off x="97193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8522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21" name="Body CASE 056"/>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In adults with severe hypercholesterolemia with an LDL-C ≥190 mg/dL (4.9 mmol/L),* treatment with maximally tolerated statin therapy is recommended to lower LDL-C and reduce ASCVD risk.</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440"/>
              </a:lnSpc>
              <a:spcBef>
                <a:spcPts val="0"/>
              </a:spcBef>
              <a:spcAft>
                <a:spcPts val="0"/>
              </a:spcAft>
            </a:pPr>
            <a:r>
              <a:rPr sz="3700" b="1">
                <a:solidFill>
                  <a:srgbClr val="0B1F33"/>
                </a:solidFill>
                <a:latin typeface="Aptos Display"/>
              </a:rPr>
              <a:t>DECIDE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057</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057</a:t>
            </a:r>
          </a:p>
        </p:txBody>
      </p:sp>
      <p:sp>
        <p:nvSpPr>
          <p:cNvPr id="14" name="Body CASE 057"/>
          <p:cNvSpPr txBox="1"/>
          <p:nvPr/>
        </p:nvSpPr>
        <p:spPr>
          <a:xfrm>
            <a:off x="622300" y="2108200"/>
            <a:ext cx="8343900" cy="3759200"/>
          </a:xfrm>
          <a:prstGeom prst="rect">
            <a:avLst/>
          </a:prstGeom>
          <a:noFill/>
        </p:spPr>
        <p:txBody>
          <a:bodyPr wrap="square" lIns="0" rIns="0" tIns="0" bIns="0" anchor="t">
            <a:noAutofit/>
          </a:bodyPr>
          <a:lstStyle/>
          <a:p>
            <a:pPr algn="l">
              <a:lnSpc>
                <a:spcPts val="3625"/>
              </a:lnSpc>
              <a:spcBef>
                <a:spcPts val="0"/>
              </a:spcBef>
              <a:spcAft>
                <a:spcPts val="0"/>
              </a:spcAft>
            </a:pPr>
            <a:r>
              <a:rPr sz="2900" b="0">
                <a:solidFill>
                  <a:srgbClr val="17212B"/>
                </a:solidFill>
                <a:latin typeface="Aptos"/>
              </a:rPr>
              <a:t>Adults with severe hypercholesterolemia with an LDL-C ≥190 mg/dL (4.9 mmol/L)* and without clinical ASCVD,† additional ASCVD risk factors, HeFH, or subclinical atherosclerosis who are on maximally tolerated statin therapy. Which add-on lipid-lowering therapies and treatment goals apply?</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719"/>
              </a:lnSpc>
              <a:spcBef>
                <a:spcPts val="0"/>
              </a:spcBef>
              <a:spcAft>
                <a:spcPts val="0"/>
              </a:spcAft>
            </a:pPr>
            <a:r>
              <a:rPr sz="3100" b="1">
                <a:solidFill>
                  <a:srgbClr val="0B1F33"/>
                </a:solidFill>
                <a:latin typeface="Aptos Display"/>
              </a:rPr>
              <a:t>SOURCE REVEAL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057</a:t>
            </a:r>
          </a:p>
        </p:txBody>
      </p:sp>
      <p:sp>
        <p:nvSpPr>
          <p:cNvPr id="12" name="Reveal label"/>
          <p:cNvSpPr txBox="1"/>
          <p:nvPr/>
        </p:nvSpPr>
        <p:spPr>
          <a:xfrm>
            <a:off x="95491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6821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057</a:t>
            </a:r>
          </a:p>
        </p:txBody>
      </p:sp>
      <p:sp>
        <p:nvSpPr>
          <p:cNvPr id="15" name="Body CASE 057"/>
          <p:cNvSpPr txBox="1"/>
          <p:nvPr/>
        </p:nvSpPr>
        <p:spPr>
          <a:xfrm>
            <a:off x="622300" y="2108200"/>
            <a:ext cx="83439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In adults with severe hypercholesterolemia with an LDL-C ≥190 mg/dL (4.9 mmol/L)* and without clinical ASCVD,† additional ASCVD risk factors, HeFH, or subclinical atherosclerosis who are on maximally tolerated statin therapy, the addition of ezetimibe, a PCSK9 mAb, and/or bempedoic acid is recommended to achieve a goal of LDL-C &lt;100 mg/dL (2.6 mmol/L) and a non–HDL-C goal of &lt;130 mg/dL (3.4 mmol/L) and to reduce ASCVD risk.</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440"/>
              </a:lnSpc>
              <a:spcBef>
                <a:spcPts val="0"/>
              </a:spcBef>
              <a:spcAft>
                <a:spcPts val="0"/>
              </a:spcAft>
            </a:pPr>
            <a:r>
              <a:rPr sz="3700" b="1">
                <a:solidFill>
                  <a:srgbClr val="0B1F33"/>
                </a:solidFill>
                <a:latin typeface="Aptos Display"/>
              </a:rPr>
              <a:t>DECIDE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058</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058</a:t>
            </a:r>
          </a:p>
        </p:txBody>
      </p:sp>
      <p:sp>
        <p:nvSpPr>
          <p:cNvPr id="14" name="Body CASE 058"/>
          <p:cNvSpPr txBox="1"/>
          <p:nvPr/>
        </p:nvSpPr>
        <p:spPr>
          <a:xfrm>
            <a:off x="622300" y="2108200"/>
            <a:ext cx="8343900" cy="3759200"/>
          </a:xfrm>
          <a:prstGeom prst="rect">
            <a:avLst/>
          </a:prstGeom>
          <a:noFill/>
        </p:spPr>
        <p:txBody>
          <a:bodyPr wrap="square" lIns="0" rIns="0" tIns="0" bIns="0" anchor="t">
            <a:noAutofit/>
          </a:bodyPr>
          <a:lstStyle/>
          <a:p>
            <a:pPr algn="l">
              <a:lnSpc>
                <a:spcPts val="3625"/>
              </a:lnSpc>
              <a:spcBef>
                <a:spcPts val="0"/>
              </a:spcBef>
              <a:spcAft>
                <a:spcPts val="0"/>
              </a:spcAft>
            </a:pPr>
            <a:r>
              <a:rPr sz="2900" b="0">
                <a:solidFill>
                  <a:srgbClr val="17212B"/>
                </a:solidFill>
                <a:latin typeface="Aptos"/>
              </a:rPr>
              <a:t>An adult with LDL-C ≥190 mg/dL (4.9 mmol/L)* and no clinical ASCVD† has clinical or genetic confirmation of HeFH, additional ASCVD risk factors, or documented coronary calcification, and is on maximally tolerated statin therapy. Which add-on therapies and lipid goals are supported to lower ASCVD risk?</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719"/>
              </a:lnSpc>
              <a:spcBef>
                <a:spcPts val="0"/>
              </a:spcBef>
              <a:spcAft>
                <a:spcPts val="0"/>
              </a:spcAft>
            </a:pPr>
            <a:r>
              <a:rPr sz="3100" b="1">
                <a:solidFill>
                  <a:srgbClr val="0B1F33"/>
                </a:solidFill>
                <a:latin typeface="Aptos Display"/>
              </a:rPr>
              <a:t>SOURCE REVEAL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058</a:t>
            </a:r>
          </a:p>
        </p:txBody>
      </p:sp>
      <p:sp>
        <p:nvSpPr>
          <p:cNvPr id="12" name="Reveal label"/>
          <p:cNvSpPr txBox="1"/>
          <p:nvPr/>
        </p:nvSpPr>
        <p:spPr>
          <a:xfrm>
            <a:off x="97193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8522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058</a:t>
            </a:r>
          </a:p>
        </p:txBody>
      </p:sp>
      <p:sp>
        <p:nvSpPr>
          <p:cNvPr id="15" name="Body CASE 058"/>
          <p:cNvSpPr txBox="1"/>
          <p:nvPr/>
        </p:nvSpPr>
        <p:spPr>
          <a:xfrm>
            <a:off x="622300" y="2108200"/>
            <a:ext cx="8343900"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In adults with severe hypercholesterolemia with an LDL-C ≥190 mg/dL (4.9 mmol/L)* without clinical ASCVD† but with clinical or genetic confirmation of HeFH, additional ASCVD risk factors, or documented coronary calcification, who are on maximally tolerated statin therapy, the addition of ezetimibe, a PCSK9 mAb, and/ or bempedoic acid to achieve a goal of LDL-C &lt;70 mg/dL (1.8 mmol/L) and non–HDL-C &lt;100 mg/dL (2.6 mmol/L) is recommended to lower LDL-C and reduce ASCVD risk.</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440"/>
              </a:lnSpc>
              <a:spcBef>
                <a:spcPts val="0"/>
              </a:spcBef>
              <a:spcAft>
                <a:spcPts val="0"/>
              </a:spcAft>
            </a:pPr>
            <a:r>
              <a:rPr sz="3700" b="1">
                <a:solidFill>
                  <a:srgbClr val="0B1F33"/>
                </a:solidFill>
                <a:latin typeface="Aptos Display"/>
              </a:rPr>
              <a:t>DECIDE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9"/>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059</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59"/>
          <p:cNvSpPr txBox="1"/>
          <p:nvPr/>
        </p:nvSpPr>
        <p:spPr>
          <a:xfrm>
            <a:off x="622300" y="2108200"/>
            <a:ext cx="52324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Adults with severe hypercholesterolemia with an LDL-C ≥190 mg/dL (4.9 mmol/L)* and clinical ASCVD who are on maximally tolerated statin therapy. Which add-on lipid-lowering therapies and treatment goals apply?</a:t>
            </a:r>
          </a:p>
        </p:txBody>
      </p:sp>
      <p:sp>
        <p:nvSpPr>
          <p:cNvPr id="14" name="Card CASE 060"/>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060</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60"/>
          <p:cNvSpPr txBox="1"/>
          <p:nvPr/>
        </p:nvSpPr>
        <p:spPr>
          <a:xfrm>
            <a:off x="6400800" y="2108200"/>
            <a:ext cx="52324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An adult with severe hypercholesterolemia, with or without clinical ASCVD, has LDL-C ≥100 mg/dL (2.6 mmol/L) despite maximally tolerated statin with or without ezetimibe therapy. What role does inclisiran have in lowering LDL-C?</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719"/>
              </a:lnSpc>
              <a:spcBef>
                <a:spcPts val="0"/>
              </a:spcBef>
              <a:spcAft>
                <a:spcPts val="0"/>
              </a:spcAft>
            </a:pPr>
            <a:r>
              <a:rPr sz="3100" b="1">
                <a:solidFill>
                  <a:srgbClr val="0B1F33"/>
                </a:solidFill>
                <a:latin typeface="Aptos Display"/>
              </a:rPr>
              <a:t>SOURCE REVEAL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9"/>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059</a:t>
            </a:r>
          </a:p>
        </p:txBody>
      </p:sp>
      <p:sp>
        <p:nvSpPr>
          <p:cNvPr id="12" name="Reveal label"/>
          <p:cNvSpPr txBox="1"/>
          <p:nvPr/>
        </p:nvSpPr>
        <p:spPr>
          <a:xfrm>
            <a:off x="39408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50737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14" name="Body CASE 059"/>
          <p:cNvSpPr txBox="1"/>
          <p:nvPr/>
        </p:nvSpPr>
        <p:spPr>
          <a:xfrm>
            <a:off x="6223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with severe hypercholesterolemia with an LDL-C ≥190 mg/dL (4.9 mmol/L)* and clinical ASCVD who are on maximally tolerated statin therapy, the addition of ezetimibe, a PCSK9 mAb, and/or bempedoic acid is recommended to achieve a goal of LDL-C &lt;55 mg/dL (1.4 mmol/L) and non–HDL-C &lt;85 mg/dL (2.2 mmol/L) to lower LDL-C and reduce ASCVD risk.</a:t>
            </a:r>
          </a:p>
        </p:txBody>
      </p:sp>
      <p:sp>
        <p:nvSpPr>
          <p:cNvPr id="15" name="Card CASE 060"/>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060</a:t>
            </a:r>
          </a:p>
        </p:txBody>
      </p:sp>
      <p:sp>
        <p:nvSpPr>
          <p:cNvPr id="19" name="Reveal label"/>
          <p:cNvSpPr txBox="1"/>
          <p:nvPr/>
        </p:nvSpPr>
        <p:spPr>
          <a:xfrm>
            <a:off x="959293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725880" y="1498600"/>
            <a:ext cx="907320"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2a/B-R</a:t>
            </a:r>
          </a:p>
        </p:txBody>
      </p:sp>
      <p:sp>
        <p:nvSpPr>
          <p:cNvPr id="21" name="Body CASE 060"/>
          <p:cNvSpPr txBox="1"/>
          <p:nvPr/>
        </p:nvSpPr>
        <p:spPr>
          <a:xfrm>
            <a:off x="64008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with severe hypercholesterolemia, with or without clinical ASCVD, and LDL-C ≥100 mg/dL (2.6 mmol/L) despite maximally tolerated statin with or without ezetimibe therapy, treatment with inclisiran is reasonable to lower LDL-C.‡</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440"/>
              </a:lnSpc>
              <a:spcBef>
                <a:spcPts val="0"/>
              </a:spcBef>
              <a:spcAft>
                <a:spcPts val="0"/>
              </a:spcAft>
            </a:pPr>
            <a:r>
              <a:rPr sz="3700" b="1">
                <a:solidFill>
                  <a:srgbClr val="0B1F33"/>
                </a:solidFill>
                <a:latin typeface="Aptos Display"/>
              </a:rPr>
              <a:t>DECIDE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49"/>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149</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49"/>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A patient has an unexpectedly high LDL-C. Which physiological or secondary causes warrant evaluation?</a:t>
            </a:r>
          </a:p>
        </p:txBody>
      </p:sp>
      <p:sp>
        <p:nvSpPr>
          <p:cNvPr id="14" name="Card CASE 167"/>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167</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67"/>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A patient has markedly elevated atherogenic lipoproteins. What thresholds define severe hypercholesterolemia?</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719"/>
              </a:lnSpc>
              <a:spcBef>
                <a:spcPts val="0"/>
              </a:spcBef>
              <a:spcAft>
                <a:spcPts val="0"/>
              </a:spcAft>
            </a:pPr>
            <a:r>
              <a:rPr sz="3100" b="1">
                <a:solidFill>
                  <a:srgbClr val="0B1F33"/>
                </a:solidFill>
                <a:latin typeface="Aptos Display"/>
              </a:rPr>
              <a:t>SOURCE REVEAL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49"/>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149</a:t>
            </a:r>
          </a:p>
        </p:txBody>
      </p:sp>
      <p:sp>
        <p:nvSpPr>
          <p:cNvPr id="12" name="Phase badge"/>
          <p:cNvSpPr/>
          <p:nvPr/>
        </p:nvSpPr>
        <p:spPr>
          <a:xfrm>
            <a:off x="47786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Body CASE 149"/>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Evaluate physiological and secondary causes of LDL-C elevation when clinically relevant.</a:t>
            </a:r>
          </a:p>
        </p:txBody>
      </p:sp>
      <p:sp>
        <p:nvSpPr>
          <p:cNvPr id="14" name="Card CASE 167"/>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167</a:t>
            </a:r>
          </a:p>
        </p:txBody>
      </p:sp>
      <p:sp>
        <p:nvSpPr>
          <p:cNvPr id="18"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9" name="Body CASE 167"/>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The section footnote defines severe hypercholesterolemia as LDL-C &gt;190 mg/dL, non-HDL-C &gt;220 mg/dL, and/or apoB &gt;140 mg/dL.</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440"/>
              </a:lnSpc>
              <a:spcBef>
                <a:spcPts val="0"/>
              </a:spcBef>
              <a:spcAft>
                <a:spcPts val="0"/>
              </a:spcAft>
            </a:pPr>
            <a:r>
              <a:rPr sz="3700" b="1">
                <a:solidFill>
                  <a:srgbClr val="0B1F33"/>
                </a:solidFill>
                <a:latin typeface="Aptos Display"/>
              </a:rPr>
              <a:t>DECIDE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0"/>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050</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50"/>
          <p:cNvSpPr txBox="1"/>
          <p:nvPr/>
        </p:nvSpPr>
        <p:spPr>
          <a:xfrm>
            <a:off x="622300"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with HeFH needs short-term ASCVD risk prediction. What role do FH-specific risk scores have?</a:t>
            </a:r>
          </a:p>
        </p:txBody>
      </p:sp>
      <p:sp>
        <p:nvSpPr>
          <p:cNvPr id="14" name="Card CASE 051"/>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051</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51"/>
          <p:cNvSpPr txBox="1"/>
          <p:nvPr/>
        </p:nvSpPr>
        <p:spPr>
          <a:xfrm>
            <a:off x="4474633"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individual with HeFH needs a 10- or 30-y ASCVD risk estimate. Should general-population risk assessment tools be used?</a:t>
            </a:r>
          </a:p>
        </p:txBody>
      </p:sp>
      <p:sp>
        <p:nvSpPr>
          <p:cNvPr id="20" name="Card CASE 052"/>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052</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52"/>
          <p:cNvSpPr txBox="1"/>
          <p:nvPr/>
        </p:nvSpPr>
        <p:spPr>
          <a:xfrm>
            <a:off x="8326967"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has possible, probable, or definite FH. What role does panel-based genetic testing have in risk identification and cascade screening?</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719"/>
              </a:lnSpc>
              <a:spcBef>
                <a:spcPts val="0"/>
              </a:spcBef>
              <a:spcAft>
                <a:spcPts val="0"/>
              </a:spcAft>
            </a:pPr>
            <a:r>
              <a:rPr sz="3100" b="1">
                <a:solidFill>
                  <a:srgbClr val="0B1F33"/>
                </a:solidFill>
                <a:latin typeface="Aptos Display"/>
              </a:rPr>
              <a:t>SOURCE REVEAL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0"/>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050</a:t>
            </a:r>
          </a:p>
        </p:txBody>
      </p:sp>
      <p:sp>
        <p:nvSpPr>
          <p:cNvPr id="12" name="Reveal label"/>
          <p:cNvSpPr txBox="1"/>
          <p:nvPr/>
        </p:nvSpPr>
        <p:spPr>
          <a:xfrm>
            <a:off x="1931904"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13" name="COR/LOE badge"/>
          <p:cNvSpPr/>
          <p:nvPr/>
        </p:nvSpPr>
        <p:spPr>
          <a:xfrm>
            <a:off x="2951843" y="1498600"/>
            <a:ext cx="976690"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8A3605"/>
                </a:solidFill>
                <a:latin typeface="Aptos"/>
              </a:rPr>
              <a:t>2b/B-NR</a:t>
            </a:r>
          </a:p>
        </p:txBody>
      </p:sp>
      <p:sp>
        <p:nvSpPr>
          <p:cNvPr id="14" name="Body CASE 050"/>
          <p:cNvSpPr txBox="1"/>
          <p:nvPr/>
        </p:nvSpPr>
        <p:spPr>
          <a:xfrm>
            <a:off x="622300" y="2108200"/>
            <a:ext cx="3306233" cy="3378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with HeFH, FH-specific risk scores may be useful in predicting short-term ASCVD risk.</a:t>
            </a:r>
          </a:p>
        </p:txBody>
      </p:sp>
      <p:sp>
        <p:nvSpPr>
          <p:cNvPr id="15" name="Card CASE 051"/>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981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051</a:t>
            </a:r>
          </a:p>
        </p:txBody>
      </p:sp>
      <p:sp>
        <p:nvSpPr>
          <p:cNvPr id="19" name="Reveal label"/>
          <p:cNvSpPr txBox="1"/>
          <p:nvPr/>
        </p:nvSpPr>
        <p:spPr>
          <a:xfrm>
            <a:off x="4474633" y="1879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0" name="COR/LOE badge"/>
          <p:cNvSpPr/>
          <p:nvPr/>
        </p:nvSpPr>
        <p:spPr>
          <a:xfrm>
            <a:off x="5494573" y="1879600"/>
            <a:ext cx="1446462" cy="304800"/>
          </a:xfrm>
          <a:prstGeom prst="roundRect">
            <a:avLst>
              <a:gd name="adj" fmla="val 50000"/>
            </a:avLst>
          </a:prstGeom>
          <a:solidFill>
            <a:srgbClr val="FDE2DF"/>
          </a:solidFill>
          <a:ln w="9525">
            <a:solidFill>
              <a:srgbClr val="F3A9A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A11A12"/>
                </a:solidFill>
                <a:latin typeface="Aptos"/>
              </a:rPr>
              <a:t>3: Harm/C-EO</a:t>
            </a:r>
          </a:p>
        </p:txBody>
      </p:sp>
      <p:sp>
        <p:nvSpPr>
          <p:cNvPr id="21" name="Body CASE 051"/>
          <p:cNvSpPr txBox="1"/>
          <p:nvPr/>
        </p:nvSpPr>
        <p:spPr>
          <a:xfrm>
            <a:off x="4474633" y="2489200"/>
            <a:ext cx="3306233" cy="3378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individuals with HeFH, standard risk assessment tools developed for the general population should not be used to calculate 10- or 30-y ASCVD risk.</a:t>
            </a:r>
          </a:p>
        </p:txBody>
      </p:sp>
      <p:sp>
        <p:nvSpPr>
          <p:cNvPr id="22" name="Card CASE 052"/>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052</a:t>
            </a:r>
          </a:p>
        </p:txBody>
      </p:sp>
      <p:sp>
        <p:nvSpPr>
          <p:cNvPr id="26" name="Reveal label"/>
          <p:cNvSpPr txBox="1"/>
          <p:nvPr/>
        </p:nvSpPr>
        <p:spPr>
          <a:xfrm>
            <a:off x="9752501"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772440"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28" name="Body CASE 052"/>
          <p:cNvSpPr txBox="1"/>
          <p:nvPr/>
        </p:nvSpPr>
        <p:spPr>
          <a:xfrm>
            <a:off x="8326967" y="2108200"/>
            <a:ext cx="3306233" cy="3378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with possible, probable, or definite FH, panel-based genetic testing for pathogenic/likely pathogenic rare variants for FH is beneficial to identify individuals at highest risk of cardiovascular events and to facilitate cascade screening.</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440"/>
              </a:lnSpc>
              <a:spcBef>
                <a:spcPts val="0"/>
              </a:spcBef>
              <a:spcAft>
                <a:spcPts val="0"/>
              </a:spcAft>
            </a:pPr>
            <a:r>
              <a:rPr sz="3700" b="1">
                <a:solidFill>
                  <a:srgbClr val="0B1F33"/>
                </a:solidFill>
                <a:latin typeface="Aptos Display"/>
              </a:rPr>
              <a:t>DECIDE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3"/>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053</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53"/>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An adult has LDL-C ≥190 mg/dL (4.9 mmol/L) without an identified secondary cause. What role does panel-based genetic testing have in identifying FH and ASCVD risk?</a:t>
            </a:r>
          </a:p>
        </p:txBody>
      </p:sp>
      <p:sp>
        <p:nvSpPr>
          <p:cNvPr id="14" name="Card CASE 054"/>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054</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54"/>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an elevated LDL-C of 160 to 189 mg/dL (4.1–4.9 mmol/L) without an identified secondary cause. What role, if any, does FH genetic testing have?</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719"/>
              </a:lnSpc>
              <a:spcBef>
                <a:spcPts val="0"/>
              </a:spcBef>
              <a:spcAft>
                <a:spcPts val="0"/>
              </a:spcAft>
            </a:pPr>
            <a:r>
              <a:rPr sz="3100" b="1">
                <a:solidFill>
                  <a:srgbClr val="0B1F33"/>
                </a:solidFill>
                <a:latin typeface="Aptos Display"/>
              </a:rPr>
              <a:t>SOURCE REVEAL — Severe Hypercholesterolemia &amp; FH</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5689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53"/>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053</a:t>
            </a:r>
          </a:p>
        </p:txBody>
      </p:sp>
      <p:sp>
        <p:nvSpPr>
          <p:cNvPr id="12" name="Reveal label"/>
          <p:cNvSpPr txBox="1"/>
          <p:nvPr/>
        </p:nvSpPr>
        <p:spPr>
          <a:xfrm>
            <a:off x="36442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7772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Body CASE 053"/>
          <p:cNvSpPr txBox="1"/>
          <p:nvPr/>
        </p:nvSpPr>
        <p:spPr>
          <a:xfrm>
            <a:off x="622300" y="2108200"/>
            <a:ext cx="5232400"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In adults with severe hypercholesterolemia with an LDL-C ≥190 mg/dL (4.9 mmol/L) without an identified secondary cause, panel-based genetic testing for pathogenic/likely pathogenic rare variants for FH can be useful to identify those with FH who are at higher risk of ASCVD events.</a:t>
            </a:r>
          </a:p>
        </p:txBody>
      </p:sp>
      <p:sp>
        <p:nvSpPr>
          <p:cNvPr id="15" name="Card CASE 054"/>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054</a:t>
            </a:r>
          </a:p>
        </p:txBody>
      </p:sp>
      <p:sp>
        <p:nvSpPr>
          <p:cNvPr id="19" name="Reveal label"/>
          <p:cNvSpPr txBox="1"/>
          <p:nvPr/>
        </p:nvSpPr>
        <p:spPr>
          <a:xfrm>
            <a:off x="941670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549654" y="1498600"/>
            <a:ext cx="1083546"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2b/B-NR</a:t>
            </a:r>
          </a:p>
        </p:txBody>
      </p:sp>
      <p:sp>
        <p:nvSpPr>
          <p:cNvPr id="21" name="Body CASE 054"/>
          <p:cNvSpPr txBox="1"/>
          <p:nvPr/>
        </p:nvSpPr>
        <p:spPr>
          <a:xfrm>
            <a:off x="6400800" y="2108200"/>
            <a:ext cx="5232400"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In adults with an elevated LDL-C of 160 to 189 mg/dL (4.1–4.9 mmol/L) without an identified secondary cause, panel-based genetic testing for pathogenic/likely pathogenic rare variants for FH may be considered to identify those with FH who are at higher risk of events.</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08</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M08</a:t>
            </a:r>
          </a:p>
        </p:txBody>
      </p:sp>
      <p:sp>
        <p:nvSpPr>
          <p:cNvPr id="5" name="Module name"/>
          <p:cNvSpPr txBox="1"/>
          <p:nvPr/>
        </p:nvSpPr>
        <p:spPr>
          <a:xfrm>
            <a:off x="660400" y="2095500"/>
            <a:ext cx="9525000" cy="72263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Diabetes</a:t>
            </a:r>
          </a:p>
        </p:txBody>
      </p:sp>
      <p:sp>
        <p:nvSpPr>
          <p:cNvPr id="6" name="Module meta"/>
          <p:cNvSpPr txBox="1"/>
          <p:nvPr/>
        </p:nvSpPr>
        <p:spPr>
          <a:xfrm>
            <a:off x="660400" y="309753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8 Core GP cases • 0 Important cases in Master/Core route</a:t>
            </a:r>
          </a:p>
        </p:txBody>
      </p:sp>
      <p:sp>
        <p:nvSpPr>
          <p:cNvPr id="7" name="Divider rule"/>
          <p:cNvSpPr/>
          <p:nvPr/>
        </p:nvSpPr>
        <p:spPr>
          <a:xfrm>
            <a:off x="660400" y="378333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03733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03733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03733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462153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Diabetes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65024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66"/>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066</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66"/>
          <p:cNvSpPr txBox="1"/>
          <p:nvPr/>
        </p:nvSpPr>
        <p:spPr>
          <a:xfrm>
            <a:off x="622300"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aged 40 to 75 y has diabetes without clinical ASCVD. What statin intensity and lipid goals are indicated to reduce ASCVD risk?</a:t>
            </a:r>
          </a:p>
        </p:txBody>
      </p:sp>
      <p:sp>
        <p:nvSpPr>
          <p:cNvPr id="14" name="Card CASE 067"/>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067</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67"/>
          <p:cNvSpPr txBox="1"/>
          <p:nvPr/>
        </p:nvSpPr>
        <p:spPr>
          <a:xfrm>
            <a:off x="4474633"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with diabetes has statin-attributed side effects. Which LDL-C-lowering options are recommended to reduce ASCVD risk?</a:t>
            </a:r>
          </a:p>
        </p:txBody>
      </p:sp>
      <p:sp>
        <p:nvSpPr>
          <p:cNvPr id="20" name="Card CASE 068"/>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068</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68"/>
          <p:cNvSpPr txBox="1"/>
          <p:nvPr/>
        </p:nvSpPr>
        <p:spPr>
          <a:xfrm>
            <a:off x="8326967"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adults 40 to 75 y of age with diabetes who have multiple ASCVD risk factors. What statin intensity and lipid goals apply?</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Diabetes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65024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66"/>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066</a:t>
            </a:r>
          </a:p>
        </p:txBody>
      </p:sp>
      <p:sp>
        <p:nvSpPr>
          <p:cNvPr id="12" name="Reveal label"/>
          <p:cNvSpPr txBox="1"/>
          <p:nvPr/>
        </p:nvSpPr>
        <p:spPr>
          <a:xfrm>
            <a:off x="2216416"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3349363"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14" name="Body CASE 066"/>
          <p:cNvSpPr txBox="1"/>
          <p:nvPr/>
        </p:nvSpPr>
        <p:spPr>
          <a:xfrm>
            <a:off x="622300"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40 to 75 y of age with diabetes and without clinical ASCVD, moderate-intensity statin therapy is indicated to achieve a ≥30% to 49% reduction in LDL-C and a goal of LDL-C &lt;100 mg/dL (2.6 mmol/L) and non–HDL-C &lt;130 mg/dL (3.4 mmol/L) to reduce ASCVD risk.</a:t>
            </a:r>
          </a:p>
        </p:txBody>
      </p:sp>
      <p:sp>
        <p:nvSpPr>
          <p:cNvPr id="15" name="Card CASE 067"/>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067</a:t>
            </a:r>
          </a:p>
        </p:txBody>
      </p:sp>
      <p:sp>
        <p:nvSpPr>
          <p:cNvPr id="19" name="Reveal label"/>
          <p:cNvSpPr txBox="1"/>
          <p:nvPr/>
        </p:nvSpPr>
        <p:spPr>
          <a:xfrm>
            <a:off x="5867016"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6999962"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21" name="Body CASE 067"/>
          <p:cNvSpPr txBox="1"/>
          <p:nvPr/>
        </p:nvSpPr>
        <p:spPr>
          <a:xfrm>
            <a:off x="4474633"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with diabetes who have statin-attributed side effects, initiation of ezetimibe and/or bempedoic acid or a PCSK9 mAb is recommended to lower LDL-C and reduce ASCVD risk.</a:t>
            </a:r>
          </a:p>
        </p:txBody>
      </p:sp>
      <p:sp>
        <p:nvSpPr>
          <p:cNvPr id="22" name="Card CASE 068"/>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068</a:t>
            </a:r>
          </a:p>
        </p:txBody>
      </p:sp>
      <p:sp>
        <p:nvSpPr>
          <p:cNvPr id="26" name="Reveal label"/>
          <p:cNvSpPr txBox="1"/>
          <p:nvPr/>
        </p:nvSpPr>
        <p:spPr>
          <a:xfrm>
            <a:off x="9790763"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810702" y="1498600"/>
            <a:ext cx="822498"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6B4B00"/>
                </a:solidFill>
                <a:latin typeface="Aptos"/>
              </a:rPr>
              <a:t>2a/B-R</a:t>
            </a:r>
          </a:p>
        </p:txBody>
      </p:sp>
      <p:sp>
        <p:nvSpPr>
          <p:cNvPr id="28" name="Body CASE 068"/>
          <p:cNvSpPr txBox="1"/>
          <p:nvPr/>
        </p:nvSpPr>
        <p:spPr>
          <a:xfrm>
            <a:off x="8326967"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40 to 75 y of age with diabetes who have multiple ASCVD risk factors, it is reasonable to prescribe high-intensity statin therapy to achieve a ≥50% reduction in LDL-C and a goal of LDL-C &lt;70 mg/dL (1.8 mmol/L) and non– HDL-C &lt;100 mg/dL (2.6 mmol/L) to reduce ASCVD risk.</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Diabetes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65024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69"/>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069</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69"/>
          <p:cNvSpPr txBox="1"/>
          <p:nvPr/>
        </p:nvSpPr>
        <p:spPr>
          <a:xfrm>
            <a:off x="622300"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An adult with diabetes, additional ASCVD risk factors, LDL-C &lt;100 mg/dL (2.6 mmol/L), and fasting TG 150–499 mg/dL (1.7–5.6 mmol/L) is taking a statin. What role, if any, does IPE have?</a:t>
            </a:r>
          </a:p>
        </p:txBody>
      </p:sp>
      <p:sp>
        <p:nvSpPr>
          <p:cNvPr id="14" name="Card CASE 070"/>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070</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70"/>
          <p:cNvSpPr txBox="1"/>
          <p:nvPr/>
        </p:nvSpPr>
        <p:spPr>
          <a:xfrm>
            <a:off x="4474633"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Consider adults with diabetes and 10-y ASCVD risk of ≥10% by the PREVENT-ASCVD equations. What add-on LLT, if any, and lipid goals apply?</a:t>
            </a:r>
          </a:p>
        </p:txBody>
      </p:sp>
      <p:sp>
        <p:nvSpPr>
          <p:cNvPr id="20" name="Card CASE 071"/>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071</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71"/>
          <p:cNvSpPr txBox="1"/>
          <p:nvPr/>
        </p:nvSpPr>
        <p:spPr>
          <a:xfrm>
            <a:off x="8326967"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Consider adults &gt;75 y of age with diabetes and an estimated life expectancy of at least 2.5 y. What statin initiation decision applies?</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Diabetes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65024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69"/>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069</a:t>
            </a:r>
          </a:p>
        </p:txBody>
      </p:sp>
      <p:sp>
        <p:nvSpPr>
          <p:cNvPr id="12" name="Reveal label"/>
          <p:cNvSpPr txBox="1"/>
          <p:nvPr/>
        </p:nvSpPr>
        <p:spPr>
          <a:xfrm>
            <a:off x="2080782"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13" name="COR/LOE badge"/>
          <p:cNvSpPr/>
          <p:nvPr/>
        </p:nvSpPr>
        <p:spPr>
          <a:xfrm>
            <a:off x="3100721" y="1498600"/>
            <a:ext cx="827812"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8A3605"/>
                </a:solidFill>
                <a:latin typeface="Aptos"/>
              </a:rPr>
              <a:t>2b/B-R</a:t>
            </a:r>
          </a:p>
        </p:txBody>
      </p:sp>
      <p:sp>
        <p:nvSpPr>
          <p:cNvPr id="14" name="Body CASE 069"/>
          <p:cNvSpPr txBox="1"/>
          <p:nvPr/>
        </p:nvSpPr>
        <p:spPr>
          <a:xfrm>
            <a:off x="622300"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with diabetes without ASCVD but with additional ASCVD risk factor(s)* on a statin with an LDL-C &lt;100 mg/dL (2.6 mmol/L) and elevated fasting TG (150–499 mg/dL [1.7–5.6 mmol/L]), the addition of IPE may be considered to reduce ASCVD risk.</a:t>
            </a:r>
          </a:p>
        </p:txBody>
      </p:sp>
      <p:sp>
        <p:nvSpPr>
          <p:cNvPr id="15" name="Card CASE 070"/>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070</a:t>
            </a:r>
          </a:p>
        </p:txBody>
      </p:sp>
      <p:sp>
        <p:nvSpPr>
          <p:cNvPr id="19" name="Reveal label"/>
          <p:cNvSpPr txBox="1"/>
          <p:nvPr/>
        </p:nvSpPr>
        <p:spPr>
          <a:xfrm>
            <a:off x="5821416"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0" name="COR/LOE badge"/>
          <p:cNvSpPr/>
          <p:nvPr/>
        </p:nvSpPr>
        <p:spPr>
          <a:xfrm>
            <a:off x="6841355" y="1498600"/>
            <a:ext cx="939511"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8A3605"/>
                </a:solidFill>
                <a:latin typeface="Aptos"/>
              </a:rPr>
              <a:t>2b/C-LD</a:t>
            </a:r>
          </a:p>
        </p:txBody>
      </p:sp>
      <p:sp>
        <p:nvSpPr>
          <p:cNvPr id="21" name="Body CASE 070"/>
          <p:cNvSpPr txBox="1"/>
          <p:nvPr/>
        </p:nvSpPr>
        <p:spPr>
          <a:xfrm>
            <a:off x="4474633"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with diabetes and 10-y ASCVD risk of ≥10% by the PREVENT-ASCVD equations, it may be reasonable to add ezetimibe or a PCSK9 mAb to maximally tolerated statin therapy to achieve an LDL-C goal of &lt;70 mg/dL (1.8 mmol/L) and non–HDL-C &lt;100 mg/dL (2.6 mmol/L) to reduce ASCVD risk.</a:t>
            </a:r>
          </a:p>
        </p:txBody>
      </p:sp>
      <p:sp>
        <p:nvSpPr>
          <p:cNvPr id="22" name="Card CASE 071"/>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071</a:t>
            </a:r>
          </a:p>
        </p:txBody>
      </p:sp>
      <p:sp>
        <p:nvSpPr>
          <p:cNvPr id="26" name="Reveal label"/>
          <p:cNvSpPr txBox="1"/>
          <p:nvPr/>
        </p:nvSpPr>
        <p:spPr>
          <a:xfrm>
            <a:off x="9673749"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693689" y="1498600"/>
            <a:ext cx="939511"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8A3605"/>
                </a:solidFill>
                <a:latin typeface="Aptos"/>
              </a:rPr>
              <a:t>2b/C-LD</a:t>
            </a:r>
          </a:p>
        </p:txBody>
      </p:sp>
      <p:sp>
        <p:nvSpPr>
          <p:cNvPr id="28" name="Body CASE 071"/>
          <p:cNvSpPr txBox="1"/>
          <p:nvPr/>
        </p:nvSpPr>
        <p:spPr>
          <a:xfrm>
            <a:off x="8326967"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adults &gt;75 y of age with diabetes and an estimated life expectancy of at least 2.5 y, it may be reasonable to initiate moderate-intensity statin therapy after a clinician–patient discussion of potential benefits and risks to reduce ASCVD risk.</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Diabetes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65024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7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072</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072</a:t>
            </a:r>
          </a:p>
        </p:txBody>
      </p:sp>
      <p:sp>
        <p:nvSpPr>
          <p:cNvPr id="14" name="Body CASE 072"/>
          <p:cNvSpPr txBox="1"/>
          <p:nvPr/>
        </p:nvSpPr>
        <p:spPr>
          <a:xfrm>
            <a:off x="622300" y="2108200"/>
            <a:ext cx="8343900" cy="3759200"/>
          </a:xfrm>
          <a:prstGeom prst="rect">
            <a:avLst/>
          </a:prstGeom>
          <a:noFill/>
        </p:spPr>
        <p:txBody>
          <a:bodyPr wrap="square" lIns="0" rIns="0" tIns="0" bIns="0" anchor="t">
            <a:noAutofit/>
          </a:bodyPr>
          <a:lstStyle/>
          <a:p>
            <a:pPr algn="l">
              <a:lnSpc>
                <a:spcPts val="3625"/>
              </a:lnSpc>
              <a:spcBef>
                <a:spcPts val="0"/>
              </a:spcBef>
              <a:spcAft>
                <a:spcPts val="0"/>
              </a:spcAft>
            </a:pPr>
            <a:r>
              <a:rPr sz="2900" b="0">
                <a:solidFill>
                  <a:srgbClr val="17212B"/>
                </a:solidFill>
                <a:latin typeface="Aptos"/>
              </a:rPr>
              <a:t>Consider adults 20 to 39 y of age with diabetes of long duration (≥10 y of type 2 diabetes, ≥20 y of type 1 diabetes), albuminuria (≥30 μg of albumin/ mg creatinine), estimated glomerular filtration rate (eGFR) &lt;60 mL/min/1.73 m2, retinopathy, neuropathy, or ankle-brachial index &lt;0.9. What statin initiation decision applies?</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Diabetes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65024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7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072</a:t>
            </a:r>
          </a:p>
        </p:txBody>
      </p:sp>
      <p:sp>
        <p:nvSpPr>
          <p:cNvPr id="12" name="Reveal label"/>
          <p:cNvSpPr txBox="1"/>
          <p:nvPr/>
        </p:nvSpPr>
        <p:spPr>
          <a:xfrm>
            <a:off x="9459160"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92106" y="1498600"/>
            <a:ext cx="1041094"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2b/C-LD</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072</a:t>
            </a:r>
          </a:p>
        </p:txBody>
      </p:sp>
      <p:sp>
        <p:nvSpPr>
          <p:cNvPr id="15" name="Body CASE 072"/>
          <p:cNvSpPr txBox="1"/>
          <p:nvPr/>
        </p:nvSpPr>
        <p:spPr>
          <a:xfrm>
            <a:off x="622300" y="2108200"/>
            <a:ext cx="83439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In adults 20 to 39 y of age with diabetes of long duration (≥10 y of type 2 diabetes, ≥20 y of type 1 diabetes), albuminuria (≥30 μg of albumin/ mg creatinine), estimated glomerular filtration rate (eGFR) &lt;60 mL/min/1.73 m2, retinopathy, neuropathy, or ankle-brachial index &lt;0.9, it may be reasonable to initiate moderate-intensity statin therapy to reduce ASCVD risk.</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Diabetes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65024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51"/>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151</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151</a:t>
            </a:r>
          </a:p>
        </p:txBody>
      </p:sp>
      <p:sp>
        <p:nvSpPr>
          <p:cNvPr id="14" name="Body CASE 151"/>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 patient with diabetes needs risk personalization. Which diabetes-specific risk enhancers and thresholds apply?</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Diabetes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65024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51"/>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151</a:t>
            </a:r>
          </a:p>
        </p:txBody>
      </p:sp>
      <p:sp>
        <p:nvSpPr>
          <p:cNvPr id="12"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151</a:t>
            </a:r>
          </a:p>
        </p:txBody>
      </p:sp>
      <p:sp>
        <p:nvSpPr>
          <p:cNvPr id="14" name="Body CASE 151"/>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Diabetes-specific risk enhancers include type 2 diabetes duration ≥10 years or type 1 diabetes duration ≥20 years, albuminuria ≥30 μg albumin/mg creatinine, eGFR &lt;60 mL/min/1.73 m², retinopathy, neuropathy, and ankle-brachial index &lt;0.9.</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09</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M09</a:t>
            </a:r>
          </a:p>
        </p:txBody>
      </p:sp>
      <p:sp>
        <p:nvSpPr>
          <p:cNvPr id="5" name="Module name"/>
          <p:cNvSpPr txBox="1"/>
          <p:nvPr/>
        </p:nvSpPr>
        <p:spPr>
          <a:xfrm>
            <a:off x="660400" y="2095500"/>
            <a:ext cx="9525000" cy="72263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Secondary ASCVD Prevention</a:t>
            </a:r>
          </a:p>
        </p:txBody>
      </p:sp>
      <p:sp>
        <p:nvSpPr>
          <p:cNvPr id="6" name="Module meta"/>
          <p:cNvSpPr txBox="1"/>
          <p:nvPr/>
        </p:nvSpPr>
        <p:spPr>
          <a:xfrm>
            <a:off x="660400" y="309753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8 Core GP cases • 0 Important cases in Master/Core route</a:t>
            </a:r>
          </a:p>
        </p:txBody>
      </p:sp>
      <p:sp>
        <p:nvSpPr>
          <p:cNvPr id="7" name="Divider rule"/>
          <p:cNvSpPr/>
          <p:nvPr/>
        </p:nvSpPr>
        <p:spPr>
          <a:xfrm>
            <a:off x="660400" y="378333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03733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03733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03733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462153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Secondary ASCVD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7315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73"/>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073</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73"/>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An adult has clinical ASCVD but is not at very high risk (Figure 10). What initial statin intensity and lipid goals apply?</a:t>
            </a:r>
          </a:p>
        </p:txBody>
      </p:sp>
      <p:sp>
        <p:nvSpPr>
          <p:cNvPr id="14" name="Card CASE 074"/>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074</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74"/>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clinical ASCVD who are not at very high risk and on maximally tolerated statin therapy. What add-on LLT and lipid goals apply?</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079"/>
              </a:lnSpc>
              <a:spcBef>
                <a:spcPts val="0"/>
              </a:spcBef>
              <a:spcAft>
                <a:spcPts val="0"/>
              </a:spcAft>
            </a:pPr>
            <a:r>
              <a:rPr sz="3400" b="1">
                <a:solidFill>
                  <a:srgbClr val="0B1F33"/>
                </a:solidFill>
                <a:latin typeface="Aptos Display"/>
              </a:rPr>
              <a:t>SOURCE REVEAL — Secondary ASCVD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7315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73"/>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073</a:t>
            </a:r>
          </a:p>
        </p:txBody>
      </p:sp>
      <p:sp>
        <p:nvSpPr>
          <p:cNvPr id="12" name="Reveal label"/>
          <p:cNvSpPr txBox="1"/>
          <p:nvPr/>
        </p:nvSpPr>
        <p:spPr>
          <a:xfrm>
            <a:off x="414258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5275529"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14" name="Body CASE 073"/>
          <p:cNvSpPr txBox="1"/>
          <p:nvPr/>
        </p:nvSpPr>
        <p:spPr>
          <a:xfrm>
            <a:off x="6223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with clinical ASCVD who are not at very high risk (Figure 10), high-intensity statin therapy should be initiated to achieve a ≥50% reduction in LDL-C and a goal of LDL-C &lt;70 mg/dL (1.8 mmol/L) and non–HDL-C &lt;100 mg/dL to reduce the risk of recurrent ASCVD events.</a:t>
            </a:r>
          </a:p>
        </p:txBody>
      </p:sp>
      <p:sp>
        <p:nvSpPr>
          <p:cNvPr id="15" name="Card CASE 074"/>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074</a:t>
            </a:r>
          </a:p>
        </p:txBody>
      </p:sp>
      <p:sp>
        <p:nvSpPr>
          <p:cNvPr id="19" name="Reveal label"/>
          <p:cNvSpPr txBox="1"/>
          <p:nvPr/>
        </p:nvSpPr>
        <p:spPr>
          <a:xfrm>
            <a:off x="959293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725880" y="1498600"/>
            <a:ext cx="907320"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2a/B-R</a:t>
            </a:r>
          </a:p>
        </p:txBody>
      </p:sp>
      <p:sp>
        <p:nvSpPr>
          <p:cNvPr id="21" name="Body CASE 074"/>
          <p:cNvSpPr txBox="1"/>
          <p:nvPr/>
        </p:nvSpPr>
        <p:spPr>
          <a:xfrm>
            <a:off x="64008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with clinical ASCVD who are not at very high risk and on maximally tolerated statin therapy, it is reasonable to add ezetimibe, a PCSK9 mAb, or bempedoic acid (selection depending on degree of LDL-C lowering needed and patient preference) to achieve a goal of LDL-C &lt;70 mg/dL (1.8 mmol/L) and non–HDL-C &lt;100 mg/dL to reduce the risk of ASCVD events.</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Secondary ASCVD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7315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75"/>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075</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75"/>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clinical ASCVD who are not at very high risk and on maximally tolerated statin therapy. What add-on LLT and lipid goals apply?</a:t>
            </a:r>
          </a:p>
        </p:txBody>
      </p:sp>
      <p:sp>
        <p:nvSpPr>
          <p:cNvPr id="14" name="Card CASE 076"/>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076</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76"/>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An adult with clinical ASCVD* is at very high risk (Figure 10 and Figure 11). What initial statin intensity and lipid goals apply?</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079"/>
              </a:lnSpc>
              <a:spcBef>
                <a:spcPts val="0"/>
              </a:spcBef>
              <a:spcAft>
                <a:spcPts val="0"/>
              </a:spcAft>
            </a:pPr>
            <a:r>
              <a:rPr sz="3400" b="1">
                <a:solidFill>
                  <a:srgbClr val="0B1F33"/>
                </a:solidFill>
                <a:latin typeface="Aptos Display"/>
              </a:rPr>
              <a:t>SOURCE REVEAL — Secondary ASCVD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7315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75"/>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075</a:t>
            </a:r>
          </a:p>
        </p:txBody>
      </p:sp>
      <p:sp>
        <p:nvSpPr>
          <p:cNvPr id="12" name="Reveal label"/>
          <p:cNvSpPr txBox="1"/>
          <p:nvPr/>
        </p:nvSpPr>
        <p:spPr>
          <a:xfrm>
            <a:off x="381443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947380" y="1498600"/>
            <a:ext cx="907320"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2a/B-R</a:t>
            </a:r>
          </a:p>
        </p:txBody>
      </p:sp>
      <p:sp>
        <p:nvSpPr>
          <p:cNvPr id="14" name="Body CASE 075"/>
          <p:cNvSpPr txBox="1"/>
          <p:nvPr/>
        </p:nvSpPr>
        <p:spPr>
          <a:xfrm>
            <a:off x="6223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with clinical ASCVD who are not at very high risk and on maximally tolerated statin therapy, it is reasonable to add ezetimibe, a PCSK9 mAb, or bempedoic acid (selection based on the degree of LDL-C lowering needed and patient preference) to achieve a goal LDL-C &lt;55 mg/dL (1.4 mmol/L) and non–HDL-C &lt;85 mg/dL (2.2 mmol/L) and to reduce the risk of ASCVD events.</a:t>
            </a:r>
          </a:p>
        </p:txBody>
      </p:sp>
      <p:sp>
        <p:nvSpPr>
          <p:cNvPr id="15" name="Card CASE 076"/>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076</a:t>
            </a:r>
          </a:p>
        </p:txBody>
      </p:sp>
      <p:sp>
        <p:nvSpPr>
          <p:cNvPr id="19" name="Reveal label"/>
          <p:cNvSpPr txBox="1"/>
          <p:nvPr/>
        </p:nvSpPr>
        <p:spPr>
          <a:xfrm>
            <a:off x="992108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1054029"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21" name="Body CASE 076"/>
          <p:cNvSpPr txBox="1"/>
          <p:nvPr/>
        </p:nvSpPr>
        <p:spPr>
          <a:xfrm>
            <a:off x="64008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with clinical ASCVD* who are at very high risk (Figure 10 and Figure 11), high-intensity statin therapy should be initiated to achieve a ≥50% reduction in LDL-C and a goal LDL-C &lt;55 mg/dL (1.4 mmol/L) and non–HDL-C &lt;85 mg/dL (2.2 mmol/L) and to reduce the risk of ASCVD events.</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Secondary ASCVD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7315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77"/>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077</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77"/>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clinical ASCVD who are at very high risk and on maximally tolerated statin therapy. What add-on LLT and lipid goals apply?</a:t>
            </a:r>
          </a:p>
        </p:txBody>
      </p:sp>
      <p:sp>
        <p:nvSpPr>
          <p:cNvPr id="14" name="Card CASE 078"/>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078</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78"/>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clinical ASCVD who are at very high risk on maximally tolerated statin therapy. What further LLT, if any, and lipid goals apply?</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079"/>
              </a:lnSpc>
              <a:spcBef>
                <a:spcPts val="0"/>
              </a:spcBef>
              <a:spcAft>
                <a:spcPts val="0"/>
              </a:spcAft>
            </a:pPr>
            <a:r>
              <a:rPr sz="3400" b="1">
                <a:solidFill>
                  <a:srgbClr val="0B1F33"/>
                </a:solidFill>
                <a:latin typeface="Aptos Display"/>
              </a:rPr>
              <a:t>SOURCE REVEAL — Secondary ASCVD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7315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77"/>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077</a:t>
            </a:r>
          </a:p>
        </p:txBody>
      </p:sp>
      <p:sp>
        <p:nvSpPr>
          <p:cNvPr id="12" name="Reveal label"/>
          <p:cNvSpPr txBox="1"/>
          <p:nvPr/>
        </p:nvSpPr>
        <p:spPr>
          <a:xfrm>
            <a:off x="414258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5275529"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14" name="Body CASE 077"/>
          <p:cNvSpPr txBox="1"/>
          <p:nvPr/>
        </p:nvSpPr>
        <p:spPr>
          <a:xfrm>
            <a:off x="622300" y="2108200"/>
            <a:ext cx="5232400" cy="3759200"/>
          </a:xfrm>
          <a:prstGeom prst="rect">
            <a:avLst/>
          </a:prstGeom>
          <a:noFill/>
        </p:spPr>
        <p:txBody>
          <a:bodyPr wrap="square" lIns="0" rIns="0" tIns="0" bIns="0" anchor="t">
            <a:noAutofit/>
          </a:bodyPr>
          <a:lstStyle/>
          <a:p>
            <a:pPr algn="l">
              <a:lnSpc>
                <a:spcPts val="2750"/>
              </a:lnSpc>
              <a:spcBef>
                <a:spcPts val="0"/>
              </a:spcBef>
              <a:spcAft>
                <a:spcPts val="0"/>
              </a:spcAft>
            </a:pPr>
            <a:r>
              <a:rPr sz="2200" b="0">
                <a:solidFill>
                  <a:srgbClr val="17212B"/>
                </a:solidFill>
                <a:latin typeface="Aptos"/>
              </a:rPr>
              <a:t>In adults with clinical ASCVD who are at very high risk and on maximally tolerated statin therapy, ezetimibe and/or a PCSK9 mAb should be added (selected based on the degree of LDL-C lowering needed and patient preference) to achieve a goal of LDL-C &lt;55 mg/dL (1.4 mmol/L) and non–HDL-C &lt;85 mg/dL (2.2 mmol/L) to reduce risk of ASCVD events.</a:t>
            </a:r>
          </a:p>
        </p:txBody>
      </p:sp>
      <p:sp>
        <p:nvSpPr>
          <p:cNvPr id="15" name="Card CASE 078"/>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078</a:t>
            </a:r>
          </a:p>
        </p:txBody>
      </p:sp>
      <p:sp>
        <p:nvSpPr>
          <p:cNvPr id="19" name="Reveal label"/>
          <p:cNvSpPr txBox="1"/>
          <p:nvPr/>
        </p:nvSpPr>
        <p:spPr>
          <a:xfrm>
            <a:off x="959293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725880" y="1498600"/>
            <a:ext cx="907320"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2a/B-R</a:t>
            </a:r>
          </a:p>
        </p:txBody>
      </p:sp>
      <p:sp>
        <p:nvSpPr>
          <p:cNvPr id="21" name="Body CASE 078"/>
          <p:cNvSpPr txBox="1"/>
          <p:nvPr/>
        </p:nvSpPr>
        <p:spPr>
          <a:xfrm>
            <a:off x="6400800" y="2108200"/>
            <a:ext cx="5232400" cy="3759200"/>
          </a:xfrm>
          <a:prstGeom prst="rect">
            <a:avLst/>
          </a:prstGeom>
          <a:noFill/>
        </p:spPr>
        <p:txBody>
          <a:bodyPr wrap="square" lIns="0" rIns="0" tIns="0" bIns="0" anchor="t">
            <a:noAutofit/>
          </a:bodyPr>
          <a:lstStyle/>
          <a:p>
            <a:pPr algn="l">
              <a:lnSpc>
                <a:spcPts val="2750"/>
              </a:lnSpc>
              <a:spcBef>
                <a:spcPts val="0"/>
              </a:spcBef>
              <a:spcAft>
                <a:spcPts val="0"/>
              </a:spcAft>
            </a:pPr>
            <a:r>
              <a:rPr sz="2200" b="0">
                <a:solidFill>
                  <a:srgbClr val="17212B"/>
                </a:solidFill>
                <a:latin typeface="Aptos"/>
              </a:rPr>
              <a:t>In adults with clinical ASCVD who are at very high risk on maximally tolerated statin therapy, it is reasonable to add bempedoic acid, with or without ezetimibe and/or PCSK9 mAb, to reach an LDL-C goal &lt;55 mg/dL (1.4 mmol/L) and non–HDL-C &lt;85 mg/dL (2.2 mmol/L) to reduce the risk of ASCVD events.</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Secondary ASCVD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7315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79"/>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079</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79"/>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clinical ASCVD who are at very high risk and on maximally tolerated statin therapy with or without ezetimibe. What further LLT option applies when standard PCSK9 antibodies are unsuitable?</a:t>
            </a:r>
          </a:p>
        </p:txBody>
      </p:sp>
      <p:sp>
        <p:nvSpPr>
          <p:cNvPr id="14" name="Card CASE 080"/>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080</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80"/>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HFrEF attributable to ischemic heart disease who have a reasonable life expectancy (3–5 y) and are not already on a statin because of ASCVD. What statin initiation decision applies?</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079"/>
              </a:lnSpc>
              <a:spcBef>
                <a:spcPts val="0"/>
              </a:spcBef>
              <a:spcAft>
                <a:spcPts val="0"/>
              </a:spcAft>
            </a:pPr>
            <a:r>
              <a:rPr sz="3400" b="1">
                <a:solidFill>
                  <a:srgbClr val="0B1F33"/>
                </a:solidFill>
                <a:latin typeface="Aptos Display"/>
              </a:rPr>
              <a:t>SOURCE REVEAL — Secondary ASCVD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7315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79"/>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079</a:t>
            </a:r>
          </a:p>
        </p:txBody>
      </p:sp>
      <p:sp>
        <p:nvSpPr>
          <p:cNvPr id="12" name="Reveal label"/>
          <p:cNvSpPr txBox="1"/>
          <p:nvPr/>
        </p:nvSpPr>
        <p:spPr>
          <a:xfrm>
            <a:off x="381443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947380" y="1498600"/>
            <a:ext cx="907320"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2a/B-R</a:t>
            </a:r>
          </a:p>
        </p:txBody>
      </p:sp>
      <p:sp>
        <p:nvSpPr>
          <p:cNvPr id="14" name="Body CASE 079"/>
          <p:cNvSpPr txBox="1"/>
          <p:nvPr/>
        </p:nvSpPr>
        <p:spPr>
          <a:xfrm>
            <a:off x="6223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with clinical ASCVD who are at very high risk and on maximally tolerated statin therapy with or without ezetimibe, it is reasonable to add inclisiran† in those unable to tolerate or obtain evolocumab or alirocumab or have a strong preference for less frequent dosing to achieve an LDL-C goal &lt;55 mg/dL (1.4 mmol/L) and non– HDL-C &lt;85 mg/dL (2.2 mmol/L).</a:t>
            </a:r>
          </a:p>
        </p:txBody>
      </p:sp>
      <p:sp>
        <p:nvSpPr>
          <p:cNvPr id="15" name="Card CASE 080"/>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080</a:t>
            </a:r>
          </a:p>
        </p:txBody>
      </p:sp>
      <p:sp>
        <p:nvSpPr>
          <p:cNvPr id="19" name="Reveal label"/>
          <p:cNvSpPr txBox="1"/>
          <p:nvPr/>
        </p:nvSpPr>
        <p:spPr>
          <a:xfrm>
            <a:off x="958686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719810" y="1498600"/>
            <a:ext cx="913390"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2b/B-R</a:t>
            </a:r>
          </a:p>
        </p:txBody>
      </p:sp>
      <p:sp>
        <p:nvSpPr>
          <p:cNvPr id="21" name="Body CASE 080"/>
          <p:cNvSpPr txBox="1"/>
          <p:nvPr/>
        </p:nvSpPr>
        <p:spPr>
          <a:xfrm>
            <a:off x="64008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with HFrEF attributable to ischemic heart disease who have a reasonable life expectancy (3–5 y) and are not already on a statin because of ASCVD, it may be reasonable to consider initiation of moderate-intensity statin therapy to reduce the occurrence of ASCVD events.</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10</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M10</a:t>
            </a:r>
          </a:p>
        </p:txBody>
      </p:sp>
      <p:sp>
        <p:nvSpPr>
          <p:cNvPr id="5" name="Module name"/>
          <p:cNvSpPr txBox="1"/>
          <p:nvPr/>
        </p:nvSpPr>
        <p:spPr>
          <a:xfrm>
            <a:off x="660400" y="2095500"/>
            <a:ext cx="9525000" cy="72263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Subclinical Atherosclerosis</a:t>
            </a:r>
          </a:p>
        </p:txBody>
      </p:sp>
      <p:sp>
        <p:nvSpPr>
          <p:cNvPr id="6" name="Module meta"/>
          <p:cNvSpPr txBox="1"/>
          <p:nvPr/>
        </p:nvSpPr>
        <p:spPr>
          <a:xfrm>
            <a:off x="660400" y="309753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6 Core GP cases • 0 Important cases in Master/Core route</a:t>
            </a:r>
          </a:p>
        </p:txBody>
      </p:sp>
      <p:sp>
        <p:nvSpPr>
          <p:cNvPr id="7" name="Divider rule"/>
          <p:cNvSpPr/>
          <p:nvPr/>
        </p:nvSpPr>
        <p:spPr>
          <a:xfrm>
            <a:off x="660400" y="378333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03733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03733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03733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462153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Subclinical Atherosclerosis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1280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81"/>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081</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81"/>
          <p:cNvSpPr txBox="1"/>
          <p:nvPr/>
        </p:nvSpPr>
        <p:spPr>
          <a:xfrm>
            <a:off x="622300"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has a CAC score ≥1000 AU. What LDL-C-lowering approach and lipid goals apply?</a:t>
            </a:r>
          </a:p>
        </p:txBody>
      </p:sp>
      <p:sp>
        <p:nvSpPr>
          <p:cNvPr id="14" name="Card CASE 082"/>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082</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82"/>
          <p:cNvSpPr txBox="1"/>
          <p:nvPr/>
        </p:nvSpPr>
        <p:spPr>
          <a:xfrm>
            <a:off x="4474633"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has a CAC score of 300 to 999 AU. What LDL-C-lowering approach and lipid goals apply?</a:t>
            </a:r>
          </a:p>
        </p:txBody>
      </p:sp>
      <p:sp>
        <p:nvSpPr>
          <p:cNvPr id="20" name="Card CASE 083"/>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083</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83"/>
          <p:cNvSpPr txBox="1"/>
          <p:nvPr/>
        </p:nvSpPr>
        <p:spPr>
          <a:xfrm>
            <a:off x="8326967"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has a CAC score of 100 to 299 AU or is at or above the 75th standardized percentile. What lipid-lowering approach and goals apply?</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320"/>
              </a:lnSpc>
              <a:spcBef>
                <a:spcPts val="0"/>
              </a:spcBef>
              <a:spcAft>
                <a:spcPts val="0"/>
              </a:spcAft>
            </a:pPr>
            <a:r>
              <a:rPr sz="3600" b="1">
                <a:solidFill>
                  <a:srgbClr val="0B1F33"/>
                </a:solidFill>
                <a:latin typeface="Aptos Display"/>
              </a:rPr>
              <a:t>SOURCE REVEAL — Subclinical Atherosclerosis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1280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81"/>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081</a:t>
            </a:r>
          </a:p>
        </p:txBody>
      </p:sp>
      <p:sp>
        <p:nvSpPr>
          <p:cNvPr id="12" name="Reveal label"/>
          <p:cNvSpPr txBox="1"/>
          <p:nvPr/>
        </p:nvSpPr>
        <p:spPr>
          <a:xfrm>
            <a:off x="2047834"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13" name="COR/LOE badge"/>
          <p:cNvSpPr/>
          <p:nvPr/>
        </p:nvSpPr>
        <p:spPr>
          <a:xfrm>
            <a:off x="3067774"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14" name="Body CASE 081"/>
          <p:cNvSpPr txBox="1"/>
          <p:nvPr/>
        </p:nvSpPr>
        <p:spPr>
          <a:xfrm>
            <a:off x="622300"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with a CAC score of ≥1000 AU, treatment with LDL-C–lowering therapies with consideration of statin therapy as first line is recommended to achieve a ≥50% reduction in LDL-C and a goal of LDL-C &lt;55 mg/dL (1.4 mmol/L) and non–HDL-C &lt;85 mg/dL (2.2 mmol/L).</a:t>
            </a:r>
          </a:p>
        </p:txBody>
      </p:sp>
      <p:sp>
        <p:nvSpPr>
          <p:cNvPr id="15" name="Card CASE 082"/>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082</a:t>
            </a:r>
          </a:p>
        </p:txBody>
      </p:sp>
      <p:sp>
        <p:nvSpPr>
          <p:cNvPr id="19" name="Reveal label"/>
          <p:cNvSpPr txBox="1"/>
          <p:nvPr/>
        </p:nvSpPr>
        <p:spPr>
          <a:xfrm>
            <a:off x="5867016"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6999962"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21" name="Body CASE 082"/>
          <p:cNvSpPr txBox="1"/>
          <p:nvPr/>
        </p:nvSpPr>
        <p:spPr>
          <a:xfrm>
            <a:off x="4474633"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with a CAC score of ≥300 to 999 AU, treatment with LDL-C– lowering therapies, with consideration of statin therapy as first line, is recommended to achieve a ≥50% lowering in LDL-C and a goal LDL-C &lt;70 mg/dL (1.8 mmol/L) and non–HDL-C &lt;100 mg/dL (2.6 mmol/L).</a:t>
            </a:r>
          </a:p>
        </p:txBody>
      </p:sp>
      <p:sp>
        <p:nvSpPr>
          <p:cNvPr id="22" name="Card CASE 083"/>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083</a:t>
            </a:r>
          </a:p>
        </p:txBody>
      </p:sp>
      <p:sp>
        <p:nvSpPr>
          <p:cNvPr id="26" name="Reveal label"/>
          <p:cNvSpPr txBox="1"/>
          <p:nvPr/>
        </p:nvSpPr>
        <p:spPr>
          <a:xfrm>
            <a:off x="97193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7" name="COR/LOE badge"/>
          <p:cNvSpPr/>
          <p:nvPr/>
        </p:nvSpPr>
        <p:spPr>
          <a:xfrm>
            <a:off x="108522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28" name="Body CASE 083"/>
          <p:cNvSpPr txBox="1"/>
          <p:nvPr/>
        </p:nvSpPr>
        <p:spPr>
          <a:xfrm>
            <a:off x="8326967"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with a CAC score of ≥100 to 299 AU or ≥75th standardized percentile, treatment with LLT, with consideration of statin therapy as first-line therapy, is recommended to achieve a ≥50% reduction in LDL-C and a goal LDL-C &lt;70 mg/dL (1.8 mmol/L) and non–HDL-C &lt;100 mg/dL (2.6 mmol/L).</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Subclinical Atherosclerosis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1280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84"/>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084</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84"/>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An adult has a CAC score of 1 to 99 AU and is below the 75th standardized percentile, or has an incidental finding of mild CAC on noncardiac CT. What statin intensity and lipid goals are supported?</a:t>
            </a:r>
          </a:p>
        </p:txBody>
      </p:sp>
      <p:sp>
        <p:nvSpPr>
          <p:cNvPr id="14" name="Card CASE 085"/>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085</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85"/>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with a CAC score of ≥300 to 999 AU. What LLT intensity and lipid goals apply?</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320"/>
              </a:lnSpc>
              <a:spcBef>
                <a:spcPts val="0"/>
              </a:spcBef>
              <a:spcAft>
                <a:spcPts val="0"/>
              </a:spcAft>
            </a:pPr>
            <a:r>
              <a:rPr sz="3600" b="1">
                <a:solidFill>
                  <a:srgbClr val="0B1F33"/>
                </a:solidFill>
                <a:latin typeface="Aptos Display"/>
              </a:rPr>
              <a:t>SOURCE REVEAL — Subclinical Atherosclerosis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1280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84"/>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084</a:t>
            </a:r>
          </a:p>
        </p:txBody>
      </p:sp>
      <p:sp>
        <p:nvSpPr>
          <p:cNvPr id="12" name="Reveal label"/>
          <p:cNvSpPr txBox="1"/>
          <p:nvPr/>
        </p:nvSpPr>
        <p:spPr>
          <a:xfrm>
            <a:off x="381443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947380" y="1498600"/>
            <a:ext cx="907320"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2a/B-R</a:t>
            </a:r>
          </a:p>
        </p:txBody>
      </p:sp>
      <p:sp>
        <p:nvSpPr>
          <p:cNvPr id="14" name="Body CASE 084"/>
          <p:cNvSpPr txBox="1"/>
          <p:nvPr/>
        </p:nvSpPr>
        <p:spPr>
          <a:xfrm>
            <a:off x="622300" y="2108200"/>
            <a:ext cx="5232400" cy="3759200"/>
          </a:xfrm>
          <a:prstGeom prst="rect">
            <a:avLst/>
          </a:prstGeom>
          <a:noFill/>
        </p:spPr>
        <p:txBody>
          <a:bodyPr wrap="square" lIns="0" rIns="0" tIns="0" bIns="0" anchor="t">
            <a:noAutofit/>
          </a:bodyPr>
          <a:lstStyle/>
          <a:p>
            <a:pPr algn="l">
              <a:lnSpc>
                <a:spcPts val="2750"/>
              </a:lnSpc>
              <a:spcBef>
                <a:spcPts val="0"/>
              </a:spcBef>
              <a:spcAft>
                <a:spcPts val="0"/>
              </a:spcAft>
            </a:pPr>
            <a:r>
              <a:rPr sz="2200" b="0">
                <a:solidFill>
                  <a:srgbClr val="17212B"/>
                </a:solidFill>
                <a:latin typeface="Aptos"/>
              </a:rPr>
              <a:t>In adults with a CAC score of 1 to 99 AU and &lt;75th standardized percentile, or with an incidental finding of mild CAC on noncardiac CT scan, treatment with moderate-intensity statin therapy is reasonable to achieve a ≥30% to 49% reduction in LDL-C and a goal of LDL-C &lt;100 mg/dL (2.6 mmol/L) and non–HDL-C &lt;130 mg/dL (3.4 mmol/L).</a:t>
            </a:r>
          </a:p>
        </p:txBody>
      </p:sp>
      <p:sp>
        <p:nvSpPr>
          <p:cNvPr id="15" name="Card CASE 085"/>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085</a:t>
            </a:r>
          </a:p>
        </p:txBody>
      </p:sp>
      <p:sp>
        <p:nvSpPr>
          <p:cNvPr id="19"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21" name="Body CASE 085"/>
          <p:cNvSpPr txBox="1"/>
          <p:nvPr/>
        </p:nvSpPr>
        <p:spPr>
          <a:xfrm>
            <a:off x="6400800" y="2108200"/>
            <a:ext cx="5232400" cy="3759200"/>
          </a:xfrm>
          <a:prstGeom prst="rect">
            <a:avLst/>
          </a:prstGeom>
          <a:noFill/>
        </p:spPr>
        <p:txBody>
          <a:bodyPr wrap="square" lIns="0" rIns="0" tIns="0" bIns="0" anchor="t">
            <a:noAutofit/>
          </a:bodyPr>
          <a:lstStyle/>
          <a:p>
            <a:pPr algn="l">
              <a:lnSpc>
                <a:spcPts val="2750"/>
              </a:lnSpc>
              <a:spcBef>
                <a:spcPts val="0"/>
              </a:spcBef>
              <a:spcAft>
                <a:spcPts val="0"/>
              </a:spcAft>
            </a:pPr>
            <a:r>
              <a:rPr sz="2200" b="0">
                <a:solidFill>
                  <a:srgbClr val="17212B"/>
                </a:solidFill>
                <a:latin typeface="Aptos"/>
              </a:rPr>
              <a:t>In adults with a CAC score of ≥300 to 999 AU, it is reasonable to intensify therapy by increasing the intensity of statin therapy or, if needed, adding ezetimibe, a PCSK9 mAb, or bempedoic acid to achieve a goal of LDL-C &lt;55 mg/dL (1.4 mmol/L) and non–HDL-C &lt;85 mg/dL (2.2 mmol/L).</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Subclinical Atherosclerosis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1280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86"/>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086</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086</a:t>
            </a:r>
          </a:p>
        </p:txBody>
      </p:sp>
      <p:sp>
        <p:nvSpPr>
          <p:cNvPr id="14" name="Body CASE 086"/>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Consider adults with no prior ASCVD who have moderate-to-severe incidental coronary atherosclerosis identified on noncardiac CT scans (eg, by visual estimation or a validated artificial intelligence-based algorithm). What LLT intensity and lipid goals apply?</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079"/>
              </a:lnSpc>
              <a:spcBef>
                <a:spcPts val="0"/>
              </a:spcBef>
              <a:spcAft>
                <a:spcPts val="0"/>
              </a:spcAft>
            </a:pPr>
            <a:r>
              <a:rPr sz="3400" b="1">
                <a:solidFill>
                  <a:srgbClr val="0B1F33"/>
                </a:solidFill>
                <a:latin typeface="Aptos Display"/>
              </a:rPr>
              <a:t>SOURCE REVEAL 1/2 — Subclinical Atherosclerosis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1280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86"/>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086</a:t>
            </a:r>
          </a:p>
        </p:txBody>
      </p:sp>
      <p:sp>
        <p:nvSpPr>
          <p:cNvPr id="12"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086</a:t>
            </a:r>
          </a:p>
        </p:txBody>
      </p:sp>
      <p:sp>
        <p:nvSpPr>
          <p:cNvPr id="15" name="Body CASE 086"/>
          <p:cNvSpPr txBox="1"/>
          <p:nvPr/>
        </p:nvSpPr>
        <p:spPr>
          <a:xfrm>
            <a:off x="622300" y="2108200"/>
            <a:ext cx="83439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Among adults with no prior ASCVD who have moderate-to-severe incidental coronary atherosclerosis identified on noncardiac CT scans (eg, by visual estimation or a validated artificial intelligence-based algorithm), it is reasonable to initiate high-intensity statin therapy to achieve at least a ≥50% reduction in LDL-C and a goal of LDL-C &lt;70 mg/dL (1.8 mmol/L) and non– HDL-C &lt;100 mg/dL (2.6 mmol/L)</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079"/>
              </a:lnSpc>
              <a:spcBef>
                <a:spcPts val="0"/>
              </a:spcBef>
              <a:spcAft>
                <a:spcPts val="0"/>
              </a:spcAft>
            </a:pPr>
            <a:r>
              <a:rPr sz="3400" b="1">
                <a:solidFill>
                  <a:srgbClr val="0B1F33"/>
                </a:solidFill>
                <a:latin typeface="Aptos Display"/>
              </a:rPr>
              <a:t>SOURCE REVEAL 2/2 — Subclinical Atherosclerosis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1280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86"/>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086</a:t>
            </a:r>
          </a:p>
        </p:txBody>
      </p:sp>
      <p:sp>
        <p:nvSpPr>
          <p:cNvPr id="12"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086</a:t>
            </a:r>
          </a:p>
        </p:txBody>
      </p:sp>
      <p:sp>
        <p:nvSpPr>
          <p:cNvPr id="15" name="Body CASE 086"/>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if mild incidental CAC, moderate-intensity statin therapy is reasonable to achieve a ≥30% to 49% reduction in LDL-C and a goal of LDL-C &lt;100 mg/dL (2.6 mmol/L) and non–HDL-C goal &lt;130 mg/dL.</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11</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M11</a:t>
            </a:r>
          </a:p>
        </p:txBody>
      </p:sp>
      <p:sp>
        <p:nvSpPr>
          <p:cNvPr id="5" name="Module name"/>
          <p:cNvSpPr txBox="1"/>
          <p:nvPr/>
        </p:nvSpPr>
        <p:spPr>
          <a:xfrm>
            <a:off x="660400" y="2095500"/>
            <a:ext cx="9525000" cy="72263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Special Populations</a:t>
            </a:r>
          </a:p>
        </p:txBody>
      </p:sp>
      <p:sp>
        <p:nvSpPr>
          <p:cNvPr id="6" name="Module meta"/>
          <p:cNvSpPr txBox="1"/>
          <p:nvPr/>
        </p:nvSpPr>
        <p:spPr>
          <a:xfrm>
            <a:off x="660400" y="309753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0 Core GP cases • 24 Important cases in Master/Core route</a:t>
            </a:r>
          </a:p>
        </p:txBody>
      </p:sp>
      <p:sp>
        <p:nvSpPr>
          <p:cNvPr id="7" name="Divider rule"/>
          <p:cNvSpPr/>
          <p:nvPr/>
        </p:nvSpPr>
        <p:spPr>
          <a:xfrm>
            <a:off x="660400" y="378333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03733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03733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03733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462153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87"/>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087</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87"/>
          <p:cNvSpPr txBox="1"/>
          <p:nvPr/>
        </p:nvSpPr>
        <p:spPr>
          <a:xfrm>
            <a:off x="622300"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A child or adolescent has lipid abnormalities. What management approach is recommended to improve LDL-C, TG, and non–HDL-C?</a:t>
            </a:r>
          </a:p>
        </p:txBody>
      </p:sp>
      <p:sp>
        <p:nvSpPr>
          <p:cNvPr id="14" name="Card CASE 088"/>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088</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88"/>
          <p:cNvSpPr txBox="1"/>
          <p:nvPr/>
        </p:nvSpPr>
        <p:spPr>
          <a:xfrm>
            <a:off x="4474633"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A child or adolescent ≥8 y of age has persistently elevated LDL-C ≥160 mg/dL (4.1 mmol/L), a presentation consistent with FH, and insufficient response after 3 to 6 mo of lifestyle management. What treatment is recommended to lower LDL-C?</a:t>
            </a:r>
          </a:p>
        </p:txBody>
      </p:sp>
      <p:sp>
        <p:nvSpPr>
          <p:cNvPr id="20" name="Card CASE 089"/>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089</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89"/>
          <p:cNvSpPr txBox="1"/>
          <p:nvPr/>
        </p:nvSpPr>
        <p:spPr>
          <a:xfrm>
            <a:off x="8326967" y="2108200"/>
            <a:ext cx="3306233"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A child or adolescent has a clinical presentation consistent with FH. What role does panel-based genetic testing have in diagnosis, cascade testing, and treatment?</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87"/>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087</a:t>
            </a:r>
          </a:p>
        </p:txBody>
      </p:sp>
      <p:sp>
        <p:nvSpPr>
          <p:cNvPr id="12" name="Reveal label"/>
          <p:cNvSpPr txBox="1"/>
          <p:nvPr/>
        </p:nvSpPr>
        <p:spPr>
          <a:xfrm>
            <a:off x="201468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3147629"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14" name="Body CASE 087"/>
          <p:cNvSpPr txBox="1"/>
          <p:nvPr/>
        </p:nvSpPr>
        <p:spPr>
          <a:xfrm>
            <a:off x="622300"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children and adolescents with lipid abnormalities, lifestyle management is recommended to improve LDL-C, TG, and non–HDL-C.</a:t>
            </a:r>
          </a:p>
        </p:txBody>
      </p:sp>
      <p:sp>
        <p:nvSpPr>
          <p:cNvPr id="15" name="Card CASE 088"/>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088</a:t>
            </a:r>
          </a:p>
        </p:txBody>
      </p:sp>
      <p:sp>
        <p:nvSpPr>
          <p:cNvPr id="19" name="Reveal label"/>
          <p:cNvSpPr txBox="1"/>
          <p:nvPr/>
        </p:nvSpPr>
        <p:spPr>
          <a:xfrm>
            <a:off x="5867016"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6999962"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21" name="Body CASE 088"/>
          <p:cNvSpPr txBox="1"/>
          <p:nvPr/>
        </p:nvSpPr>
        <p:spPr>
          <a:xfrm>
            <a:off x="4474633"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children and adolescents ≥8 y of age with an LDL-C level persistently ≥160 mg/dL (4.1 mmol/L) and a presentation consistent with FH who do not respond sufficiently after 3 to 6 mo of lifestyle management, initiation of statin and other LLT as necessary is recommended to lower LDL-C.</a:t>
            </a:r>
          </a:p>
        </p:txBody>
      </p:sp>
      <p:sp>
        <p:nvSpPr>
          <p:cNvPr id="22" name="Card CASE 089"/>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089</a:t>
            </a:r>
          </a:p>
        </p:txBody>
      </p:sp>
      <p:sp>
        <p:nvSpPr>
          <p:cNvPr id="26" name="Reveal label"/>
          <p:cNvSpPr txBox="1"/>
          <p:nvPr/>
        </p:nvSpPr>
        <p:spPr>
          <a:xfrm>
            <a:off x="9641885"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661824" y="1498600"/>
            <a:ext cx="971376"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6B4B00"/>
                </a:solidFill>
                <a:latin typeface="Aptos"/>
              </a:rPr>
              <a:t>2a/B-NR</a:t>
            </a:r>
          </a:p>
        </p:txBody>
      </p:sp>
      <p:sp>
        <p:nvSpPr>
          <p:cNvPr id="28" name="Body CASE 089"/>
          <p:cNvSpPr txBox="1"/>
          <p:nvPr/>
        </p:nvSpPr>
        <p:spPr>
          <a:xfrm>
            <a:off x="8326967"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children and adolescents with a clinical presentation consistent with FH, panel-based genetic testing for pathogenic/likely pathogenic rare variants for FH can be useful to guide diagnosis, cascade testing, and treatment.</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0"/>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090</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90"/>
          <p:cNvSpPr txBox="1"/>
          <p:nvPr/>
        </p:nvSpPr>
        <p:spPr>
          <a:xfrm>
            <a:off x="622300"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young adults (&gt;18–39 y of age). What lifestyle advice applies?</a:t>
            </a:r>
          </a:p>
        </p:txBody>
      </p:sp>
      <p:sp>
        <p:nvSpPr>
          <p:cNvPr id="14" name="Card CASE 091"/>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091</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91"/>
          <p:cNvSpPr txBox="1"/>
          <p:nvPr/>
        </p:nvSpPr>
        <p:spPr>
          <a:xfrm>
            <a:off x="4474633"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an older adult in whom discontinuation of LLT is being considered. Which factors should guide an LLT discontinuation discussion?</a:t>
            </a:r>
          </a:p>
        </p:txBody>
      </p:sp>
      <p:sp>
        <p:nvSpPr>
          <p:cNvPr id="20" name="Card CASE 092"/>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092</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092"/>
          <p:cNvSpPr txBox="1"/>
          <p:nvPr/>
        </p:nvSpPr>
        <p:spPr>
          <a:xfrm>
            <a:off x="8326967"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adults aged &gt;75 y with an estimated life expectancy of at least 2.5 y. What statin initiation decision applies?</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0"/>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090</a:t>
            </a:r>
          </a:p>
        </p:txBody>
      </p:sp>
      <p:sp>
        <p:nvSpPr>
          <p:cNvPr id="12" name="Reveal label"/>
          <p:cNvSpPr txBox="1"/>
          <p:nvPr/>
        </p:nvSpPr>
        <p:spPr>
          <a:xfrm>
            <a:off x="2047834"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13" name="COR/LOE badge"/>
          <p:cNvSpPr/>
          <p:nvPr/>
        </p:nvSpPr>
        <p:spPr>
          <a:xfrm>
            <a:off x="3067774"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14" name="Body CASE 090"/>
          <p:cNvSpPr txBox="1"/>
          <p:nvPr/>
        </p:nvSpPr>
        <p:spPr>
          <a:xfrm>
            <a:off x="622300"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young adults (&gt;18–39 y of age), dietary, physical activity, and weight optimization recommendations should be provided to reduce cumulative atherogenic lipid exposure and lifetime ASCVD risk.</a:t>
            </a:r>
          </a:p>
        </p:txBody>
      </p:sp>
      <p:sp>
        <p:nvSpPr>
          <p:cNvPr id="15" name="Card CASE 091"/>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091</a:t>
            </a:r>
          </a:p>
        </p:txBody>
      </p:sp>
      <p:sp>
        <p:nvSpPr>
          <p:cNvPr id="19" name="Reveal label"/>
          <p:cNvSpPr txBox="1"/>
          <p:nvPr/>
        </p:nvSpPr>
        <p:spPr>
          <a:xfrm>
            <a:off x="5927985"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0" name="COR/LOE badge"/>
          <p:cNvSpPr/>
          <p:nvPr/>
        </p:nvSpPr>
        <p:spPr>
          <a:xfrm>
            <a:off x="6947924" y="1498600"/>
            <a:ext cx="832942"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1/C-EO</a:t>
            </a:r>
          </a:p>
        </p:txBody>
      </p:sp>
      <p:sp>
        <p:nvSpPr>
          <p:cNvPr id="21" name="Body CASE 091"/>
          <p:cNvSpPr txBox="1"/>
          <p:nvPr/>
        </p:nvSpPr>
        <p:spPr>
          <a:xfrm>
            <a:off x="4474633"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older adults, the benefit-risk discussion should include patient priorities, functional status, multimorbidity, frailty, polypharmacy, and life expectancy, and should not be based solely on chronological age when considering the decision to discontinue LLT.</a:t>
            </a:r>
          </a:p>
        </p:txBody>
      </p:sp>
      <p:sp>
        <p:nvSpPr>
          <p:cNvPr id="22" name="Card CASE 092"/>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092</a:t>
            </a:r>
          </a:p>
        </p:txBody>
      </p:sp>
      <p:sp>
        <p:nvSpPr>
          <p:cNvPr id="26" name="Reveal label"/>
          <p:cNvSpPr txBox="1"/>
          <p:nvPr/>
        </p:nvSpPr>
        <p:spPr>
          <a:xfrm>
            <a:off x="9636571"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656510" y="1498600"/>
            <a:ext cx="976690"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8A3605"/>
                </a:solidFill>
                <a:latin typeface="Aptos"/>
              </a:rPr>
              <a:t>2b/B-NR</a:t>
            </a:r>
          </a:p>
        </p:txBody>
      </p:sp>
      <p:sp>
        <p:nvSpPr>
          <p:cNvPr id="28" name="Body CASE 092"/>
          <p:cNvSpPr txBox="1"/>
          <p:nvPr/>
        </p:nvSpPr>
        <p:spPr>
          <a:xfrm>
            <a:off x="8326967"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aged &gt;75 y with an estimated life expectancy of at least 2.5 y, it may be reasonable to initiate moderate-intensity statin therapy after a clinician–patient discussion of potential benefits and risks to reduce ASCVD risk.</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3"/>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093</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93"/>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patients with a life expectancy of &lt;1 y. What LLT continuation decision applies?</a:t>
            </a:r>
          </a:p>
        </p:txBody>
      </p:sp>
      <p:sp>
        <p:nvSpPr>
          <p:cNvPr id="14" name="Card CASE 094"/>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094</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094"/>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aged &gt;75 y with an estimated life expectancy of at least 2.5 y, and for whom the decision regarding LLT is uncertain. What risk reassessment may guide an uncertain LLT decision?</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3"/>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093</a:t>
            </a:r>
          </a:p>
        </p:txBody>
      </p:sp>
      <p:sp>
        <p:nvSpPr>
          <p:cNvPr id="12" name="Reveal label"/>
          <p:cNvSpPr txBox="1"/>
          <p:nvPr/>
        </p:nvSpPr>
        <p:spPr>
          <a:xfrm>
            <a:off x="380836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941310" y="1498600"/>
            <a:ext cx="913390"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2b/B-R</a:t>
            </a:r>
          </a:p>
        </p:txBody>
      </p:sp>
      <p:sp>
        <p:nvSpPr>
          <p:cNvPr id="14" name="Body CASE 093"/>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In patients with a life expectancy of &lt;1 y, it may be reasonable to discontinue LDL-lowering therapy to avoid unnecessary medication use or adverse medication effects.</a:t>
            </a:r>
          </a:p>
        </p:txBody>
      </p:sp>
      <p:sp>
        <p:nvSpPr>
          <p:cNvPr id="15" name="Card CASE 094"/>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094</a:t>
            </a:r>
          </a:p>
        </p:txBody>
      </p:sp>
      <p:sp>
        <p:nvSpPr>
          <p:cNvPr id="19" name="Reveal label"/>
          <p:cNvSpPr txBox="1"/>
          <p:nvPr/>
        </p:nvSpPr>
        <p:spPr>
          <a:xfrm>
            <a:off x="941670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549654" y="1498600"/>
            <a:ext cx="1083546"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2b/B-NR</a:t>
            </a:r>
          </a:p>
        </p:txBody>
      </p:sp>
      <p:sp>
        <p:nvSpPr>
          <p:cNvPr id="21" name="Body CASE 094"/>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In adults aged &gt;75 y with an estimated life expectancy of at least 2.5 y, and for whom the decision regarding LLT is uncertain, it may be reasonable to measure CAC to reclassify those with minimal (1–10) or no CAC to avoid LLT.</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5"/>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095</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095</a:t>
            </a:r>
          </a:p>
        </p:txBody>
      </p:sp>
      <p:sp>
        <p:nvSpPr>
          <p:cNvPr id="14" name="Body CASE 095"/>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One person with hypercholesterolemia is planning pregnancy and is not at high ASCVD risk; another is pregnant with FH or clinical ASCVD. Lactation is also relevant. How do the statin decisions differ across these circumstances?</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680"/>
              </a:lnSpc>
              <a:spcBef>
                <a:spcPts val="0"/>
              </a:spcBef>
              <a:spcAft>
                <a:spcPts val="0"/>
              </a:spcAft>
            </a:pPr>
            <a:r>
              <a:rPr sz="3900" b="1">
                <a:solidFill>
                  <a:srgbClr val="0B1F33"/>
                </a:solidFill>
                <a:latin typeface="Aptos Display"/>
              </a:rPr>
              <a:t>SOURCE REVEAL 1/4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5"/>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095</a:t>
            </a:r>
          </a:p>
        </p:txBody>
      </p:sp>
      <p:sp>
        <p:nvSpPr>
          <p:cNvPr id="12" name="Reveal label"/>
          <p:cNvSpPr txBox="1"/>
          <p:nvPr/>
        </p:nvSpPr>
        <p:spPr>
          <a:xfrm>
            <a:off x="847435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9607299" y="1498600"/>
            <a:ext cx="908608"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1/C-LD</a:t>
            </a:r>
          </a:p>
        </p:txBody>
      </p:sp>
      <p:sp>
        <p:nvSpPr>
          <p:cNvPr id="14" name="COR/LOE badge"/>
          <p:cNvSpPr/>
          <p:nvPr/>
        </p:nvSpPr>
        <p:spPr>
          <a:xfrm>
            <a:off x="10592106" y="1498600"/>
            <a:ext cx="1041094"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2b/C-LD</a:t>
            </a:r>
          </a:p>
        </p:txBody>
      </p:sp>
      <p:sp>
        <p:nvSpPr>
          <p:cNvPr id="15"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095</a:t>
            </a:r>
          </a:p>
        </p:txBody>
      </p:sp>
      <p:sp>
        <p:nvSpPr>
          <p:cNvPr id="16" name="Body CASE 095"/>
          <p:cNvSpPr txBox="1"/>
          <p:nvPr/>
        </p:nvSpPr>
        <p:spPr>
          <a:xfrm>
            <a:off x="622300" y="2108200"/>
            <a:ext cx="8343900" cy="3759200"/>
          </a:xfrm>
          <a:prstGeom prst="rect">
            <a:avLst/>
          </a:prstGeom>
          <a:noFill/>
        </p:spPr>
        <p:txBody>
          <a:bodyPr wrap="square" lIns="0" rIns="0" tIns="0" bIns="0" anchor="t">
            <a:noAutofit/>
          </a:bodyPr>
          <a:lstStyle/>
          <a:p>
            <a:pPr algn="l">
              <a:lnSpc>
                <a:spcPts val="3875"/>
              </a:lnSpc>
              <a:spcBef>
                <a:spcPts val="0"/>
              </a:spcBef>
              <a:spcAft>
                <a:spcPts val="0"/>
              </a:spcAft>
            </a:pPr>
            <a:r>
              <a:rPr sz="3100" b="0">
                <a:solidFill>
                  <a:srgbClr val="17212B"/>
                </a:solidFill>
                <a:latin typeface="Aptos"/>
              </a:rPr>
              <a:t>Persons of childbearing age with hypercholesterolemia who are not at high risk for ASCVD and plan to become pregnant should stop statin therapy 1 to 2 mo before attempting to become pregnant or as soon as pregnancy is discovered to avoid uncertain risks to the fetus.</a:t>
            </a:r>
          </a:p>
        </p:txBody>
      </p:sp>
      <p:sp>
        <p:nvSpPr>
          <p:cNvPr id="17"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680"/>
              </a:lnSpc>
              <a:spcBef>
                <a:spcPts val="0"/>
              </a:spcBef>
              <a:spcAft>
                <a:spcPts val="0"/>
              </a:spcAft>
            </a:pPr>
            <a:r>
              <a:rPr sz="3900" b="1">
                <a:solidFill>
                  <a:srgbClr val="0B1F33"/>
                </a:solidFill>
                <a:latin typeface="Aptos Display"/>
              </a:rPr>
              <a:t>SOURCE REVEAL 2/4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5"/>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095</a:t>
            </a:r>
          </a:p>
        </p:txBody>
      </p:sp>
      <p:sp>
        <p:nvSpPr>
          <p:cNvPr id="12" name="Reveal label"/>
          <p:cNvSpPr txBox="1"/>
          <p:nvPr/>
        </p:nvSpPr>
        <p:spPr>
          <a:xfrm>
            <a:off x="847435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9607299" y="1498600"/>
            <a:ext cx="908608"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1/C-LD</a:t>
            </a:r>
          </a:p>
        </p:txBody>
      </p:sp>
      <p:sp>
        <p:nvSpPr>
          <p:cNvPr id="14" name="COR/LOE badge"/>
          <p:cNvSpPr/>
          <p:nvPr/>
        </p:nvSpPr>
        <p:spPr>
          <a:xfrm>
            <a:off x="10592106" y="1498600"/>
            <a:ext cx="1041094"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2b/C-LD</a:t>
            </a:r>
          </a:p>
        </p:txBody>
      </p:sp>
      <p:sp>
        <p:nvSpPr>
          <p:cNvPr id="15"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095</a:t>
            </a:r>
          </a:p>
        </p:txBody>
      </p:sp>
      <p:sp>
        <p:nvSpPr>
          <p:cNvPr id="16" name="Body CASE 095"/>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In pregnant individuals with FH or a history of clinical ASCVD, it may be reasonable to continue statin therapy to lower LDL-C and ASCVD risk following an individualized benefit-risk discussion.*9</a:t>
            </a:r>
          </a:p>
        </p:txBody>
      </p:sp>
      <p:sp>
        <p:nvSpPr>
          <p:cNvPr id="17"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680"/>
              </a:lnSpc>
              <a:spcBef>
                <a:spcPts val="0"/>
              </a:spcBef>
              <a:spcAft>
                <a:spcPts val="0"/>
              </a:spcAft>
            </a:pPr>
            <a:r>
              <a:rPr sz="3900" b="1">
                <a:solidFill>
                  <a:srgbClr val="0B1F33"/>
                </a:solidFill>
                <a:latin typeface="Aptos Display"/>
              </a:rPr>
              <a:t>SOURCE REVEAL 3/4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5"/>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095</a:t>
            </a:r>
          </a:p>
        </p:txBody>
      </p:sp>
      <p:sp>
        <p:nvSpPr>
          <p:cNvPr id="12" name="Reveal label"/>
          <p:cNvSpPr txBox="1"/>
          <p:nvPr/>
        </p:nvSpPr>
        <p:spPr>
          <a:xfrm>
            <a:off x="847435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9607299" y="1498600"/>
            <a:ext cx="908608"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1/C-LD</a:t>
            </a:r>
          </a:p>
        </p:txBody>
      </p:sp>
      <p:sp>
        <p:nvSpPr>
          <p:cNvPr id="14" name="COR/LOE badge"/>
          <p:cNvSpPr/>
          <p:nvPr/>
        </p:nvSpPr>
        <p:spPr>
          <a:xfrm>
            <a:off x="10592106" y="1498600"/>
            <a:ext cx="1041094"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2b/C-LD</a:t>
            </a:r>
          </a:p>
        </p:txBody>
      </p:sp>
      <p:sp>
        <p:nvSpPr>
          <p:cNvPr id="15"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095</a:t>
            </a:r>
          </a:p>
        </p:txBody>
      </p:sp>
      <p:sp>
        <p:nvSpPr>
          <p:cNvPr id="16" name="Body CASE 095"/>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Statins should be discontinued in most pregnancies; may be considered in high-risk individuals with ASCVD or FH; avoid use during lactation.</a:t>
            </a:r>
          </a:p>
        </p:txBody>
      </p:sp>
      <p:sp>
        <p:nvSpPr>
          <p:cNvPr id="17"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680"/>
              </a:lnSpc>
              <a:spcBef>
                <a:spcPts val="0"/>
              </a:spcBef>
              <a:spcAft>
                <a:spcPts val="0"/>
              </a:spcAft>
            </a:pPr>
            <a:r>
              <a:rPr sz="3900" b="1">
                <a:solidFill>
                  <a:srgbClr val="0B1F33"/>
                </a:solidFill>
                <a:latin typeface="Aptos Display"/>
              </a:rPr>
              <a:t>SOURCE REVEAL 4/4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5"/>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095</a:t>
            </a:r>
          </a:p>
        </p:txBody>
      </p:sp>
      <p:sp>
        <p:nvSpPr>
          <p:cNvPr id="12" name="Reveal label"/>
          <p:cNvSpPr txBox="1"/>
          <p:nvPr/>
        </p:nvSpPr>
        <p:spPr>
          <a:xfrm>
            <a:off x="847435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9607299" y="1498600"/>
            <a:ext cx="908608"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1/C-LD</a:t>
            </a:r>
          </a:p>
        </p:txBody>
      </p:sp>
      <p:sp>
        <p:nvSpPr>
          <p:cNvPr id="14" name="COR/LOE badge"/>
          <p:cNvSpPr/>
          <p:nvPr/>
        </p:nvSpPr>
        <p:spPr>
          <a:xfrm>
            <a:off x="10592106" y="1498600"/>
            <a:ext cx="1041094"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2b/C-LD</a:t>
            </a:r>
          </a:p>
        </p:txBody>
      </p:sp>
      <p:sp>
        <p:nvSpPr>
          <p:cNvPr id="15"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095</a:t>
            </a:r>
          </a:p>
        </p:txBody>
      </p:sp>
      <p:sp>
        <p:nvSpPr>
          <p:cNvPr id="16" name="Body CASE 095"/>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If continued statin therapy during pregnancy is judged to have benefit greater than potential risk, the source footnote says a hydrophilic statin such as pravastatin should be considered.</a:t>
            </a:r>
          </a:p>
        </p:txBody>
      </p:sp>
      <p:sp>
        <p:nvSpPr>
          <p:cNvPr id="17"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097</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097</a:t>
            </a:r>
          </a:p>
        </p:txBody>
      </p:sp>
      <p:sp>
        <p:nvSpPr>
          <p:cNvPr id="14" name="Body CASE 097"/>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 pregnant person has severe fasting hypertriglyceridemia (TG ≥500 mg/dL [5.7 mmol/L]); lactation considerations also apply. Which TG-lowering treatment and timing apply during pregnancy and lactation?</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680"/>
              </a:lnSpc>
              <a:spcBef>
                <a:spcPts val="0"/>
              </a:spcBef>
              <a:spcAft>
                <a:spcPts val="0"/>
              </a:spcAft>
            </a:pPr>
            <a:r>
              <a:rPr sz="3900" b="1">
                <a:solidFill>
                  <a:srgbClr val="0B1F33"/>
                </a:solidFill>
                <a:latin typeface="Aptos Display"/>
              </a:rPr>
              <a:t>SOURCE REVEAL 1/3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097</a:t>
            </a:r>
          </a:p>
        </p:txBody>
      </p:sp>
      <p:sp>
        <p:nvSpPr>
          <p:cNvPr id="12"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097</a:t>
            </a:r>
          </a:p>
        </p:txBody>
      </p:sp>
      <p:sp>
        <p:nvSpPr>
          <p:cNvPr id="15" name="Body CASE 097"/>
          <p:cNvSpPr txBox="1"/>
          <p:nvPr/>
        </p:nvSpPr>
        <p:spPr>
          <a:xfrm>
            <a:off x="622300" y="2108200"/>
            <a:ext cx="8343900" cy="3759200"/>
          </a:xfrm>
          <a:prstGeom prst="rect">
            <a:avLst/>
          </a:prstGeom>
          <a:noFill/>
        </p:spPr>
        <p:txBody>
          <a:bodyPr wrap="square" lIns="0" rIns="0" tIns="0" bIns="0" anchor="t">
            <a:noAutofit/>
          </a:bodyPr>
          <a:lstStyle/>
          <a:p>
            <a:pPr algn="l">
              <a:lnSpc>
                <a:spcPts val="3875"/>
              </a:lnSpc>
              <a:spcBef>
                <a:spcPts val="0"/>
              </a:spcBef>
              <a:spcAft>
                <a:spcPts val="0"/>
              </a:spcAft>
            </a:pPr>
            <a:r>
              <a:rPr sz="3100" b="0">
                <a:solidFill>
                  <a:srgbClr val="17212B"/>
                </a:solidFill>
                <a:latin typeface="Aptos"/>
              </a:rPr>
              <a:t>In pregnant individuals with severe fasting hypertriglyceridemia (TG ≥500 mg/dL [5.7 mmol/L]), the use of fibrates (after the first trimester) or high-dose omega-3 ethyl esters is reasonable as an adjunct to lifestyle management to lower TG levels and reduce the risk of pancreatitis.</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680"/>
              </a:lnSpc>
              <a:spcBef>
                <a:spcPts val="0"/>
              </a:spcBef>
              <a:spcAft>
                <a:spcPts val="0"/>
              </a:spcAft>
            </a:pPr>
            <a:r>
              <a:rPr sz="3900" b="1">
                <a:solidFill>
                  <a:srgbClr val="0B1F33"/>
                </a:solidFill>
                <a:latin typeface="Aptos Display"/>
              </a:rPr>
              <a:t>SOURCE REVEAL 2/3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097</a:t>
            </a:r>
          </a:p>
        </p:txBody>
      </p:sp>
      <p:sp>
        <p:nvSpPr>
          <p:cNvPr id="12"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097</a:t>
            </a:r>
          </a:p>
        </p:txBody>
      </p:sp>
      <p:sp>
        <p:nvSpPr>
          <p:cNvPr id="15" name="Body CASE 097"/>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Fibric acid derivatives can be considered after the first trimester for severe hypertriglyceridemia if potential benefit justifies fetal risk; avoid during lactation, which can resume 5 days after the last dose.</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680"/>
              </a:lnSpc>
              <a:spcBef>
                <a:spcPts val="0"/>
              </a:spcBef>
              <a:spcAft>
                <a:spcPts val="0"/>
              </a:spcAft>
            </a:pPr>
            <a:r>
              <a:rPr sz="3900" b="1">
                <a:solidFill>
                  <a:srgbClr val="0B1F33"/>
                </a:solidFill>
                <a:latin typeface="Aptos Display"/>
              </a:rPr>
              <a:t>SOURCE REVEAL 3/3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097</a:t>
            </a:r>
          </a:p>
        </p:txBody>
      </p:sp>
      <p:sp>
        <p:nvSpPr>
          <p:cNvPr id="12"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097</a:t>
            </a:r>
          </a:p>
        </p:txBody>
      </p:sp>
      <p:sp>
        <p:nvSpPr>
          <p:cNvPr id="15" name="Body CASE 097"/>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Omega-3 fatty acids can be considered for severe hypertriglyceridemia during pregnancy; they are excreted in human milk and should be used with caution during lactation because infant effects are unknown.</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098</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098</a:t>
            </a:r>
          </a:p>
        </p:txBody>
      </p:sp>
      <p:sp>
        <p:nvSpPr>
          <p:cNvPr id="14" name="Body CASE 098"/>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 pregnant or lactating person has hypercholesterolemia without hypertriglyceridemia. What treatment and pregnancy/lactation considerations apply?</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680"/>
              </a:lnSpc>
              <a:spcBef>
                <a:spcPts val="0"/>
              </a:spcBef>
              <a:spcAft>
                <a:spcPts val="0"/>
              </a:spcAft>
            </a:pPr>
            <a:r>
              <a:rPr sz="3900" b="1">
                <a:solidFill>
                  <a:srgbClr val="0B1F33"/>
                </a:solidFill>
                <a:latin typeface="Aptos Display"/>
              </a:rPr>
              <a:t>SOURCE REVEAL 1/2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098</a:t>
            </a:r>
          </a:p>
        </p:txBody>
      </p:sp>
      <p:sp>
        <p:nvSpPr>
          <p:cNvPr id="12" name="Reveal label"/>
          <p:cNvSpPr txBox="1"/>
          <p:nvPr/>
        </p:nvSpPr>
        <p:spPr>
          <a:xfrm>
            <a:off x="9454581"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87528" y="1498600"/>
            <a:ext cx="1045672"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2a/C-EO</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098</a:t>
            </a:r>
          </a:p>
        </p:txBody>
      </p:sp>
      <p:sp>
        <p:nvSpPr>
          <p:cNvPr id="15" name="Body CASE 098"/>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In pregnant or lactating individuals with hypercholesterolemia but without hypertriglyceridemia, the use of bile acid sequestrants is reasonable to lower LDL-C.</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680"/>
              </a:lnSpc>
              <a:spcBef>
                <a:spcPts val="0"/>
              </a:spcBef>
              <a:spcAft>
                <a:spcPts val="0"/>
              </a:spcAft>
            </a:pPr>
            <a:r>
              <a:rPr sz="3900" b="1">
                <a:solidFill>
                  <a:srgbClr val="0B1F33"/>
                </a:solidFill>
                <a:latin typeface="Aptos Display"/>
              </a:rPr>
              <a:t>SOURCE REVEAL 2/2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098</a:t>
            </a:r>
          </a:p>
        </p:txBody>
      </p:sp>
      <p:sp>
        <p:nvSpPr>
          <p:cNvPr id="12" name="Reveal label"/>
          <p:cNvSpPr txBox="1"/>
          <p:nvPr/>
        </p:nvSpPr>
        <p:spPr>
          <a:xfrm>
            <a:off x="9454581"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87528" y="1498600"/>
            <a:ext cx="1045672"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2a/C-EO</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098</a:t>
            </a:r>
          </a:p>
        </p:txBody>
      </p:sp>
      <p:sp>
        <p:nvSpPr>
          <p:cNvPr id="15" name="Body CASE 098"/>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Bile acid sequestrants are described as safe to use in pregnancy because of lack of systemic absorption; during lactation they are not excreted in milk but require caution because of fat-soluble-vitamin malabsorption.</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099"/>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099</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099"/>
          <p:cNvSpPr txBox="1"/>
          <p:nvPr/>
        </p:nvSpPr>
        <p:spPr>
          <a:xfrm>
            <a:off x="622300"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with HFrEF has neither clinical ASCVD nor another indication for LLT. Should LLT be initiated to reduce clinical events or mortality?</a:t>
            </a:r>
          </a:p>
        </p:txBody>
      </p:sp>
      <p:sp>
        <p:nvSpPr>
          <p:cNvPr id="14" name="Card CASE 100"/>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100</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00"/>
          <p:cNvSpPr txBox="1"/>
          <p:nvPr/>
        </p:nvSpPr>
        <p:spPr>
          <a:xfrm>
            <a:off x="4474633"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aged 40 to 75 y has CKD stage 3 or higher and LDL-C 70 to 189 mg/dL (1.8–4.9 mmol/L). Which lipid-lowering regimen is recommended to reduce ASCVD risk?</a:t>
            </a:r>
          </a:p>
        </p:txBody>
      </p:sp>
      <p:sp>
        <p:nvSpPr>
          <p:cNvPr id="20" name="Card CASE 101"/>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101</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101"/>
          <p:cNvSpPr txBox="1"/>
          <p:nvPr/>
        </p:nvSpPr>
        <p:spPr>
          <a:xfrm>
            <a:off x="8326967"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adults with CKD stage 3 or higher and clinical ASCVD. What LLT intensity and lipid goals apply?</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099</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Benefit/A</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HFrEF who do not have clinical ASCVD or another indication for LLT, initiation of LLT is not recommended to reduce clinical events or mortality.</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100</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40 to 75 y of age with CKD stage 3 or higher and an LDL-C of 70 to 189 mg/dL (1.8–4.9 mmol/L), moderate-intensity statin therapy or moderate-intensity statin combined with ezetimibe is recommended to reduce ASCVD risk.</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101</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adults with CKD stage 3 or higher and clinical ASCVD, LLT with high-intensity statin therapy, with or without ezetimibe and/or a PCSK9 mAb, is recommended to achieve a ≥50% reduction in LDL-C levels and a goal of LDL-C &lt;55 mg/dL (1.4 mmol/L) and non–HDL-C &lt;85 mg/dL (2.2 mmol/L) to reduce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02"/>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102</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02"/>
          <p:cNvSpPr txBox="1"/>
          <p:nvPr/>
        </p:nvSpPr>
        <p:spPr>
          <a:xfrm>
            <a:off x="622300"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adults with CKD who require maintenance hemodialysis. What statin continuation decision applies?</a:t>
            </a:r>
          </a:p>
        </p:txBody>
      </p:sp>
      <p:sp>
        <p:nvSpPr>
          <p:cNvPr id="14" name="Card CASE 103"/>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103</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03"/>
          <p:cNvSpPr txBox="1"/>
          <p:nvPr/>
        </p:nvSpPr>
        <p:spPr>
          <a:xfrm>
            <a:off x="4474633"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people living with HIV aged 40 to 75 y on stable combination antiretroviral therapy. What statin treatment decision applies?</a:t>
            </a:r>
          </a:p>
        </p:txBody>
      </p:sp>
      <p:sp>
        <p:nvSpPr>
          <p:cNvPr id="20" name="Card CASE 104"/>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104</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104"/>
          <p:cNvSpPr txBox="1"/>
          <p:nvPr/>
        </p:nvSpPr>
        <p:spPr>
          <a:xfrm>
            <a:off x="8326967"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Consider an adult cancer survivors with life expectancy of at least 2 y who otherwise qualify for LLT. How should LLT be managed for this survivor?</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02"/>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102</a:t>
            </a:r>
          </a:p>
        </p:txBody>
      </p:sp>
      <p:sp>
        <p:nvSpPr>
          <p:cNvPr id="12" name="Reveal label"/>
          <p:cNvSpPr txBox="1"/>
          <p:nvPr/>
        </p:nvSpPr>
        <p:spPr>
          <a:xfrm>
            <a:off x="1969083"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13" name="COR/LOE badge"/>
          <p:cNvSpPr/>
          <p:nvPr/>
        </p:nvSpPr>
        <p:spPr>
          <a:xfrm>
            <a:off x="2989022" y="1498600"/>
            <a:ext cx="939511"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8A3605"/>
                </a:solidFill>
                <a:latin typeface="Aptos"/>
              </a:rPr>
              <a:t>2b/C-LD</a:t>
            </a:r>
          </a:p>
        </p:txBody>
      </p:sp>
      <p:sp>
        <p:nvSpPr>
          <p:cNvPr id="14" name="Body CASE 102"/>
          <p:cNvSpPr txBox="1"/>
          <p:nvPr/>
        </p:nvSpPr>
        <p:spPr>
          <a:xfrm>
            <a:off x="622300"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with CKD who require maintenance hemodialysis, it may be reasonable to continue statin therapy to reduce the risk of ASCVD events. Treatment decisions should be individualized with consideration of expected survival, other comorbidities, and severity of ASCVD.</a:t>
            </a:r>
          </a:p>
        </p:txBody>
      </p:sp>
      <p:sp>
        <p:nvSpPr>
          <p:cNvPr id="15" name="Card CASE 103"/>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103</a:t>
            </a:r>
          </a:p>
        </p:txBody>
      </p:sp>
      <p:sp>
        <p:nvSpPr>
          <p:cNvPr id="19" name="Reveal label"/>
          <p:cNvSpPr txBox="1"/>
          <p:nvPr/>
        </p:nvSpPr>
        <p:spPr>
          <a:xfrm>
            <a:off x="5867016"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6999962"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21" name="Body CASE 103"/>
          <p:cNvSpPr txBox="1"/>
          <p:nvPr/>
        </p:nvSpPr>
        <p:spPr>
          <a:xfrm>
            <a:off x="4474633"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people living with HIV aged 40 to 75 y on stable combination antiretroviral therapy, statin therapy is recommended to reduce risk of a first ASCVD event and reduce the rate of coronary atherosclerosis progression.</a:t>
            </a:r>
          </a:p>
        </p:txBody>
      </p:sp>
      <p:sp>
        <p:nvSpPr>
          <p:cNvPr id="22" name="Card CASE 104"/>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104</a:t>
            </a:r>
          </a:p>
        </p:txBody>
      </p:sp>
      <p:sp>
        <p:nvSpPr>
          <p:cNvPr id="26" name="Reveal label"/>
          <p:cNvSpPr txBox="1"/>
          <p:nvPr/>
        </p:nvSpPr>
        <p:spPr>
          <a:xfrm>
            <a:off x="9752501"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772440"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28" name="Body CASE 104"/>
          <p:cNvSpPr txBox="1"/>
          <p:nvPr/>
        </p:nvSpPr>
        <p:spPr>
          <a:xfrm>
            <a:off x="8326967"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Adult cancer survivors with life expectancy of at least 2 y who otherwise qualify for LLT should be treated similarly to people without history of cancer to reduce the risk of ASCVD events.</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05"/>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105</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05"/>
          <p:cNvSpPr txBox="1"/>
          <p:nvPr/>
        </p:nvSpPr>
        <p:spPr>
          <a:xfrm>
            <a:off x="622300"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with active cancer is currently receiving statin therapy. Should statin therapy be continued, and what exceptions apply?</a:t>
            </a:r>
          </a:p>
        </p:txBody>
      </p:sp>
      <p:sp>
        <p:nvSpPr>
          <p:cNvPr id="14" name="Card CASE 106"/>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106</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06"/>
          <p:cNvSpPr txBox="1"/>
          <p:nvPr/>
        </p:nvSpPr>
        <p:spPr>
          <a:xfrm>
            <a:off x="4474633"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with active cancer faces anthracycline-induced cardiotoxicity risk. What role, if any, does statin initiation have?</a:t>
            </a:r>
          </a:p>
        </p:txBody>
      </p:sp>
      <p:sp>
        <p:nvSpPr>
          <p:cNvPr id="20" name="Card CASE 152"/>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152</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152"/>
          <p:cNvSpPr txBox="1"/>
          <p:nvPr/>
        </p:nvSpPr>
        <p:spPr>
          <a:xfrm>
            <a:off x="8326967"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 child has a lipid panel. What cutpoints classify TC, LDL-C, non–HDL-C, TG, and HDL-C?</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05"/>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105</a:t>
            </a:r>
          </a:p>
        </p:txBody>
      </p:sp>
      <p:sp>
        <p:nvSpPr>
          <p:cNvPr id="12" name="Reveal label"/>
          <p:cNvSpPr txBox="1"/>
          <p:nvPr/>
        </p:nvSpPr>
        <p:spPr>
          <a:xfrm>
            <a:off x="2047834"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13" name="COR/LOE badge"/>
          <p:cNvSpPr/>
          <p:nvPr/>
        </p:nvSpPr>
        <p:spPr>
          <a:xfrm>
            <a:off x="3067774" y="1498600"/>
            <a:ext cx="8607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0E6B4E"/>
                </a:solidFill>
                <a:latin typeface="Aptos"/>
              </a:rPr>
              <a:t>1/B-NR</a:t>
            </a:r>
          </a:p>
        </p:txBody>
      </p:sp>
      <p:sp>
        <p:nvSpPr>
          <p:cNvPr id="14" name="Body CASE 105"/>
          <p:cNvSpPr txBox="1"/>
          <p:nvPr/>
        </p:nvSpPr>
        <p:spPr>
          <a:xfrm>
            <a:off x="622300"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In adults with active cancer currently on statin therapy, treatment should be continued to reduce ASCVD risk unless there is concern for a specific drug interaction or life expectancy is &lt;1 y.</a:t>
            </a:r>
          </a:p>
        </p:txBody>
      </p:sp>
      <p:sp>
        <p:nvSpPr>
          <p:cNvPr id="15" name="Card CASE 106"/>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106</a:t>
            </a:r>
          </a:p>
        </p:txBody>
      </p:sp>
      <p:sp>
        <p:nvSpPr>
          <p:cNvPr id="19" name="Reveal label"/>
          <p:cNvSpPr txBox="1"/>
          <p:nvPr/>
        </p:nvSpPr>
        <p:spPr>
          <a:xfrm>
            <a:off x="5933115"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0" name="COR/LOE badge"/>
          <p:cNvSpPr/>
          <p:nvPr/>
        </p:nvSpPr>
        <p:spPr>
          <a:xfrm>
            <a:off x="6953055" y="1498600"/>
            <a:ext cx="827812"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8A3605"/>
                </a:solidFill>
                <a:latin typeface="Aptos"/>
              </a:rPr>
              <a:t>2b/B-R</a:t>
            </a:r>
          </a:p>
        </p:txBody>
      </p:sp>
      <p:sp>
        <p:nvSpPr>
          <p:cNvPr id="21" name="Body CASE 106"/>
          <p:cNvSpPr txBox="1"/>
          <p:nvPr/>
        </p:nvSpPr>
        <p:spPr>
          <a:xfrm>
            <a:off x="4474633"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In adults with active cancer, initiation of statin therapy may be considered to prevent anthracycline-induced cardiotoxicity.</a:t>
            </a:r>
          </a:p>
        </p:txBody>
      </p:sp>
      <p:sp>
        <p:nvSpPr>
          <p:cNvPr id="22" name="Card CASE 152"/>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152</a:t>
            </a:r>
          </a:p>
        </p:txBody>
      </p:sp>
      <p:sp>
        <p:nvSpPr>
          <p:cNvPr id="26"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27" name="Body CASE 152"/>
          <p:cNvSpPr txBox="1"/>
          <p:nvPr/>
        </p:nvSpPr>
        <p:spPr>
          <a:xfrm>
            <a:off x="8326967"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Classify pediatric lipid values using the source cutpoints.</a:t>
            </a:r>
          </a:p>
        </p:txBody>
      </p:sp>
      <p:sp>
        <p:nvSpPr>
          <p:cNvPr id="28"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68"/>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168</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68"/>
          <p:cNvSpPr txBox="1"/>
          <p:nvPr/>
        </p:nvSpPr>
        <p:spPr>
          <a:xfrm>
            <a:off x="622300"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A child has concerning family history, markedly elevated LDL-C, pathogenic FH variants, elevated Lp(a), or another high-risk condition. What LLT decision applies to age and LDL-C thresholds?</a:t>
            </a:r>
          </a:p>
        </p:txBody>
      </p:sp>
      <p:sp>
        <p:nvSpPr>
          <p:cNvPr id="14" name="Card CASE 169"/>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169</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69"/>
          <p:cNvSpPr txBox="1"/>
          <p:nvPr/>
        </p:nvSpPr>
        <p:spPr>
          <a:xfrm>
            <a:off x="4474633"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A child receiving lipid-lowering therapy needs an LDL-C treatment goal. How should LDL-C reduction and goal vary with additional risk factors?</a:t>
            </a:r>
          </a:p>
        </p:txBody>
      </p:sp>
      <p:sp>
        <p:nvSpPr>
          <p:cNvPr id="20" name="Card CASE 170"/>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170</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170"/>
          <p:cNvSpPr txBox="1"/>
          <p:nvPr/>
        </p:nvSpPr>
        <p:spPr>
          <a:xfrm>
            <a:off x="8326967"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Consider an adult with chronic inflammatory disease. How should ASCVD risk be assessed in chronic inflammatory disease?</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68"/>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168</a:t>
            </a:r>
          </a:p>
        </p:txBody>
      </p:sp>
      <p:sp>
        <p:nvSpPr>
          <p:cNvPr id="12" name="Phase badge"/>
          <p:cNvSpPr/>
          <p:nvPr/>
        </p:nvSpPr>
        <p:spPr>
          <a:xfrm>
            <a:off x="2852486"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Body CASE 168"/>
          <p:cNvSpPr txBox="1"/>
          <p:nvPr/>
        </p:nvSpPr>
        <p:spPr>
          <a:xfrm>
            <a:off x="622300"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In children, statins and other LLTs may be considered at younger ages (6 years) or at lower LDL-C cutpoints when there is concerning family history, extremely elevated LDL-C, pathogenic FH variants, elevated Lp(a), or other risk conditions such as diabetes, CKD, or childhood cancer treatment, in shared decision-making.</a:t>
            </a:r>
          </a:p>
        </p:txBody>
      </p:sp>
      <p:sp>
        <p:nvSpPr>
          <p:cNvPr id="14" name="Card CASE 169"/>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169</a:t>
            </a:r>
          </a:p>
        </p:txBody>
      </p:sp>
      <p:sp>
        <p:nvSpPr>
          <p:cNvPr id="18" name="Phase badge"/>
          <p:cNvSpPr/>
          <p:nvPr/>
        </p:nvSpPr>
        <p:spPr>
          <a:xfrm>
            <a:off x="6704819"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9" name="Body CASE 169"/>
          <p:cNvSpPr txBox="1"/>
          <p:nvPr/>
        </p:nvSpPr>
        <p:spPr>
          <a:xfrm>
            <a:off x="4474633"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Pediatric lipid-lowering intensity should be tailored to clinical circumstances; the source states that ≥50% LDL-C reduction and LDL-C ≤130 mg/dL are generally advised, with LDL-C ≤100 mg/dL in patients with additional risk factors.</a:t>
            </a:r>
          </a:p>
        </p:txBody>
      </p:sp>
      <p:sp>
        <p:nvSpPr>
          <p:cNvPr id="20" name="Card CASE 170"/>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170</a:t>
            </a:r>
          </a:p>
        </p:txBody>
      </p:sp>
      <p:sp>
        <p:nvSpPr>
          <p:cNvPr id="24"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25" name="Body CASE 170"/>
          <p:cNvSpPr txBox="1"/>
          <p:nvPr/>
        </p:nvSpPr>
        <p:spPr>
          <a:xfrm>
            <a:off x="8326967" y="2108200"/>
            <a:ext cx="3306233" cy="3759200"/>
          </a:xfrm>
          <a:prstGeom prst="rect">
            <a:avLst/>
          </a:prstGeom>
          <a:noFill/>
        </p:spPr>
        <p:txBody>
          <a:bodyPr wrap="square" lIns="0" rIns="0" tIns="0" bIns="0" anchor="t">
            <a:noAutofit/>
          </a:bodyPr>
          <a:lstStyle/>
          <a:p>
            <a:pPr algn="l">
              <a:lnSpc>
                <a:spcPts val="2250"/>
              </a:lnSpc>
              <a:spcBef>
                <a:spcPts val="0"/>
              </a:spcBef>
              <a:spcAft>
                <a:spcPts val="0"/>
              </a:spcAft>
            </a:pPr>
            <a:r>
              <a:rPr sz="1800" b="0">
                <a:solidFill>
                  <a:srgbClr val="17212B"/>
                </a:solidFill>
                <a:latin typeface="Aptos"/>
              </a:rPr>
              <a:t>Clinicians caring for adults with chronic inflammatory diseases should incorporate ASCVD risk assessment; standard risk calculators tend to underestimate risk in this population, while CID-specific calculators have not been shown to outperform standard calculators.</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71"/>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171</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171</a:t>
            </a:r>
          </a:p>
        </p:txBody>
      </p:sp>
      <p:sp>
        <p:nvSpPr>
          <p:cNvPr id="14" name="Body CASE 171"/>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An adult with chronic inflammatory disease is receiving anti-inflammatory therapy and the regimen changes. What lipid-monitoring decision applies?</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Special Populations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89408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71"/>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171</a:t>
            </a:r>
          </a:p>
        </p:txBody>
      </p:sp>
      <p:sp>
        <p:nvSpPr>
          <p:cNvPr id="12"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171</a:t>
            </a:r>
          </a:p>
        </p:txBody>
      </p:sp>
      <p:sp>
        <p:nvSpPr>
          <p:cNvPr id="14" name="Body CASE 171"/>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Lipid monitoring is recommended in adults with chronic inflammatory disease receiving anti-inflammatory therapy, especially after a change in therapy.</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12</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M12</a:t>
            </a:r>
          </a:p>
        </p:txBody>
      </p:sp>
      <p:sp>
        <p:nvSpPr>
          <p:cNvPr id="5" name="Module name"/>
          <p:cNvSpPr txBox="1"/>
          <p:nvPr/>
        </p:nvSpPr>
        <p:spPr>
          <a:xfrm>
            <a:off x="660400" y="2095500"/>
            <a:ext cx="9525000" cy="139446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Hypertriglyceridemia &amp; Pancreatitis Prevention</a:t>
            </a:r>
          </a:p>
        </p:txBody>
      </p:sp>
      <p:sp>
        <p:nvSpPr>
          <p:cNvPr id="6" name="Module meta"/>
          <p:cNvSpPr txBox="1"/>
          <p:nvPr/>
        </p:nvSpPr>
        <p:spPr>
          <a:xfrm>
            <a:off x="660400" y="376936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6 Core GP cases • 2 Important cases in Master/Core route</a:t>
            </a:r>
          </a:p>
        </p:txBody>
      </p:sp>
      <p:sp>
        <p:nvSpPr>
          <p:cNvPr id="7" name="Divider rule"/>
          <p:cNvSpPr/>
          <p:nvPr/>
        </p:nvSpPr>
        <p:spPr>
          <a:xfrm>
            <a:off x="660400" y="445516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70916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70916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70916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529336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360"/>
              </a:lnSpc>
              <a:spcBef>
                <a:spcPts val="0"/>
              </a:spcBef>
              <a:spcAft>
                <a:spcPts val="0"/>
              </a:spcAft>
            </a:pPr>
            <a:r>
              <a:rPr sz="2800" b="1">
                <a:solidFill>
                  <a:srgbClr val="0B1F33"/>
                </a:solidFill>
                <a:latin typeface="Aptos Display"/>
              </a:rPr>
              <a:t>DECIDE — Hypertriglyceridemia &amp; Pancreatitis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9753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0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107</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107</a:t>
            </a:r>
          </a:p>
        </p:txBody>
      </p:sp>
      <p:sp>
        <p:nvSpPr>
          <p:cNvPr id="14" name="Body CASE 107"/>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An adult has persistently elevated TG ≥150 mg/dL (1.7 mmol/L) after evaluation and management of secondary causes. Which lifestyle measures and treatment role apply to reduce TG?</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000"/>
              </a:lnSpc>
              <a:spcBef>
                <a:spcPts val="0"/>
              </a:spcBef>
              <a:spcAft>
                <a:spcPts val="0"/>
              </a:spcAft>
            </a:pPr>
            <a:r>
              <a:rPr sz="2500" b="1">
                <a:solidFill>
                  <a:srgbClr val="0B1F33"/>
                </a:solidFill>
                <a:latin typeface="Aptos Display"/>
              </a:rPr>
              <a:t>SOURCE REVEAL — Hypertriglyceridemia &amp; Pancreatitis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9753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0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107</a:t>
            </a:r>
          </a:p>
        </p:txBody>
      </p:sp>
      <p:sp>
        <p:nvSpPr>
          <p:cNvPr id="12" name="Reveal label"/>
          <p:cNvSpPr txBox="1"/>
          <p:nvPr/>
        </p:nvSpPr>
        <p:spPr>
          <a:xfrm>
            <a:off x="95491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6821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107</a:t>
            </a:r>
          </a:p>
        </p:txBody>
      </p:sp>
      <p:sp>
        <p:nvSpPr>
          <p:cNvPr id="15" name="Body CASE 107"/>
          <p:cNvSpPr txBox="1"/>
          <p:nvPr/>
        </p:nvSpPr>
        <p:spPr>
          <a:xfrm>
            <a:off x="622300" y="2108200"/>
            <a:ext cx="83439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In adults with persistently elevated TG levels ≥150 mg/dL (1.7 mmol/L), after evaluation and management of secondary causes, lifestyle management (consuming a diet that consists of low added sugars, as well as reduced alcohol and saturated fat intake, routine exercise, and weight loss of 5%-10% of body weight if overweight or obese) is recommended as a first-line approach to reduce TG levels (Figure 2).</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360"/>
              </a:lnSpc>
              <a:spcBef>
                <a:spcPts val="0"/>
              </a:spcBef>
              <a:spcAft>
                <a:spcPts val="0"/>
              </a:spcAft>
            </a:pPr>
            <a:r>
              <a:rPr sz="2800" b="1">
                <a:solidFill>
                  <a:srgbClr val="0B1F33"/>
                </a:solidFill>
                <a:latin typeface="Aptos Display"/>
              </a:rPr>
              <a:t>DECIDE — Hypertriglyceridemia &amp; Pancreatitis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9753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08"/>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108</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08"/>
          <p:cNvSpPr txBox="1"/>
          <p:nvPr/>
        </p:nvSpPr>
        <p:spPr>
          <a:xfrm>
            <a:off x="622300" y="2108200"/>
            <a:ext cx="5232400"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Consider adults with clinical ASCVD and LDL-C ≥55 mg/dL (1.4 mmol/L) and non–HDL-C ≥85 mg/dL on maximally tolerated statin with persistently elevated TG levels ≥150 to 999 mg/dL (1.7–11.3 mmol/L). Which lipid-lowering priority applies?</a:t>
            </a:r>
          </a:p>
        </p:txBody>
      </p:sp>
      <p:sp>
        <p:nvSpPr>
          <p:cNvPr id="14" name="Card CASE 110"/>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110</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10"/>
          <p:cNvSpPr txBox="1"/>
          <p:nvPr/>
        </p:nvSpPr>
        <p:spPr>
          <a:xfrm>
            <a:off x="6400800" y="2108200"/>
            <a:ext cx="5232400"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Adults ≥50 y of age with clinical ASCVD or with diabetes and ≥1 ASCVD risk factors, with persistently elevated TG levels ≥150 to 499 mg/dL (1.7–5.6 mmol/L), and LDL-C &lt;100 mg/dL (2.6 mmol/L) on maximally tolerated statin. What additional therapy, if any, addresses ASCVD risk?</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000"/>
              </a:lnSpc>
              <a:spcBef>
                <a:spcPts val="0"/>
              </a:spcBef>
              <a:spcAft>
                <a:spcPts val="0"/>
              </a:spcAft>
            </a:pPr>
            <a:r>
              <a:rPr sz="2500" b="1">
                <a:solidFill>
                  <a:srgbClr val="0B1F33"/>
                </a:solidFill>
                <a:latin typeface="Aptos Display"/>
              </a:rPr>
              <a:t>SOURCE REVEAL — Hypertriglyceridemia &amp; Pancreatitis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9753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08"/>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108</a:t>
            </a:r>
          </a:p>
        </p:txBody>
      </p:sp>
      <p:sp>
        <p:nvSpPr>
          <p:cNvPr id="12" name="Reveal label"/>
          <p:cNvSpPr txBox="1"/>
          <p:nvPr/>
        </p:nvSpPr>
        <p:spPr>
          <a:xfrm>
            <a:off x="39408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50737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14" name="Body CASE 108"/>
          <p:cNvSpPr txBox="1"/>
          <p:nvPr/>
        </p:nvSpPr>
        <p:spPr>
          <a:xfrm>
            <a:off x="6223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with clinical ASCVD and LDL-C ≥55 mg/dL (1.4 mmol/L) and non–HDL-C ≥85 mg/dL on maximally tolerated statin with persistently elevated TG levels ≥150 to 999 mg/dL (1.7–11.3 mmol/L), intensification of LDL-C–lowering therapy is recommended to reduce ASCVD risk.</a:t>
            </a:r>
          </a:p>
        </p:txBody>
      </p:sp>
      <p:sp>
        <p:nvSpPr>
          <p:cNvPr id="15" name="Card CASE 110"/>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110</a:t>
            </a:r>
          </a:p>
        </p:txBody>
      </p:sp>
      <p:sp>
        <p:nvSpPr>
          <p:cNvPr id="19" name="Reveal label"/>
          <p:cNvSpPr txBox="1"/>
          <p:nvPr/>
        </p:nvSpPr>
        <p:spPr>
          <a:xfrm>
            <a:off x="958686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719810" y="1498600"/>
            <a:ext cx="913390"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2b/B-R</a:t>
            </a:r>
          </a:p>
        </p:txBody>
      </p:sp>
      <p:sp>
        <p:nvSpPr>
          <p:cNvPr id="21" name="Body CASE 110"/>
          <p:cNvSpPr txBox="1"/>
          <p:nvPr/>
        </p:nvSpPr>
        <p:spPr>
          <a:xfrm>
            <a:off x="64008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≥50 y of age with clinical ASCVD or with diabetes and ≥1 ASCVD risk factors, with persistently elevated TG levels ≥150 to 499 mg/dL (1.7–5.6 mmol/L), and LDL-C &lt;100 mg/dL (2.6 mmol/L) on maximally tolerated statin, the addition of IPE may be reasonable to lower ASCVD risk. (See Figure 9 in Section 4.2.5, “Diabetes in Adults Without Established ASCVD.”)9,10</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360"/>
              </a:lnSpc>
              <a:spcBef>
                <a:spcPts val="0"/>
              </a:spcBef>
              <a:spcAft>
                <a:spcPts val="0"/>
              </a:spcAft>
            </a:pPr>
            <a:r>
              <a:rPr sz="2800" b="1">
                <a:solidFill>
                  <a:srgbClr val="0B1F33"/>
                </a:solidFill>
                <a:latin typeface="Aptos Display"/>
              </a:rPr>
              <a:t>DECIDE — Hypertriglyceridemia &amp; Pancreatitis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9753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1"/>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111</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11"/>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adults aged 40 to 75 y without a history of ASCVD or diabetes who have persistently elevated TG levels ≥150 to 499 mg/dL (≥1.7–5.6 mmol/L). What ASCVD risk assessment should guide therapy?</a:t>
            </a:r>
          </a:p>
        </p:txBody>
      </p:sp>
      <p:sp>
        <p:nvSpPr>
          <p:cNvPr id="14" name="Card CASE 112"/>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112</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12"/>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An adult has persistent TG ≥500–999 mg/dL (5.7 mmol/L), especially TG ≥1000 mg/dL (11.3 mmol/L), despite dietary intervention. What medication options, if any, are supported to lower TG and pancreatitis risk?</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000"/>
              </a:lnSpc>
              <a:spcBef>
                <a:spcPts val="0"/>
              </a:spcBef>
              <a:spcAft>
                <a:spcPts val="0"/>
              </a:spcAft>
            </a:pPr>
            <a:r>
              <a:rPr sz="2500" b="1">
                <a:solidFill>
                  <a:srgbClr val="0B1F33"/>
                </a:solidFill>
                <a:latin typeface="Aptos Display"/>
              </a:rPr>
              <a:t>SOURCE REVEAL — Hypertriglyceridemia &amp; Pancreatitis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9753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1"/>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111</a:t>
            </a:r>
          </a:p>
        </p:txBody>
      </p:sp>
      <p:sp>
        <p:nvSpPr>
          <p:cNvPr id="12" name="Reveal label"/>
          <p:cNvSpPr txBox="1"/>
          <p:nvPr/>
        </p:nvSpPr>
        <p:spPr>
          <a:xfrm>
            <a:off x="4142582"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5275529"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14" name="Body CASE 111"/>
          <p:cNvSpPr txBox="1"/>
          <p:nvPr/>
        </p:nvSpPr>
        <p:spPr>
          <a:xfrm>
            <a:off x="6223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aged 40 to 75 y without a history of ASCVD or diabetes who have persistently elevated TG levels ≥150 to 499 mg/dL (≥1.7–5.6 mmol/L), it is recommended to estimate 10-y ASCVD risk by the PREVENT-ASCVD equations to guide the benefit-risk discussion regarding further optimization of diet and lifestyle management as well as the potential initiation of statin therapy to reduce ASCVD risk (Figure 16).</a:t>
            </a:r>
          </a:p>
        </p:txBody>
      </p:sp>
      <p:sp>
        <p:nvSpPr>
          <p:cNvPr id="15" name="Card CASE 112"/>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112</a:t>
            </a:r>
          </a:p>
        </p:txBody>
      </p:sp>
      <p:sp>
        <p:nvSpPr>
          <p:cNvPr id="19"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21" name="Body CASE 112"/>
          <p:cNvSpPr txBox="1"/>
          <p:nvPr/>
        </p:nvSpPr>
        <p:spPr>
          <a:xfrm>
            <a:off x="6400800" y="2108200"/>
            <a:ext cx="5232400" cy="3759200"/>
          </a:xfrm>
          <a:prstGeom prst="rect">
            <a:avLst/>
          </a:prstGeom>
          <a:noFill/>
        </p:spPr>
        <p:txBody>
          <a:bodyPr wrap="square" lIns="0" rIns="0" tIns="0" bIns="0" anchor="t">
            <a:noAutofit/>
          </a:bodyPr>
          <a:lstStyle/>
          <a:p>
            <a:pPr algn="l">
              <a:lnSpc>
                <a:spcPts val="2625"/>
              </a:lnSpc>
              <a:spcBef>
                <a:spcPts val="0"/>
              </a:spcBef>
              <a:spcAft>
                <a:spcPts val="0"/>
              </a:spcAft>
            </a:pPr>
            <a:r>
              <a:rPr sz="2100" b="0">
                <a:solidFill>
                  <a:srgbClr val="17212B"/>
                </a:solidFill>
                <a:latin typeface="Aptos"/>
              </a:rPr>
              <a:t>In adults with severe hypertriglyceridemia (persistently elevated TG levels ≥500–999 mg/dL [5.7 mmol/L]) and especially with TG levels ≥1000 mg/dL (11.3 mmol/L) despite dietary intervention, the use of fibric acid derivatives or prescription omega-3 fatty acids is reasonable to lower TG levels and reduce the risk of pancreatitis (Figure 17).</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360"/>
              </a:lnSpc>
              <a:spcBef>
                <a:spcPts val="0"/>
              </a:spcBef>
              <a:spcAft>
                <a:spcPts val="0"/>
              </a:spcAft>
            </a:pPr>
            <a:r>
              <a:rPr sz="2800" b="1">
                <a:solidFill>
                  <a:srgbClr val="0B1F33"/>
                </a:solidFill>
                <a:latin typeface="Aptos Display"/>
              </a:rPr>
              <a:t>DECIDE — Hypertriglyceridemia &amp; Pancreatitis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9753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3"/>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113</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113</a:t>
            </a:r>
          </a:p>
        </p:txBody>
      </p:sp>
      <p:sp>
        <p:nvSpPr>
          <p:cNvPr id="14" name="Body CASE 113"/>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An adult has hypertriglyceridemia (TG ≥150 mg/dL). Which marker should guide clinical decision-making: non–HDL-C or apoB, or LDL-C?</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000"/>
              </a:lnSpc>
              <a:spcBef>
                <a:spcPts val="0"/>
              </a:spcBef>
              <a:spcAft>
                <a:spcPts val="0"/>
              </a:spcAft>
            </a:pPr>
            <a:r>
              <a:rPr sz="2500" b="1">
                <a:solidFill>
                  <a:srgbClr val="0B1F33"/>
                </a:solidFill>
                <a:latin typeface="Aptos Display"/>
              </a:rPr>
              <a:t>SOURCE REVEAL — Hypertriglyceridemia &amp; Pancreatitis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9753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3"/>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113</a:t>
            </a:r>
          </a:p>
        </p:txBody>
      </p:sp>
      <p:sp>
        <p:nvSpPr>
          <p:cNvPr id="12"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113</a:t>
            </a:r>
          </a:p>
        </p:txBody>
      </p:sp>
      <p:sp>
        <p:nvSpPr>
          <p:cNvPr id="15" name="Body CASE 113"/>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In adults with hypertriglyceridemia (TG ≥150 mg/dL), measurement of non–HDL-C or apoB is preferred over LDL-C to guide clinical decision-making.</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360"/>
              </a:lnSpc>
              <a:spcBef>
                <a:spcPts val="0"/>
              </a:spcBef>
              <a:spcAft>
                <a:spcPts val="0"/>
              </a:spcAft>
            </a:pPr>
            <a:r>
              <a:rPr sz="2800" b="1">
                <a:solidFill>
                  <a:srgbClr val="0B1F33"/>
                </a:solidFill>
                <a:latin typeface="Aptos Display"/>
              </a:rPr>
              <a:t>DECIDE — Hypertriglyceridemia &amp; Pancreatitis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97536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63"/>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163</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63"/>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A patient has familial chylomicronemia syndrome; another patient has hypertriglyceridemia outside FCS. What total-fat and RDN guidance applies in each situation?</a:t>
            </a:r>
          </a:p>
        </p:txBody>
      </p:sp>
      <p:sp>
        <p:nvSpPr>
          <p:cNvPr id="14" name="Card CASE 164"/>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164</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64"/>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A patient has hypertriglyceridemia. In which Figure 2 situations is RDN and/or lipid-specialist referral advised or required?</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000"/>
              </a:lnSpc>
              <a:spcBef>
                <a:spcPts val="0"/>
              </a:spcBef>
              <a:spcAft>
                <a:spcPts val="0"/>
              </a:spcAft>
            </a:pPr>
            <a:r>
              <a:rPr sz="2500" b="1">
                <a:solidFill>
                  <a:srgbClr val="0B1F33"/>
                </a:solidFill>
                <a:latin typeface="Aptos Display"/>
              </a:rPr>
              <a:t>SOURCE REVEAL — Hypertriglyceridemia &amp; Pancreatitis Prevention</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97536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63"/>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163</a:t>
            </a:r>
          </a:p>
        </p:txBody>
      </p:sp>
      <p:sp>
        <p:nvSpPr>
          <p:cNvPr id="12" name="Phase badge"/>
          <p:cNvSpPr/>
          <p:nvPr/>
        </p:nvSpPr>
        <p:spPr>
          <a:xfrm>
            <a:off x="47786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Body CASE 163"/>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For FCS, limitation of total fat to 10%-15% of total daily intake with guidance from an RDN is essential; outside FCS, individualized total-fat limitation under RDN guidance can be beneficial because response varies.</a:t>
            </a:r>
          </a:p>
        </p:txBody>
      </p:sp>
      <p:sp>
        <p:nvSpPr>
          <p:cNvPr id="14" name="Card CASE 164"/>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164</a:t>
            </a:r>
          </a:p>
        </p:txBody>
      </p:sp>
      <p:sp>
        <p:nvSpPr>
          <p:cNvPr id="18"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9" name="Body CASE 164"/>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Figure 2 identifies circumstances where referral to an RDN/lipid specialist is advised or RDN referral is necessary within hypertriglyceridemia management.</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13</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M13</a:t>
            </a:r>
          </a:p>
        </p:txBody>
      </p:sp>
      <p:sp>
        <p:nvSpPr>
          <p:cNvPr id="5" name="Module name"/>
          <p:cNvSpPr txBox="1"/>
          <p:nvPr/>
        </p:nvSpPr>
        <p:spPr>
          <a:xfrm>
            <a:off x="660400" y="2095500"/>
            <a:ext cx="9525000" cy="72263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Elevated Lp(a)</a:t>
            </a:r>
          </a:p>
        </p:txBody>
      </p:sp>
      <p:sp>
        <p:nvSpPr>
          <p:cNvPr id="6" name="Module meta"/>
          <p:cNvSpPr txBox="1"/>
          <p:nvPr/>
        </p:nvSpPr>
        <p:spPr>
          <a:xfrm>
            <a:off x="660400" y="309753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2 Core GP cases • 0 Important cases in Master/Core route</a:t>
            </a:r>
          </a:p>
        </p:txBody>
      </p:sp>
      <p:sp>
        <p:nvSpPr>
          <p:cNvPr id="7" name="Divider rule"/>
          <p:cNvSpPr/>
          <p:nvPr/>
        </p:nvSpPr>
        <p:spPr>
          <a:xfrm>
            <a:off x="660400" y="378333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03733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03733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03733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462153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DECIDE — Elevated Lp(a)</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05664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4"/>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114</a:t>
            </a:r>
          </a:p>
        </p:txBody>
      </p:sp>
      <p:sp>
        <p:nvSpPr>
          <p:cNvPr id="12" name="Phase badge"/>
          <p:cNvSpPr/>
          <p:nvPr/>
        </p:nvSpPr>
        <p:spPr>
          <a:xfrm>
            <a:off x="47909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14"/>
          <p:cNvSpPr txBox="1"/>
          <p:nvPr/>
        </p:nvSpPr>
        <p:spPr>
          <a:xfrm>
            <a:off x="6223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Consider all individuals with elevated Lp(a) (≥125 nmol/L or ≥50 mg/dL). How should modifiable risk factors be managed?</a:t>
            </a:r>
          </a:p>
        </p:txBody>
      </p:sp>
      <p:sp>
        <p:nvSpPr>
          <p:cNvPr id="14" name="Card CASE 115"/>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6248400" y="1355725"/>
            <a:ext cx="55276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61849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115</a:t>
            </a:r>
          </a:p>
        </p:txBody>
      </p:sp>
      <p:sp>
        <p:nvSpPr>
          <p:cNvPr id="18"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15"/>
          <p:cNvSpPr txBox="1"/>
          <p:nvPr/>
        </p:nvSpPr>
        <p:spPr>
          <a:xfrm>
            <a:off x="6400800" y="2108200"/>
            <a:ext cx="5232400" cy="3759200"/>
          </a:xfrm>
          <a:prstGeom prst="rect">
            <a:avLst/>
          </a:prstGeom>
          <a:noFill/>
        </p:spPr>
        <p:txBody>
          <a:bodyPr wrap="square" lIns="0" rIns="0" tIns="0" bIns="0" anchor="t">
            <a:noAutofit/>
          </a:bodyPr>
          <a:lstStyle/>
          <a:p>
            <a:pPr algn="l">
              <a:lnSpc>
                <a:spcPts val="3500"/>
              </a:lnSpc>
              <a:spcBef>
                <a:spcPts val="0"/>
              </a:spcBef>
              <a:spcAft>
                <a:spcPts val="0"/>
              </a:spcAft>
            </a:pPr>
            <a:r>
              <a:rPr sz="2800" b="0">
                <a:solidFill>
                  <a:srgbClr val="17212B"/>
                </a:solidFill>
                <a:latin typeface="Aptos"/>
              </a:rPr>
              <a:t>Individuals with clinical ASCVD and elevated Lp(a) who have not achieved LDL-C and non– HDL-C treatment goals on maximally tolerated statin therapy. What additional LDL-C-lowering therapy is supported?</a:t>
            </a:r>
          </a:p>
        </p:txBody>
      </p:sp>
      <p:sp>
        <p:nvSpPr>
          <p:cNvPr id="20"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800"/>
              </a:lnSpc>
              <a:spcBef>
                <a:spcPts val="0"/>
              </a:spcBef>
              <a:spcAft>
                <a:spcPts val="0"/>
              </a:spcAft>
            </a:pPr>
            <a:r>
              <a:rPr sz="4000" b="1">
                <a:solidFill>
                  <a:srgbClr val="0B1F33"/>
                </a:solidFill>
                <a:latin typeface="Aptos Display"/>
              </a:rPr>
              <a:t>SOURCE REVEAL — Elevated Lp(a)</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05664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4"/>
          <p:cNvSpPr/>
          <p:nvPr/>
        </p:nvSpPr>
        <p:spPr>
          <a:xfrm>
            <a:off x="4064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114</a:t>
            </a:r>
          </a:p>
        </p:txBody>
      </p:sp>
      <p:sp>
        <p:nvSpPr>
          <p:cNvPr id="12" name="Reveal label"/>
          <p:cNvSpPr txBox="1"/>
          <p:nvPr/>
        </p:nvSpPr>
        <p:spPr>
          <a:xfrm>
            <a:off x="3770694"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4903640" y="1498600"/>
            <a:ext cx="951060"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1/B-NR</a:t>
            </a:r>
          </a:p>
        </p:txBody>
      </p:sp>
      <p:sp>
        <p:nvSpPr>
          <p:cNvPr id="14" name="Body CASE 114"/>
          <p:cNvSpPr txBox="1"/>
          <p:nvPr/>
        </p:nvSpPr>
        <p:spPr>
          <a:xfrm>
            <a:off x="622300" y="2108200"/>
            <a:ext cx="5232400"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In all individuals with elevated Lp(a) (≥125 nmol/L or ≥50 mg/dL), optimal early control of modifiable cardiovascular risk factors is recommended to reduce ASCVD risk.</a:t>
            </a:r>
          </a:p>
        </p:txBody>
      </p:sp>
      <p:sp>
        <p:nvSpPr>
          <p:cNvPr id="15" name="Card CASE 115"/>
          <p:cNvSpPr/>
          <p:nvPr/>
        </p:nvSpPr>
        <p:spPr>
          <a:xfrm>
            <a:off x="6184900" y="1346200"/>
            <a:ext cx="56007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6248400" y="1355725"/>
            <a:ext cx="55276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61849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64008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115</a:t>
            </a:r>
          </a:p>
        </p:txBody>
      </p:sp>
      <p:sp>
        <p:nvSpPr>
          <p:cNvPr id="19" name="Reveal label"/>
          <p:cNvSpPr txBox="1"/>
          <p:nvPr/>
        </p:nvSpPr>
        <p:spPr>
          <a:xfrm>
            <a:off x="97193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108522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21" name="Body CASE 115"/>
          <p:cNvSpPr txBox="1"/>
          <p:nvPr/>
        </p:nvSpPr>
        <p:spPr>
          <a:xfrm>
            <a:off x="6400800" y="2108200"/>
            <a:ext cx="5232400"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In individuals with clinical ASCVD and elevated Lp(a) who have not achieved LDL-C and non– HDL-C treatment goals on maximally tolerated statin therapy, the addition of a PCSK9 mAb with proven cardiovascular benefit is recommended to achieve treatment goals and reduce ASCVD risk.</a:t>
            </a:r>
          </a:p>
        </p:txBody>
      </p:sp>
      <p:sp>
        <p:nvSpPr>
          <p:cNvPr id="22"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0B1F33"/>
        </a:solidFill>
      </p:bgPr>
    </p:bg>
    <p:spTree>
      <p:nvGrpSpPr>
        <p:cNvPr id="1" name=""/>
        <p:cNvGrpSpPr/>
        <p:nvPr/>
      </p:nvGrpSpPr>
      <p:grpSpPr>
        <a:xfrm>
          <a:off x="0" y="0"/>
          <a:ext cx="0" cy="0"/>
          <a:chOff x="0" y="0"/>
          <a:chExt cx="0" cy="0"/>
        </a:xfrm>
      </p:grpSpPr>
      <p:sp>
        <p:nvSpPr>
          <p:cNvPr id="2" name="Divider background"/>
          <p:cNvSpPr/>
          <p:nvPr/>
        </p:nvSpPr>
        <p:spPr>
          <a:xfrm>
            <a:off x="0" y="0"/>
            <a:ext cx="12192000" cy="6858000"/>
          </a:xfrm>
          <a:prstGeom prst="rect">
            <a:avLst/>
          </a:prstGeom>
          <a:gradFill rotWithShape="1">
            <a:gsLst>
              <a:gs pos="0">
                <a:srgbClr val="0B1F33"/>
              </a:gs>
              <a:gs pos="100000">
                <a:srgbClr val="10325A"/>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dule watermark"/>
          <p:cNvSpPr txBox="1"/>
          <p:nvPr/>
        </p:nvSpPr>
        <p:spPr>
          <a:xfrm>
            <a:off x="6350000" y="1651000"/>
            <a:ext cx="5588000" cy="4953000"/>
          </a:xfrm>
          <a:prstGeom prst="rect">
            <a:avLst/>
          </a:prstGeom>
          <a:noFill/>
        </p:spPr>
        <p:txBody>
          <a:bodyPr wrap="none" lIns="0" rIns="0" tIns="0" bIns="0" anchor="b">
            <a:noAutofit/>
          </a:bodyPr>
          <a:lstStyle/>
          <a:p>
            <a:pPr algn="r">
              <a:lnSpc>
                <a:spcPts val="30000"/>
              </a:lnSpc>
              <a:spcBef>
                <a:spcPts val="0"/>
              </a:spcBef>
              <a:spcAft>
                <a:spcPts val="0"/>
              </a:spcAft>
            </a:pPr>
            <a:r>
              <a:rPr sz="30000" b="1">
                <a:solidFill>
                  <a:srgbClr val="0E2A47"/>
                </a:solidFill>
                <a:latin typeface="Aptos Display"/>
              </a:rPr>
              <a:t>14</a:t>
            </a:r>
          </a:p>
        </p:txBody>
      </p:sp>
      <p:sp>
        <p:nvSpPr>
          <p:cNvPr id="4" name="Module code"/>
          <p:cNvSpPr txBox="1"/>
          <p:nvPr/>
        </p:nvSpPr>
        <p:spPr>
          <a:xfrm>
            <a:off x="660400" y="889000"/>
            <a:ext cx="4445000" cy="1143000"/>
          </a:xfrm>
          <a:prstGeom prst="rect">
            <a:avLst/>
          </a:prstGeom>
          <a:noFill/>
        </p:spPr>
        <p:txBody>
          <a:bodyPr wrap="none" lIns="0" rIns="0" tIns="0" bIns="0" anchor="ctr">
            <a:noAutofit/>
          </a:bodyPr>
          <a:lstStyle/>
          <a:p>
            <a:pPr algn="l">
              <a:lnSpc>
                <a:spcPts val="9000"/>
              </a:lnSpc>
              <a:spcBef>
                <a:spcPts val="0"/>
              </a:spcBef>
              <a:spcAft>
                <a:spcPts val="0"/>
              </a:spcAft>
            </a:pPr>
            <a:r>
              <a:rPr sz="7500" b="1">
                <a:solidFill>
                  <a:srgbClr val="2E90FA"/>
                </a:solidFill>
                <a:latin typeface="Aptos Display"/>
              </a:rPr>
              <a:t>M14</a:t>
            </a:r>
          </a:p>
        </p:txBody>
      </p:sp>
      <p:sp>
        <p:nvSpPr>
          <p:cNvPr id="5" name="Module name"/>
          <p:cNvSpPr txBox="1"/>
          <p:nvPr/>
        </p:nvSpPr>
        <p:spPr>
          <a:xfrm>
            <a:off x="660400" y="2095500"/>
            <a:ext cx="9525000" cy="1394460"/>
          </a:xfrm>
          <a:prstGeom prst="rect">
            <a:avLst/>
          </a:prstGeom>
          <a:noFill/>
        </p:spPr>
        <p:txBody>
          <a:bodyPr wrap="square" lIns="0" rIns="0" tIns="0" bIns="0" anchor="t">
            <a:noAutofit/>
          </a:bodyPr>
          <a:lstStyle/>
          <a:p>
            <a:pPr algn="l">
              <a:lnSpc>
                <a:spcPts val="5290"/>
              </a:lnSpc>
              <a:spcBef>
                <a:spcPts val="0"/>
              </a:spcBef>
              <a:spcAft>
                <a:spcPts val="0"/>
              </a:spcAft>
            </a:pPr>
            <a:r>
              <a:rPr sz="4600" b="1">
                <a:solidFill>
                  <a:srgbClr val="FFFFFF"/>
                </a:solidFill>
                <a:latin typeface="Aptos Display"/>
              </a:rPr>
              <a:t>SAMS, Safety &amp; Drug Interactions</a:t>
            </a:r>
          </a:p>
        </p:txBody>
      </p:sp>
      <p:sp>
        <p:nvSpPr>
          <p:cNvPr id="6" name="Module meta"/>
          <p:cNvSpPr txBox="1"/>
          <p:nvPr/>
        </p:nvSpPr>
        <p:spPr>
          <a:xfrm>
            <a:off x="660400" y="3769360"/>
            <a:ext cx="9525000" cy="330200"/>
          </a:xfrm>
          <a:prstGeom prst="rect">
            <a:avLst/>
          </a:prstGeom>
          <a:noFill/>
        </p:spPr>
        <p:txBody>
          <a:bodyPr wrap="square" lIns="0" rIns="0" tIns="0" bIns="0" anchor="t">
            <a:noAutofit/>
          </a:bodyPr>
          <a:lstStyle/>
          <a:p>
            <a:pPr algn="l">
              <a:lnSpc>
                <a:spcPts val="2400"/>
              </a:lnSpc>
              <a:spcBef>
                <a:spcPts val="0"/>
              </a:spcBef>
              <a:spcAft>
                <a:spcPts val="0"/>
              </a:spcAft>
            </a:pPr>
            <a:r>
              <a:rPr sz="2000" b="0">
                <a:solidFill>
                  <a:srgbClr val="B7C6D8"/>
                </a:solidFill>
                <a:latin typeface="Aptos"/>
              </a:rPr>
              <a:t>16 Core GP cases • 0 Important cases in Master/Core route</a:t>
            </a:r>
          </a:p>
        </p:txBody>
      </p:sp>
      <p:sp>
        <p:nvSpPr>
          <p:cNvPr id="7" name="Divider rule"/>
          <p:cNvSpPr/>
          <p:nvPr/>
        </p:nvSpPr>
        <p:spPr>
          <a:xfrm>
            <a:off x="660400" y="4455160"/>
            <a:ext cx="7620000" cy="12700"/>
          </a:xfrm>
          <a:prstGeom prst="rect">
            <a:avLst/>
          </a:prstGeom>
          <a:solidFill>
            <a:srgbClr val="244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ase pill"/>
          <p:cNvSpPr/>
          <p:nvPr/>
        </p:nvSpPr>
        <p:spPr>
          <a:xfrm>
            <a:off x="660400" y="4709160"/>
            <a:ext cx="1934318" cy="381000"/>
          </a:xfrm>
          <a:prstGeom prst="roundRect">
            <a:avLst>
              <a:gd name="adj" fmla="val 50000"/>
            </a:avLst>
          </a:prstGeom>
          <a:solidFill>
            <a:srgbClr val="2B312E"/>
          </a:solidFill>
          <a:ln w="9525">
            <a:solidFill>
              <a:srgbClr val="E39A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F7C063"/>
                </a:solidFill>
                <a:latin typeface="Aptos"/>
              </a:rPr>
              <a:t>CASE / DECIDE</a:t>
            </a:r>
          </a:p>
        </p:txBody>
      </p:sp>
      <p:sp>
        <p:nvSpPr>
          <p:cNvPr id="9" name="Arrow"/>
          <p:cNvSpPr txBox="1"/>
          <p:nvPr/>
        </p:nvSpPr>
        <p:spPr>
          <a:xfrm>
            <a:off x="2645518" y="4709160"/>
            <a:ext cx="330200" cy="381000"/>
          </a:xfrm>
          <a:prstGeom prst="rect">
            <a:avLst/>
          </a:prstGeom>
          <a:noFill/>
        </p:spPr>
        <p:txBody>
          <a:bodyPr wrap="none" lIns="0" rIns="0" tIns="0" bIns="0" anchor="ctr">
            <a:noAutofit/>
          </a:bodyPr>
          <a:lstStyle/>
          <a:p>
            <a:pPr algn="ctr">
              <a:lnSpc>
                <a:spcPts val="1920"/>
              </a:lnSpc>
              <a:spcBef>
                <a:spcPts val="0"/>
              </a:spcBef>
              <a:spcAft>
                <a:spcPts val="0"/>
              </a:spcAft>
            </a:pPr>
            <a:r>
              <a:rPr sz="1600" b="1">
                <a:solidFill>
                  <a:srgbClr val="8FA3B8"/>
                </a:solidFill>
                <a:latin typeface="Aptos"/>
              </a:rPr>
              <a:t>→</a:t>
            </a:r>
          </a:p>
        </p:txBody>
      </p:sp>
      <p:sp>
        <p:nvSpPr>
          <p:cNvPr id="10" name="Phase pill"/>
          <p:cNvSpPr/>
          <p:nvPr/>
        </p:nvSpPr>
        <p:spPr>
          <a:xfrm>
            <a:off x="3026518" y="4709160"/>
            <a:ext cx="2124340" cy="381000"/>
          </a:xfrm>
          <a:prstGeom prst="roundRect">
            <a:avLst>
              <a:gd name="adj" fmla="val 50000"/>
            </a:avLst>
          </a:prstGeom>
          <a:solidFill>
            <a:srgbClr val="0E323D"/>
          </a:solidFill>
          <a:ln w="9525">
            <a:solidFill>
              <a:srgbClr val="1E9E7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6FD3AE"/>
                </a:solidFill>
                <a:latin typeface="Aptos"/>
              </a:rPr>
              <a:t>SOURCE REVEAL</a:t>
            </a:r>
          </a:p>
        </p:txBody>
      </p:sp>
      <p:sp>
        <p:nvSpPr>
          <p:cNvPr id="11" name="Lock note"/>
          <p:cNvSpPr txBox="1"/>
          <p:nvPr/>
        </p:nvSpPr>
        <p:spPr>
          <a:xfrm>
            <a:off x="660400" y="5293360"/>
            <a:ext cx="9525000" cy="279400"/>
          </a:xfrm>
          <a:prstGeom prst="rect">
            <a:avLst/>
          </a:prstGeom>
          <a:noFill/>
        </p:spPr>
        <p:txBody>
          <a:bodyPr wrap="square" lIns="0" rIns="0" tIns="0" bIns="0" anchor="t">
            <a:noAutofit/>
          </a:bodyPr>
          <a:lstStyle/>
          <a:p>
            <a:pPr algn="l">
              <a:lnSpc>
                <a:spcPts val="1920"/>
              </a:lnSpc>
              <a:spcBef>
                <a:spcPts val="0"/>
              </a:spcBef>
              <a:spcAft>
                <a:spcPts val="0"/>
              </a:spcAft>
            </a:pPr>
            <a:r>
              <a:rPr sz="1600" b="0">
                <a:solidFill>
                  <a:srgbClr val="8FA3B8"/>
                </a:solidFill>
                <a:latin typeface="Aptos"/>
              </a:rPr>
              <a:t>Clinical content remains locked to the frozen Master Case Library.</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6"/>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116</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116</a:t>
            </a:r>
          </a:p>
        </p:txBody>
      </p:sp>
      <p:sp>
        <p:nvSpPr>
          <p:cNvPr id="14" name="Body CASE 116"/>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One adult taking a statin has no severe muscle symptoms; another has statin-attributed muscle symptoms with severe myalgias or weakness. When and how should CK and muscle strength be assessed?</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1/2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6"/>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116</a:t>
            </a:r>
          </a:p>
        </p:txBody>
      </p:sp>
      <p:sp>
        <p:nvSpPr>
          <p:cNvPr id="12" name="Reveal label"/>
          <p:cNvSpPr txBox="1"/>
          <p:nvPr/>
        </p:nvSpPr>
        <p:spPr>
          <a:xfrm>
            <a:off x="7706886"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8839832" y="1498600"/>
            <a:ext cx="1808560" cy="304800"/>
          </a:xfrm>
          <a:prstGeom prst="roundRect">
            <a:avLst>
              <a:gd name="adj" fmla="val 50000"/>
            </a:avLst>
          </a:prstGeom>
          <a:solidFill>
            <a:srgbClr val="FDE2DF"/>
          </a:solidFill>
          <a:ln w="9525">
            <a:solidFill>
              <a:srgbClr val="F3A9A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A11A12"/>
                </a:solidFill>
                <a:latin typeface="Aptos"/>
              </a:rPr>
              <a:t>3: No Benefit/A</a:t>
            </a:r>
          </a:p>
        </p:txBody>
      </p:sp>
      <p:sp>
        <p:nvSpPr>
          <p:cNvPr id="14" name="COR/LOE badge"/>
          <p:cNvSpPr/>
          <p:nvPr/>
        </p:nvSpPr>
        <p:spPr>
          <a:xfrm>
            <a:off x="10724592" y="1498600"/>
            <a:ext cx="908608"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1/C-LD</a:t>
            </a:r>
          </a:p>
        </p:txBody>
      </p:sp>
      <p:sp>
        <p:nvSpPr>
          <p:cNvPr id="15"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116</a:t>
            </a:r>
          </a:p>
        </p:txBody>
      </p:sp>
      <p:sp>
        <p:nvSpPr>
          <p:cNvPr id="16" name="Body CASE 116"/>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In adults on statin therapy who do not have severe statin-attributed muscle symptoms, routine measurement of CK is not useful to assess safety.</a:t>
            </a:r>
          </a:p>
        </p:txBody>
      </p:sp>
      <p:sp>
        <p:nvSpPr>
          <p:cNvPr id="17"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2/2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6"/>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116</a:t>
            </a:r>
          </a:p>
        </p:txBody>
      </p:sp>
      <p:sp>
        <p:nvSpPr>
          <p:cNvPr id="12" name="Reveal label"/>
          <p:cNvSpPr txBox="1"/>
          <p:nvPr/>
        </p:nvSpPr>
        <p:spPr>
          <a:xfrm>
            <a:off x="7706886"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8839832" y="1498600"/>
            <a:ext cx="1808560" cy="304800"/>
          </a:xfrm>
          <a:prstGeom prst="roundRect">
            <a:avLst>
              <a:gd name="adj" fmla="val 50000"/>
            </a:avLst>
          </a:prstGeom>
          <a:solidFill>
            <a:srgbClr val="FDE2DF"/>
          </a:solidFill>
          <a:ln w="9525">
            <a:solidFill>
              <a:srgbClr val="F3A9A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A11A12"/>
                </a:solidFill>
                <a:latin typeface="Aptos"/>
              </a:rPr>
              <a:t>3: No Benefit/A</a:t>
            </a:r>
          </a:p>
        </p:txBody>
      </p:sp>
      <p:sp>
        <p:nvSpPr>
          <p:cNvPr id="14" name="COR/LOE badge"/>
          <p:cNvSpPr/>
          <p:nvPr/>
        </p:nvSpPr>
        <p:spPr>
          <a:xfrm>
            <a:off x="10724592" y="1498600"/>
            <a:ext cx="908608"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1/C-LD</a:t>
            </a:r>
          </a:p>
        </p:txBody>
      </p:sp>
      <p:sp>
        <p:nvSpPr>
          <p:cNvPr id="15"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116</a:t>
            </a:r>
          </a:p>
        </p:txBody>
      </p:sp>
      <p:sp>
        <p:nvSpPr>
          <p:cNvPr id="16" name="Body CASE 116"/>
          <p:cNvSpPr txBox="1"/>
          <p:nvPr/>
        </p:nvSpPr>
        <p:spPr>
          <a:xfrm>
            <a:off x="622300" y="2108200"/>
            <a:ext cx="8343900" cy="3759200"/>
          </a:xfrm>
          <a:prstGeom prst="rect">
            <a:avLst/>
          </a:prstGeom>
          <a:noFill/>
        </p:spPr>
        <p:txBody>
          <a:bodyPr wrap="square" lIns="0" rIns="0" tIns="0" bIns="0" anchor="t">
            <a:noAutofit/>
          </a:bodyPr>
          <a:lstStyle/>
          <a:p>
            <a:pPr algn="l">
              <a:lnSpc>
                <a:spcPts val="3625"/>
              </a:lnSpc>
              <a:spcBef>
                <a:spcPts val="0"/>
              </a:spcBef>
              <a:spcAft>
                <a:spcPts val="0"/>
              </a:spcAft>
            </a:pPr>
            <a:r>
              <a:rPr sz="2900" b="0">
                <a:solidFill>
                  <a:srgbClr val="17212B"/>
                </a:solidFill>
                <a:latin typeface="Aptos"/>
              </a:rPr>
              <a:t>In adults with statin-attributed muscle symptoms, assessment should include evaluation for secondary causes (Table 24), and in those with severe myalgias or weakness, objective clinical measures of muscle strength and measurement of CK are recommended to assess severity of the condition.</a:t>
            </a:r>
          </a:p>
        </p:txBody>
      </p:sp>
      <p:sp>
        <p:nvSpPr>
          <p:cNvPr id="17"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117</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117</a:t>
            </a:r>
          </a:p>
        </p:txBody>
      </p:sp>
      <p:sp>
        <p:nvSpPr>
          <p:cNvPr id="14" name="Body CASE 117"/>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Consider an adult with statin-attributed muscle symptoms. What should the clinician–patient discussion cover?</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840"/>
              </a:lnSpc>
              <a:spcBef>
                <a:spcPts val="0"/>
              </a:spcBef>
              <a:spcAft>
                <a:spcPts val="0"/>
              </a:spcAft>
            </a:pPr>
            <a:r>
              <a:rPr sz="3200" b="1">
                <a:solidFill>
                  <a:srgbClr val="0B1F33"/>
                </a:solidFill>
                <a:latin typeface="Aptos Display"/>
              </a:rPr>
              <a:t>SOURCE REVEAL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117</a:t>
            </a:r>
          </a:p>
        </p:txBody>
      </p:sp>
      <p:sp>
        <p:nvSpPr>
          <p:cNvPr id="12" name="Reveal label"/>
          <p:cNvSpPr txBox="1"/>
          <p:nvPr/>
        </p:nvSpPr>
        <p:spPr>
          <a:xfrm>
            <a:off x="97193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8522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117</a:t>
            </a:r>
          </a:p>
        </p:txBody>
      </p:sp>
      <p:sp>
        <p:nvSpPr>
          <p:cNvPr id="15" name="Body CASE 117"/>
          <p:cNvSpPr txBox="1"/>
          <p:nvPr/>
        </p:nvSpPr>
        <p:spPr>
          <a:xfrm>
            <a:off x="622300" y="2108200"/>
            <a:ext cx="8343900" cy="3759200"/>
          </a:xfrm>
          <a:prstGeom prst="rect">
            <a:avLst/>
          </a:prstGeom>
          <a:noFill/>
        </p:spPr>
        <p:txBody>
          <a:bodyPr wrap="square" lIns="0" rIns="0" tIns="0" bIns="0" anchor="t">
            <a:noAutofit/>
          </a:bodyPr>
          <a:lstStyle/>
          <a:p>
            <a:pPr algn="l">
              <a:lnSpc>
                <a:spcPts val="3750"/>
              </a:lnSpc>
              <a:spcBef>
                <a:spcPts val="0"/>
              </a:spcBef>
              <a:spcAft>
                <a:spcPts val="0"/>
              </a:spcAft>
            </a:pPr>
            <a:r>
              <a:rPr sz="3000" b="0">
                <a:solidFill>
                  <a:srgbClr val="17212B"/>
                </a:solidFill>
                <a:latin typeface="Aptos"/>
              </a:rPr>
              <a:t>In adults with statin-attributed muscle symptoms, the clinician–patient discussion should acknowledge patient side effect concerns, inform the patient of the heightened ASCVD risk associated with statin discontinuation, and provide alternative treatment options to reduce ASCVD risk.</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118</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118</a:t>
            </a:r>
          </a:p>
        </p:txBody>
      </p:sp>
      <p:sp>
        <p:nvSpPr>
          <p:cNvPr id="14" name="Body CASE 118"/>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An adult with clinical ASCVD has statin-attributed muscle symptoms on the recommended statin intensity, with secondary causes excluded, and cannot achieve treatment goals. What statin-dose adjustment and additional treatment options are recommended?</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840"/>
              </a:lnSpc>
              <a:spcBef>
                <a:spcPts val="0"/>
              </a:spcBef>
              <a:spcAft>
                <a:spcPts val="0"/>
              </a:spcAft>
            </a:pPr>
            <a:r>
              <a:rPr sz="3200" b="1">
                <a:solidFill>
                  <a:srgbClr val="0B1F33"/>
                </a:solidFill>
                <a:latin typeface="Aptos Display"/>
              </a:rPr>
              <a:t>SOURCE REVEAL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118</a:t>
            </a:r>
          </a:p>
        </p:txBody>
      </p:sp>
      <p:sp>
        <p:nvSpPr>
          <p:cNvPr id="12" name="Reveal label"/>
          <p:cNvSpPr txBox="1"/>
          <p:nvPr/>
        </p:nvSpPr>
        <p:spPr>
          <a:xfrm>
            <a:off x="97193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8522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118</a:t>
            </a:r>
          </a:p>
        </p:txBody>
      </p:sp>
      <p:sp>
        <p:nvSpPr>
          <p:cNvPr id="15" name="Body CASE 118"/>
          <p:cNvSpPr txBox="1"/>
          <p:nvPr/>
        </p:nvSpPr>
        <p:spPr>
          <a:xfrm>
            <a:off x="622300" y="2108200"/>
            <a:ext cx="83439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In adults with clinical ASCVD who experience statin-attributed muscle symptoms on the recommended intensity of statin therapy (secondary causes excluded) and are unable to achieve recommended treatment goals, use of a reduced statin dose (if tolerable) and the addition of bempedoic acid, ezetimibe, or a PCSK9 mAb, alone or in combination, are recommended to lower LDL-C and reduce ASCVD risk.</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9"/>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119</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119</a:t>
            </a:r>
          </a:p>
        </p:txBody>
      </p:sp>
      <p:sp>
        <p:nvSpPr>
          <p:cNvPr id="14" name="Body CASE 119"/>
          <p:cNvSpPr txBox="1"/>
          <p:nvPr/>
        </p:nvSpPr>
        <p:spPr>
          <a:xfrm>
            <a:off x="622300" y="2108200"/>
            <a:ext cx="8343900" cy="3759200"/>
          </a:xfrm>
          <a:prstGeom prst="rect">
            <a:avLst/>
          </a:prstGeom>
          <a:noFill/>
        </p:spPr>
        <p:txBody>
          <a:bodyPr wrap="square" lIns="0" rIns="0" tIns="0" bIns="0" anchor="t">
            <a:noAutofit/>
          </a:bodyPr>
          <a:lstStyle/>
          <a:p>
            <a:pPr algn="l">
              <a:lnSpc>
                <a:spcPts val="3625"/>
              </a:lnSpc>
              <a:spcBef>
                <a:spcPts val="0"/>
              </a:spcBef>
              <a:spcAft>
                <a:spcPts val="0"/>
              </a:spcAft>
            </a:pPr>
            <a:r>
              <a:rPr sz="2900" b="0">
                <a:solidFill>
                  <a:srgbClr val="17212B"/>
                </a:solidFill>
                <a:latin typeface="Aptos"/>
              </a:rPr>
              <a:t>Consider an adult without clinical ASCVD who has statin-attributed muscle symptoms on the recommended statin intensity (secondary causes excluded) and high ASCVD risk by PREVENT-ASCVD ≥10%, CAC ≥300 AU, or diabetes with age &gt;65 y in women or &gt;60 y in men. What LDL-C-lowering treatment goal applies?</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1/2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9"/>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119</a:t>
            </a:r>
          </a:p>
        </p:txBody>
      </p:sp>
      <p:sp>
        <p:nvSpPr>
          <p:cNvPr id="12" name="Reveal label"/>
          <p:cNvSpPr txBox="1"/>
          <p:nvPr/>
        </p:nvSpPr>
        <p:spPr>
          <a:xfrm>
            <a:off x="97193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8522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119</a:t>
            </a:r>
          </a:p>
        </p:txBody>
      </p:sp>
      <p:sp>
        <p:nvSpPr>
          <p:cNvPr id="15" name="Body CASE 119"/>
          <p:cNvSpPr txBox="1"/>
          <p:nvPr/>
        </p:nvSpPr>
        <p:spPr>
          <a:xfrm>
            <a:off x="622300" y="2108200"/>
            <a:ext cx="83439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In adults without a history of clinical ASCVD who experience statin-attributed muscle symptoms on the recommended intensity of statin therapy (secondary causes excluded) and are at high ASCVD risk based on the PREVENT-ASCVD equations of ≥10% or a CAC score ≥300 AU, or women &gt;65 y of age or men &gt;60 y of age with diabetes, the addition of bempedoic acid and/ or ezetimibe is/are indicated to lower LDL-C to</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2/2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19"/>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119</a:t>
            </a:r>
          </a:p>
        </p:txBody>
      </p:sp>
      <p:sp>
        <p:nvSpPr>
          <p:cNvPr id="12" name="Reveal label"/>
          <p:cNvSpPr txBox="1"/>
          <p:nvPr/>
        </p:nvSpPr>
        <p:spPr>
          <a:xfrm>
            <a:off x="97193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8522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119</a:t>
            </a:r>
          </a:p>
        </p:txBody>
      </p:sp>
      <p:sp>
        <p:nvSpPr>
          <p:cNvPr id="15" name="Body CASE 119"/>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&lt;70 mg/dL (1.8 mmol/L) and non–HDL-C &lt;100 mg/dL (2.6 mmol/L) and to reduce ASCVD risk.</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0"/>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120</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120</a:t>
            </a:r>
          </a:p>
        </p:txBody>
      </p:sp>
      <p:sp>
        <p:nvSpPr>
          <p:cNvPr id="14" name="Body CASE 120"/>
          <p:cNvSpPr txBox="1"/>
          <p:nvPr/>
        </p:nvSpPr>
        <p:spPr>
          <a:xfrm>
            <a:off x="622300" y="2108200"/>
            <a:ext cx="83439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What LDL-C-lowering option, if any, applies?</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840"/>
              </a:lnSpc>
              <a:spcBef>
                <a:spcPts val="0"/>
              </a:spcBef>
              <a:spcAft>
                <a:spcPts val="0"/>
              </a:spcAft>
            </a:pPr>
            <a:r>
              <a:rPr sz="3200" b="1">
                <a:solidFill>
                  <a:srgbClr val="0B1F33"/>
                </a:solidFill>
                <a:latin typeface="Aptos Display"/>
              </a:rPr>
              <a:t>SOURCE REVEAL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0"/>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120</a:t>
            </a:r>
          </a:p>
        </p:txBody>
      </p:sp>
      <p:sp>
        <p:nvSpPr>
          <p:cNvPr id="12" name="Reveal label"/>
          <p:cNvSpPr txBox="1"/>
          <p:nvPr/>
        </p:nvSpPr>
        <p:spPr>
          <a:xfrm>
            <a:off x="97193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852296" y="1498600"/>
            <a:ext cx="780904"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1/B-R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120</a:t>
            </a:r>
          </a:p>
        </p:txBody>
      </p:sp>
      <p:sp>
        <p:nvSpPr>
          <p:cNvPr id="15" name="Body CASE 120"/>
          <p:cNvSpPr txBox="1"/>
          <p:nvPr/>
        </p:nvSpPr>
        <p:spPr>
          <a:xfrm>
            <a:off x="622300" y="2108200"/>
            <a:ext cx="8343900" cy="3759200"/>
          </a:xfrm>
          <a:prstGeom prst="rect">
            <a:avLst/>
          </a:prstGeom>
          <a:noFill/>
        </p:spPr>
        <p:txBody>
          <a:bodyPr wrap="square" lIns="0" rIns="0" tIns="0" bIns="0" anchor="t">
            <a:noAutofit/>
          </a:bodyPr>
          <a:lstStyle/>
          <a:p>
            <a:pPr algn="l">
              <a:lnSpc>
                <a:spcPts val="3250"/>
              </a:lnSpc>
              <a:spcBef>
                <a:spcPts val="0"/>
              </a:spcBef>
              <a:spcAft>
                <a:spcPts val="0"/>
              </a:spcAft>
            </a:pPr>
            <a:r>
              <a:rPr sz="2600" b="0">
                <a:solidFill>
                  <a:srgbClr val="17212B"/>
                </a:solidFill>
                <a:latin typeface="Aptos"/>
              </a:rPr>
              <a:t>In 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the addition of a PCSK9 mAb is recommended to lower LDL-C.</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1"/>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121</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121</a:t>
            </a:r>
          </a:p>
        </p:txBody>
      </p:sp>
      <p:sp>
        <p:nvSpPr>
          <p:cNvPr id="14" name="Body CASE 121"/>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Consider adults with clinical ASCVD who experience statin-attributed muscle symptoms (secondary causes excluded) and are unable to achieve recommended treatment goals on bempedoic acid with or without ezetimibe. What further LLT option, if any, applies?</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840"/>
              </a:lnSpc>
              <a:spcBef>
                <a:spcPts val="0"/>
              </a:spcBef>
              <a:spcAft>
                <a:spcPts val="0"/>
              </a:spcAft>
            </a:pPr>
            <a:r>
              <a:rPr sz="3200" b="1">
                <a:solidFill>
                  <a:srgbClr val="0B1F33"/>
                </a:solidFill>
                <a:latin typeface="Aptos Display"/>
              </a:rPr>
              <a:t>SOURCE REVEAL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1"/>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121</a:t>
            </a:r>
          </a:p>
        </p:txBody>
      </p:sp>
      <p:sp>
        <p:nvSpPr>
          <p:cNvPr id="12" name="Reveal label"/>
          <p:cNvSpPr txBox="1"/>
          <p:nvPr/>
        </p:nvSpPr>
        <p:spPr>
          <a:xfrm>
            <a:off x="942277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55725" y="1498600"/>
            <a:ext cx="1077475"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6B4B00"/>
                </a:solidFill>
                <a:latin typeface="Aptos"/>
              </a:rPr>
              <a:t>2a/B-NR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121</a:t>
            </a:r>
          </a:p>
        </p:txBody>
      </p:sp>
      <p:sp>
        <p:nvSpPr>
          <p:cNvPr id="15" name="Body CASE 121"/>
          <p:cNvSpPr txBox="1"/>
          <p:nvPr/>
        </p:nvSpPr>
        <p:spPr>
          <a:xfrm>
            <a:off x="622300" y="2108200"/>
            <a:ext cx="8343900" cy="3759200"/>
          </a:xfrm>
          <a:prstGeom prst="rect">
            <a:avLst/>
          </a:prstGeom>
          <a:noFill/>
        </p:spPr>
        <p:txBody>
          <a:bodyPr wrap="square" lIns="0" rIns="0" tIns="0" bIns="0" anchor="t">
            <a:noAutofit/>
          </a:bodyPr>
          <a:lstStyle/>
          <a:p>
            <a:pPr algn="l">
              <a:lnSpc>
                <a:spcPts val="3125"/>
              </a:lnSpc>
              <a:spcBef>
                <a:spcPts val="0"/>
              </a:spcBef>
              <a:spcAft>
                <a:spcPts val="0"/>
              </a:spcAft>
            </a:pPr>
            <a:r>
              <a:rPr sz="2500" b="0">
                <a:solidFill>
                  <a:srgbClr val="17212B"/>
                </a:solidFill>
                <a:latin typeface="Aptos"/>
              </a:rPr>
              <a:t>In adults with clinical ASCVD who experience statin-attributed muscle symptoms (secondary causes excluded) and are unable to achieve recommended treatment goals on bempedoic acid with or without ezetimibe, it is reasonable to add inclisiran in those unable to tolerate or obtain evolocumab or alirocumab or who have a strong preference for less frequent dosing to achieve an LDL-C goal &lt;55 mg/dL (1.4 mmol/L) and non–HDL-C &lt;85 mg/dL (2.2 mmol/L).</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122</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122</a:t>
            </a:r>
          </a:p>
        </p:txBody>
      </p:sp>
      <p:sp>
        <p:nvSpPr>
          <p:cNvPr id="14" name="Body CASE 122"/>
          <p:cNvSpPr txBox="1"/>
          <p:nvPr/>
        </p:nvSpPr>
        <p:spPr>
          <a:xfrm>
            <a:off x="622300" y="2108200"/>
            <a:ext cx="8343900" cy="3759200"/>
          </a:xfrm>
          <a:prstGeom prst="rect">
            <a:avLst/>
          </a:prstGeom>
          <a:noFill/>
        </p:spPr>
        <p:txBody>
          <a:bodyPr wrap="square" lIns="0" rIns="0" tIns="0" bIns="0" anchor="t">
            <a:noAutofit/>
          </a:bodyPr>
          <a:lstStyle/>
          <a:p>
            <a:pPr algn="l">
              <a:lnSpc>
                <a:spcPts val="3125"/>
              </a:lnSpc>
              <a:spcBef>
                <a:spcPts val="0"/>
              </a:spcBef>
              <a:spcAft>
                <a:spcPts val="0"/>
              </a:spcAft>
            </a:pPr>
            <a:r>
              <a:rPr sz="2500" b="0">
                <a:solidFill>
                  <a:srgbClr val="17212B"/>
                </a:solidFill>
                <a:latin typeface="Aptos"/>
              </a:rPr>
              <a:t>Consider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What risk reassessment can guide an uncertain treatment decision?</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1/2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122</a:t>
            </a:r>
          </a:p>
        </p:txBody>
      </p:sp>
      <p:sp>
        <p:nvSpPr>
          <p:cNvPr id="12" name="Reveal label"/>
          <p:cNvSpPr txBox="1"/>
          <p:nvPr/>
        </p:nvSpPr>
        <p:spPr>
          <a:xfrm>
            <a:off x="958686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719810" y="1498600"/>
            <a:ext cx="913390"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2b/B-R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122</a:t>
            </a:r>
          </a:p>
        </p:txBody>
      </p:sp>
      <p:sp>
        <p:nvSpPr>
          <p:cNvPr id="15" name="Body CASE 122"/>
          <p:cNvSpPr txBox="1"/>
          <p:nvPr/>
        </p:nvSpPr>
        <p:spPr>
          <a:xfrm>
            <a:off x="622300" y="2108200"/>
            <a:ext cx="8343900"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In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coronary calcium scoring may be reasonable to aid in ASCVD risk stratification to inform decision-making</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2/2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2"/>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122</a:t>
            </a:r>
          </a:p>
        </p:txBody>
      </p:sp>
      <p:sp>
        <p:nvSpPr>
          <p:cNvPr id="12" name="Reveal label"/>
          <p:cNvSpPr txBox="1"/>
          <p:nvPr/>
        </p:nvSpPr>
        <p:spPr>
          <a:xfrm>
            <a:off x="9586863"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719810" y="1498600"/>
            <a:ext cx="913390"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2b/B-R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122</a:t>
            </a:r>
          </a:p>
        </p:txBody>
      </p:sp>
      <p:sp>
        <p:nvSpPr>
          <p:cNvPr id="15" name="Body CASE 122"/>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about add-on therapy to reduce ASCVD risk.</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3"/>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123</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123</a:t>
            </a:r>
          </a:p>
        </p:txBody>
      </p:sp>
      <p:sp>
        <p:nvSpPr>
          <p:cNvPr id="14" name="Body CASE 123"/>
          <p:cNvSpPr txBox="1"/>
          <p:nvPr/>
        </p:nvSpPr>
        <p:spPr>
          <a:xfrm>
            <a:off x="622300" y="2108200"/>
            <a:ext cx="8343900" cy="3759200"/>
          </a:xfrm>
          <a:prstGeom prst="rect">
            <a:avLst/>
          </a:prstGeom>
          <a:noFill/>
        </p:spPr>
        <p:txBody>
          <a:bodyPr wrap="square" lIns="0" rIns="0" tIns="0" bIns="0" anchor="t">
            <a:noAutofit/>
          </a:bodyPr>
          <a:lstStyle/>
          <a:p>
            <a:pPr algn="l">
              <a:lnSpc>
                <a:spcPts val="3625"/>
              </a:lnSpc>
              <a:spcBef>
                <a:spcPts val="0"/>
              </a:spcBef>
              <a:spcAft>
                <a:spcPts val="0"/>
              </a:spcAft>
            </a:pPr>
            <a:r>
              <a:rPr sz="2900" b="0">
                <a:solidFill>
                  <a:srgbClr val="17212B"/>
                </a:solidFill>
                <a:latin typeface="Aptos"/>
              </a:rPr>
              <a:t>Adults without a history of clinical ASCVD who experience statin-attributed muscle symptoms on the recommended intensity of statin therapy (secondary causes excluded) and are at borderline or intermediate ASCVD risk based on the PREVENT-ASCVD equations of 3% to &lt;10%. What LDL-C-lowering option, if any, applies?</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840"/>
              </a:lnSpc>
              <a:spcBef>
                <a:spcPts val="0"/>
              </a:spcBef>
              <a:spcAft>
                <a:spcPts val="0"/>
              </a:spcAft>
            </a:pPr>
            <a:r>
              <a:rPr sz="3200" b="1">
                <a:solidFill>
                  <a:srgbClr val="0B1F33"/>
                </a:solidFill>
                <a:latin typeface="Aptos Display"/>
              </a:rPr>
              <a:t>SOURCE REVEAL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3"/>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123</a:t>
            </a:r>
          </a:p>
        </p:txBody>
      </p:sp>
      <p:sp>
        <p:nvSpPr>
          <p:cNvPr id="12" name="Reveal label"/>
          <p:cNvSpPr txBox="1"/>
          <p:nvPr/>
        </p:nvSpPr>
        <p:spPr>
          <a:xfrm>
            <a:off x="9416708"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10549654" y="1498600"/>
            <a:ext cx="1083546" cy="304800"/>
          </a:xfrm>
          <a:prstGeom prst="roundRect">
            <a:avLst>
              <a:gd name="adj" fmla="val 50000"/>
            </a:avLst>
          </a:prstGeom>
          <a:solidFill>
            <a:srgbClr val="FFE6D2"/>
          </a:solidFill>
          <a:ln w="9525">
            <a:solidFill>
              <a:srgbClr val="F6B98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8A3605"/>
                </a:solidFill>
                <a:latin typeface="Aptos"/>
              </a:rPr>
              <a:t>2b/B-NR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123</a:t>
            </a:r>
          </a:p>
        </p:txBody>
      </p:sp>
      <p:sp>
        <p:nvSpPr>
          <p:cNvPr id="15" name="Body CASE 123"/>
          <p:cNvSpPr txBox="1"/>
          <p:nvPr/>
        </p:nvSpPr>
        <p:spPr>
          <a:xfrm>
            <a:off x="622300" y="2108200"/>
            <a:ext cx="8343900"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In adults without a history of clinical ASCVD who experience statin-attributed muscle symptoms on the recommended intensity of statin therapy (secondary causes excluded) and are at borderline or intermediate ASCVD risk based on the PREVENT-ASCVD equations of 3% to &lt;10%, the addition of ezetimibe and/or bempedoic acid may be reasonable to lower LDL-C to &lt;100 mg/dL (2.6 mmol/L) and non–HDL-C to &lt;130 mg/dL (3.4 mmol/L) and reduce ASCVD risk.</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4"/>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124</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24"/>
          <p:cNvSpPr txBox="1"/>
          <p:nvPr/>
        </p:nvSpPr>
        <p:spPr>
          <a:xfrm>
            <a:off x="622300"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An adult with dyslipidemia is considering lipid-lowering medication. What discussion should precede lipid-lowering medication?</a:t>
            </a:r>
          </a:p>
        </p:txBody>
      </p:sp>
      <p:sp>
        <p:nvSpPr>
          <p:cNvPr id="14" name="Card CASE 125"/>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125</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25"/>
          <p:cNvSpPr txBox="1"/>
          <p:nvPr/>
        </p:nvSpPr>
        <p:spPr>
          <a:xfrm>
            <a:off x="4474633"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Consider adults with elevated diabetes risk or new-onset diabetes. What statin continuation decision applies?</a:t>
            </a:r>
          </a:p>
        </p:txBody>
      </p:sp>
      <p:sp>
        <p:nvSpPr>
          <p:cNvPr id="20" name="Card CASE 126"/>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126</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126"/>
          <p:cNvSpPr txBox="1"/>
          <p:nvPr/>
        </p:nvSpPr>
        <p:spPr>
          <a:xfrm>
            <a:off x="8326967"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Consider adults at elevated ASCVD risk with chronic, stable liver disease (including metabolic dysfunction-associated steatotic liver disease). What statin treatment decision applies?</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840"/>
              </a:lnSpc>
              <a:spcBef>
                <a:spcPts val="0"/>
              </a:spcBef>
              <a:spcAft>
                <a:spcPts val="0"/>
              </a:spcAft>
            </a:pPr>
            <a:r>
              <a:rPr sz="3200" b="1">
                <a:solidFill>
                  <a:srgbClr val="0B1F33"/>
                </a:solidFill>
                <a:latin typeface="Aptos Display"/>
              </a:rPr>
              <a:t>SOURCE REVEAL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4"/>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124</a:t>
            </a:r>
          </a:p>
        </p:txBody>
      </p:sp>
      <p:sp>
        <p:nvSpPr>
          <p:cNvPr id="12" name="Reveal label"/>
          <p:cNvSpPr txBox="1"/>
          <p:nvPr/>
        </p:nvSpPr>
        <p:spPr>
          <a:xfrm>
            <a:off x="2216416"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3349363"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14" name="Body CASE 124"/>
          <p:cNvSpPr txBox="1"/>
          <p:nvPr/>
        </p:nvSpPr>
        <p:spPr>
          <a:xfrm>
            <a:off x="622300"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with dyslipidemia, an individualized clinician–patient discussion prior to initiating lipid-lowering medication is recommended to review the benefits and risks of pharmacotherapy to promote patient engagement and medication adherence.</a:t>
            </a:r>
          </a:p>
        </p:txBody>
      </p:sp>
      <p:sp>
        <p:nvSpPr>
          <p:cNvPr id="15" name="Card CASE 125"/>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125</a:t>
            </a:r>
          </a:p>
        </p:txBody>
      </p:sp>
      <p:sp>
        <p:nvSpPr>
          <p:cNvPr id="19" name="Reveal label"/>
          <p:cNvSpPr txBox="1"/>
          <p:nvPr/>
        </p:nvSpPr>
        <p:spPr>
          <a:xfrm>
            <a:off x="6068749"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20" name="COR/LOE badge"/>
          <p:cNvSpPr/>
          <p:nvPr/>
        </p:nvSpPr>
        <p:spPr>
          <a:xfrm>
            <a:off x="7201696" y="1498600"/>
            <a:ext cx="579171" cy="304800"/>
          </a:xfrm>
          <a:prstGeom prst="roundRect">
            <a:avLst>
              <a:gd name="adj" fmla="val 50000"/>
            </a:avLst>
          </a:prstGeom>
          <a:solidFill>
            <a:srgbClr val="DDF3E8"/>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0E6B4E"/>
                </a:solidFill>
                <a:latin typeface="Aptos"/>
              </a:rPr>
              <a:t>1/A</a:t>
            </a:r>
          </a:p>
        </p:txBody>
      </p:sp>
      <p:sp>
        <p:nvSpPr>
          <p:cNvPr id="21" name="Body CASE 125"/>
          <p:cNvSpPr txBox="1"/>
          <p:nvPr/>
        </p:nvSpPr>
        <p:spPr>
          <a:xfrm>
            <a:off x="4474633"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with elevated diabetes risk or new-onset diabetes, it is recommended to continue statin therapy, with added emphasis on adherence, net clinical benefit, and lifestyle management.</a:t>
            </a:r>
          </a:p>
        </p:txBody>
      </p:sp>
      <p:sp>
        <p:nvSpPr>
          <p:cNvPr id="22" name="Card CASE 126"/>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se id"/>
          <p:cNvSpPr/>
          <p:nvPr/>
        </p:nvSpPr>
        <p:spPr>
          <a:xfrm>
            <a:off x="8326967" y="1498600"/>
            <a:ext cx="108776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spc="50">
                <a:solidFill>
                  <a:srgbClr val="175CD3"/>
                </a:solidFill>
                <a:latin typeface="Aptos"/>
              </a:rPr>
              <a:t>CASE 126</a:t>
            </a:r>
          </a:p>
        </p:txBody>
      </p:sp>
      <p:sp>
        <p:nvSpPr>
          <p:cNvPr id="26" name="Reveal label"/>
          <p:cNvSpPr txBox="1"/>
          <p:nvPr/>
        </p:nvSpPr>
        <p:spPr>
          <a:xfrm>
            <a:off x="9790763" y="1498600"/>
            <a:ext cx="943739" cy="304800"/>
          </a:xfrm>
          <a:prstGeom prst="rect">
            <a:avLst/>
          </a:prstGeom>
          <a:noFill/>
        </p:spPr>
        <p:txBody>
          <a:bodyPr wrap="none" lIns="0" rIns="0" tIns="0" bIns="0" anchor="ctr">
            <a:noAutofit/>
          </a:bodyPr>
          <a:lstStyle/>
          <a:p>
            <a:pPr algn="l">
              <a:lnSpc>
                <a:spcPts val="1680"/>
              </a:lnSpc>
              <a:spcBef>
                <a:spcPts val="0"/>
              </a:spcBef>
              <a:spcAft>
                <a:spcPts val="0"/>
              </a:spcAft>
            </a:pPr>
            <a:r>
              <a:rPr sz="1400" b="1" spc="50">
                <a:solidFill>
                  <a:srgbClr val="0F6B4E"/>
                </a:solidFill>
                <a:latin typeface="Aptos"/>
              </a:rPr>
              <a:t>REVEAL •</a:t>
            </a:r>
          </a:p>
        </p:txBody>
      </p:sp>
      <p:sp>
        <p:nvSpPr>
          <p:cNvPr id="27" name="COR/LOE badge"/>
          <p:cNvSpPr/>
          <p:nvPr/>
        </p:nvSpPr>
        <p:spPr>
          <a:xfrm>
            <a:off x="10810702" y="1498600"/>
            <a:ext cx="822498" cy="304800"/>
          </a:xfrm>
          <a:prstGeom prst="roundRect">
            <a:avLst>
              <a:gd name="adj" fmla="val 50000"/>
            </a:avLst>
          </a:prstGeom>
          <a:solidFill>
            <a:srgbClr val="FFF3C4"/>
          </a:solidFill>
          <a:ln w="9525">
            <a:solidFill>
              <a:srgbClr val="F2D67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680"/>
              </a:lnSpc>
              <a:spcBef>
                <a:spcPts val="0"/>
              </a:spcBef>
              <a:spcAft>
                <a:spcPts val="0"/>
              </a:spcAft>
            </a:pPr>
            <a:r>
              <a:rPr sz="1400" b="1">
                <a:solidFill>
                  <a:srgbClr val="6B4B00"/>
                </a:solidFill>
                <a:latin typeface="Aptos"/>
              </a:rPr>
              <a:t>2a/B-R</a:t>
            </a:r>
          </a:p>
        </p:txBody>
      </p:sp>
      <p:sp>
        <p:nvSpPr>
          <p:cNvPr id="28" name="Body CASE 126"/>
          <p:cNvSpPr txBox="1"/>
          <p:nvPr/>
        </p:nvSpPr>
        <p:spPr>
          <a:xfrm>
            <a:off x="8326967" y="2108200"/>
            <a:ext cx="3306233" cy="3759200"/>
          </a:xfrm>
          <a:prstGeom prst="rect">
            <a:avLst/>
          </a:prstGeom>
          <a:noFill/>
        </p:spPr>
        <p:txBody>
          <a:bodyPr wrap="square" lIns="0" rIns="0" tIns="0" bIns="0" anchor="t">
            <a:noAutofit/>
          </a:bodyPr>
          <a:lstStyle/>
          <a:p>
            <a:pPr algn="l">
              <a:lnSpc>
                <a:spcPts val="2375"/>
              </a:lnSpc>
              <a:spcBef>
                <a:spcPts val="0"/>
              </a:spcBef>
              <a:spcAft>
                <a:spcPts val="0"/>
              </a:spcAft>
            </a:pPr>
            <a:r>
              <a:rPr sz="1900" b="0">
                <a:solidFill>
                  <a:srgbClr val="17212B"/>
                </a:solidFill>
                <a:latin typeface="Aptos"/>
              </a:rPr>
              <a:t>In adults at elevated ASCVD risk with chronic, stable liver disease (including metabolic dysfunction-associated steatotic liver disease), it is reasonable to treat with statin therapy to reduce ASCVD risk.</a:t>
            </a:r>
          </a:p>
        </p:txBody>
      </p:sp>
      <p:sp>
        <p:nvSpPr>
          <p:cNvPr id="29"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127</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127</a:t>
            </a:r>
          </a:p>
        </p:txBody>
      </p:sp>
      <p:sp>
        <p:nvSpPr>
          <p:cNvPr id="14" name="Body CASE 127"/>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Consider adults on statin therapy. Should coenzyme Q10 be used routinely for statin-attributed muscle symptoms?</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840"/>
              </a:lnSpc>
              <a:spcBef>
                <a:spcPts val="0"/>
              </a:spcBef>
              <a:spcAft>
                <a:spcPts val="0"/>
              </a:spcAft>
            </a:pPr>
            <a:r>
              <a:rPr sz="3200" b="1">
                <a:solidFill>
                  <a:srgbClr val="0B1F33"/>
                </a:solidFill>
                <a:latin typeface="Aptos Display"/>
              </a:rPr>
              <a:t>SOURCE REVEAL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7"/>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127</a:t>
            </a:r>
          </a:p>
        </p:txBody>
      </p:sp>
      <p:sp>
        <p:nvSpPr>
          <p:cNvPr id="12" name="Reveal label"/>
          <p:cNvSpPr txBox="1"/>
          <p:nvPr/>
        </p:nvSpPr>
        <p:spPr>
          <a:xfrm>
            <a:off x="8489960"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9622906" y="1498600"/>
            <a:ext cx="2010294" cy="304800"/>
          </a:xfrm>
          <a:prstGeom prst="roundRect">
            <a:avLst>
              <a:gd name="adj" fmla="val 50000"/>
            </a:avLst>
          </a:prstGeom>
          <a:solidFill>
            <a:srgbClr val="FDE2DF"/>
          </a:solidFill>
          <a:ln w="9525">
            <a:solidFill>
              <a:srgbClr val="F3A9A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A11A12"/>
                </a:solidFill>
                <a:latin typeface="Aptos"/>
              </a:rPr>
              <a:t>3: No Benefit/B-R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127</a:t>
            </a:r>
          </a:p>
        </p:txBody>
      </p:sp>
      <p:sp>
        <p:nvSpPr>
          <p:cNvPr id="15" name="Body CASE 127"/>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In adults on statin therapy, routine use of coenzyme Q10 is not recommended to treat or prevent statin-attributed muscle symptoms.</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128</a:t>
            </a:r>
          </a:p>
        </p:txBody>
      </p:sp>
      <p:sp>
        <p:nvSpPr>
          <p:cNvPr id="12"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FCF5E7"/>
                </a:solidFill>
                <a:latin typeface="Aptos Display"/>
              </a:rPr>
              <a:t>128</a:t>
            </a:r>
          </a:p>
        </p:txBody>
      </p:sp>
      <p:sp>
        <p:nvSpPr>
          <p:cNvPr id="14" name="Body CASE 128"/>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One adult taking a statin has no severe hepatotoxicity symptoms; another develops jaundice, fatigue, pruritus, nausea/vomiting, or abdominal pain. When should liver tests be checked, and what transaminase elevation prompts further evaluation?</a:t>
            </a:r>
          </a:p>
        </p:txBody>
      </p:sp>
      <p:sp>
        <p:nvSpPr>
          <p:cNvPr id="15"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1/3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128</a:t>
            </a:r>
          </a:p>
        </p:txBody>
      </p:sp>
      <p:sp>
        <p:nvSpPr>
          <p:cNvPr id="12" name="Reveal label"/>
          <p:cNvSpPr txBox="1"/>
          <p:nvPr/>
        </p:nvSpPr>
        <p:spPr>
          <a:xfrm>
            <a:off x="8319805"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9452751" y="1498600"/>
            <a:ext cx="2180449" cy="304800"/>
          </a:xfrm>
          <a:prstGeom prst="roundRect">
            <a:avLst>
              <a:gd name="adj" fmla="val 50000"/>
            </a:avLst>
          </a:prstGeom>
          <a:solidFill>
            <a:srgbClr val="FDE2DF"/>
          </a:solidFill>
          <a:ln w="9525">
            <a:solidFill>
              <a:srgbClr val="F3A9A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A11A12"/>
                </a:solidFill>
                <a:latin typeface="Aptos"/>
              </a:rPr>
              <a:t>3: No Benefit/B-NR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128</a:t>
            </a:r>
          </a:p>
        </p:txBody>
      </p:sp>
      <p:sp>
        <p:nvSpPr>
          <p:cNvPr id="15" name="Body CASE 128"/>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In adults treated with statin therapy who do not have severe symptoms suggestive of hepatotoxicity (ie, jaundice, pruritus, fatigue, nausea and vomiting, abdominal pain), routine measurement of hepatic function is not useful to assess safety.</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2/3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128</a:t>
            </a:r>
          </a:p>
        </p:txBody>
      </p:sp>
      <p:sp>
        <p:nvSpPr>
          <p:cNvPr id="12" name="Reveal label"/>
          <p:cNvSpPr txBox="1"/>
          <p:nvPr/>
        </p:nvSpPr>
        <p:spPr>
          <a:xfrm>
            <a:off x="8319805"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9452751" y="1498600"/>
            <a:ext cx="2180449" cy="304800"/>
          </a:xfrm>
          <a:prstGeom prst="roundRect">
            <a:avLst>
              <a:gd name="adj" fmla="val 50000"/>
            </a:avLst>
          </a:prstGeom>
          <a:solidFill>
            <a:srgbClr val="FDE2DF"/>
          </a:solidFill>
          <a:ln w="9525">
            <a:solidFill>
              <a:srgbClr val="F3A9A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A11A12"/>
                </a:solidFill>
                <a:latin typeface="Aptos"/>
              </a:rPr>
              <a:t>3: No Benefit/B-NR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128</a:t>
            </a:r>
          </a:p>
        </p:txBody>
      </p:sp>
      <p:sp>
        <p:nvSpPr>
          <p:cNvPr id="15" name="Body CASE 128"/>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Persistent hepatic transaminase elevation &gt;3 times the upper limit of normal is described as a reasonable threshold to investigate further and consider pausing statin therapy.</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600"/>
              </a:lnSpc>
              <a:spcBef>
                <a:spcPts val="0"/>
              </a:spcBef>
              <a:spcAft>
                <a:spcPts val="0"/>
              </a:spcAft>
            </a:pPr>
            <a:r>
              <a:rPr sz="3000" b="1">
                <a:solidFill>
                  <a:srgbClr val="0B1F33"/>
                </a:solidFill>
                <a:latin typeface="Aptos Display"/>
              </a:rPr>
              <a:t>SOURCE REVEAL 3/3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28"/>
          <p:cNvSpPr/>
          <p:nvPr/>
        </p:nvSpPr>
        <p:spPr>
          <a:xfrm>
            <a:off x="406400" y="1346200"/>
            <a:ext cx="11379200" cy="4673600"/>
          </a:xfrm>
          <a:prstGeom prst="roundRect">
            <a:avLst>
              <a:gd name="adj" fmla="val 1630"/>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11306175"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128</a:t>
            </a:r>
          </a:p>
        </p:txBody>
      </p:sp>
      <p:sp>
        <p:nvSpPr>
          <p:cNvPr id="12" name="Reveal label"/>
          <p:cNvSpPr txBox="1"/>
          <p:nvPr/>
        </p:nvSpPr>
        <p:spPr>
          <a:xfrm>
            <a:off x="8319805" y="1498600"/>
            <a:ext cx="1056747" cy="304800"/>
          </a:xfrm>
          <a:prstGeom prst="rect">
            <a:avLst/>
          </a:prstGeom>
          <a:noFill/>
        </p:spPr>
        <p:txBody>
          <a:bodyPr wrap="none" lIns="0" rIns="0" tIns="0" bIns="0" anchor="ctr">
            <a:noAutofit/>
          </a:bodyPr>
          <a:lstStyle/>
          <a:p>
            <a:pPr algn="l">
              <a:lnSpc>
                <a:spcPts val="1920"/>
              </a:lnSpc>
              <a:spcBef>
                <a:spcPts val="0"/>
              </a:spcBef>
              <a:spcAft>
                <a:spcPts val="0"/>
              </a:spcAft>
            </a:pPr>
            <a:r>
              <a:rPr sz="1600" b="1" spc="50">
                <a:solidFill>
                  <a:srgbClr val="0F6B4E"/>
                </a:solidFill>
                <a:latin typeface="Aptos"/>
              </a:rPr>
              <a:t>REVEAL •</a:t>
            </a:r>
          </a:p>
        </p:txBody>
      </p:sp>
      <p:sp>
        <p:nvSpPr>
          <p:cNvPr id="13" name="COR/LOE badge"/>
          <p:cNvSpPr/>
          <p:nvPr/>
        </p:nvSpPr>
        <p:spPr>
          <a:xfrm>
            <a:off x="9452751" y="1498600"/>
            <a:ext cx="2180449" cy="304800"/>
          </a:xfrm>
          <a:prstGeom prst="roundRect">
            <a:avLst>
              <a:gd name="adj" fmla="val 50000"/>
            </a:avLst>
          </a:prstGeom>
          <a:solidFill>
            <a:srgbClr val="FDE2DF"/>
          </a:solidFill>
          <a:ln w="9525">
            <a:solidFill>
              <a:srgbClr val="F3A9A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A11A12"/>
                </a:solidFill>
                <a:latin typeface="Aptos"/>
              </a:rPr>
              <a:t>3: No Benefit/B-NR</a:t>
            </a:r>
          </a:p>
        </p:txBody>
      </p:sp>
      <p:sp>
        <p:nvSpPr>
          <p:cNvPr id="14" name="Case watermark"/>
          <p:cNvSpPr txBox="1"/>
          <p:nvPr/>
        </p:nvSpPr>
        <p:spPr>
          <a:xfrm>
            <a:off x="8610600" y="4114800"/>
            <a:ext cx="2997200" cy="1778000"/>
          </a:xfrm>
          <a:prstGeom prst="rect">
            <a:avLst/>
          </a:prstGeom>
          <a:noFill/>
        </p:spPr>
        <p:txBody>
          <a:bodyPr wrap="none" lIns="0" rIns="0" tIns="0" bIns="0" anchor="b">
            <a:noAutofit/>
          </a:bodyPr>
          <a:lstStyle/>
          <a:p>
            <a:pPr algn="r">
              <a:lnSpc>
                <a:spcPts val="12000"/>
              </a:lnSpc>
              <a:spcBef>
                <a:spcPts val="0"/>
              </a:spcBef>
              <a:spcAft>
                <a:spcPts val="0"/>
              </a:spcAft>
            </a:pPr>
            <a:r>
              <a:rPr sz="12000" b="1">
                <a:solidFill>
                  <a:srgbClr val="E8F5F1"/>
                </a:solidFill>
                <a:latin typeface="Aptos Display"/>
              </a:rPr>
              <a:t>128</a:t>
            </a:r>
          </a:p>
        </p:txBody>
      </p:sp>
      <p:sp>
        <p:nvSpPr>
          <p:cNvPr id="15" name="Body CASE 128"/>
          <p:cNvSpPr txBox="1"/>
          <p:nvPr/>
        </p:nvSpPr>
        <p:spPr>
          <a:xfrm>
            <a:off x="622300" y="2108200"/>
            <a:ext cx="8343900" cy="3759200"/>
          </a:xfrm>
          <a:prstGeom prst="rect">
            <a:avLst/>
          </a:prstGeom>
          <a:noFill/>
        </p:spPr>
        <p:txBody>
          <a:bodyPr wrap="square" lIns="0" rIns="0" tIns="0" bIns="0" anchor="t">
            <a:noAutofit/>
          </a:bodyPr>
          <a:lstStyle/>
          <a:p>
            <a:pPr algn="l">
              <a:lnSpc>
                <a:spcPts val="4000"/>
              </a:lnSpc>
              <a:spcBef>
                <a:spcPts val="0"/>
              </a:spcBef>
              <a:spcAft>
                <a:spcPts val="0"/>
              </a:spcAft>
            </a:pPr>
            <a:r>
              <a:rPr sz="3200" b="0">
                <a:solidFill>
                  <a:srgbClr val="17212B"/>
                </a:solidFill>
                <a:latin typeface="Aptos"/>
              </a:rPr>
              <a:t>Measure hepatic transaminases, total bilirubin, and alkaline phosphatase in statin-treated patients with symptoms suggestive of hepatotoxicity such as jaundice, fatigue, pruritus, nausea/vomiting, or abdominal pain.</a:t>
            </a:r>
          </a:p>
        </p:txBody>
      </p:sp>
      <p:sp>
        <p:nvSpPr>
          <p:cNvPr id="1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8A5300"/>
                </a:solidFill>
                <a:latin typeface="Aptos"/>
              </a:rPr>
              <a:t>CASE / DECIDE</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4560"/>
              </a:lnSpc>
              <a:spcBef>
                <a:spcPts val="0"/>
              </a:spcBef>
              <a:spcAft>
                <a:spcPts val="0"/>
              </a:spcAft>
            </a:pPr>
            <a:r>
              <a:rPr sz="3800" b="1">
                <a:solidFill>
                  <a:srgbClr val="0B1F33"/>
                </a:solidFill>
                <a:latin typeface="Aptos Display"/>
              </a:rPr>
              <a:t>DECIDE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58"/>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158</a:t>
            </a:r>
          </a:p>
        </p:txBody>
      </p:sp>
      <p:sp>
        <p:nvSpPr>
          <p:cNvPr id="12" name="Phase badge"/>
          <p:cNvSpPr/>
          <p:nvPr/>
        </p:nvSpPr>
        <p:spPr>
          <a:xfrm>
            <a:off x="2864831"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3" name="Body CASE 158"/>
          <p:cNvSpPr txBox="1"/>
          <p:nvPr/>
        </p:nvSpPr>
        <p:spPr>
          <a:xfrm>
            <a:off x="622300"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 patient reports muscle symptoms while taking a statin. Which factors increase the likelihood of statin-attributed muscle symptoms?</a:t>
            </a:r>
          </a:p>
        </p:txBody>
      </p:sp>
      <p:sp>
        <p:nvSpPr>
          <p:cNvPr id="14" name="Card CASE 172"/>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172</a:t>
            </a:r>
          </a:p>
        </p:txBody>
      </p:sp>
      <p:sp>
        <p:nvSpPr>
          <p:cNvPr id="18" name="Phase badge"/>
          <p:cNvSpPr/>
          <p:nvPr/>
        </p:nvSpPr>
        <p:spPr>
          <a:xfrm>
            <a:off x="6717164"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19" name="Body CASE 172"/>
          <p:cNvSpPr txBox="1"/>
          <p:nvPr/>
        </p:nvSpPr>
        <p:spPr>
          <a:xfrm>
            <a:off x="4474633"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An adult has statin-associated rhabdomyolysis, and reversible causes are being managed. What decisions about statin continuation and rechallenge are supported?</a:t>
            </a:r>
          </a:p>
        </p:txBody>
      </p:sp>
      <p:sp>
        <p:nvSpPr>
          <p:cNvPr id="20" name="Card CASE 173"/>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FF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E39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173</a:t>
            </a:r>
          </a:p>
        </p:txBody>
      </p:sp>
      <p:sp>
        <p:nvSpPr>
          <p:cNvPr id="24" name="Phase badge"/>
          <p:cNvSpPr/>
          <p:nvPr/>
        </p:nvSpPr>
        <p:spPr>
          <a:xfrm>
            <a:off x="10569498" y="1498600"/>
            <a:ext cx="1063702" cy="304800"/>
          </a:xfrm>
          <a:prstGeom prst="roundRect">
            <a:avLst>
              <a:gd name="adj" fmla="val 50000"/>
            </a:avLst>
          </a:prstGeom>
          <a:solidFill>
            <a:srgbClr val="FFF5E6"/>
          </a:solidFill>
          <a:ln w="9525">
            <a:solidFill>
              <a:srgbClr val="F3C77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8A5300"/>
                </a:solidFill>
                <a:latin typeface="Aptos"/>
              </a:rPr>
              <a:t>DECIDE</a:t>
            </a:r>
          </a:p>
        </p:txBody>
      </p:sp>
      <p:sp>
        <p:nvSpPr>
          <p:cNvPr id="25" name="Body CASE 173"/>
          <p:cNvSpPr txBox="1"/>
          <p:nvPr/>
        </p:nvSpPr>
        <p:spPr>
          <a:xfrm>
            <a:off x="8326967" y="2108200"/>
            <a:ext cx="3306233" cy="3759200"/>
          </a:xfrm>
          <a:prstGeom prst="rect">
            <a:avLst/>
          </a:prstGeom>
          <a:noFill/>
        </p:spPr>
        <p:txBody>
          <a:bodyPr wrap="square" lIns="0" rIns="0" tIns="0" bIns="0" anchor="t">
            <a:noAutofit/>
          </a:bodyPr>
          <a:lstStyle/>
          <a:p>
            <a:pPr algn="l">
              <a:lnSpc>
                <a:spcPts val="3000"/>
              </a:lnSpc>
              <a:spcBef>
                <a:spcPts val="0"/>
              </a:spcBef>
              <a:spcAft>
                <a:spcPts val="0"/>
              </a:spcAft>
            </a:pPr>
            <a:r>
              <a:rPr sz="2400" b="0">
                <a:solidFill>
                  <a:srgbClr val="17212B"/>
                </a:solidFill>
                <a:latin typeface="Aptos"/>
              </a:rPr>
              <a:t>A patient is suspected of statin-associated autoimmune myopathy. What management actions apply?</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5F7FA"/>
        </a:solidFill>
        <a:effectLst/>
      </p:bgPr>
    </p:bg>
    <p:spTree>
      <p:nvGrpSpPr>
        <p:cNvPr id="1" name=""/>
        <p:cNvGrpSpPr/>
        <p:nvPr/>
      </p:nvGrpSpPr>
      <p:grpSpPr>
        <a:xfrm>
          <a:off x="0" y="0"/>
          <a:ext cx="0" cy="0"/>
          <a:chOff x="0" y="0"/>
          <a:chExt cx="0" cy="0"/>
        </a:xfrm>
      </p:grpSpPr>
      <p:sp>
        <p:nvSpPr>
          <p:cNvPr id="2" name="Phase bar"/>
          <p:cNvSpPr/>
          <p:nvPr/>
        </p:nvSpPr>
        <p:spPr>
          <a:xfrm>
            <a:off x="0" y="114300"/>
            <a:ext cx="12192000" cy="381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hase icon"/>
          <p:cNvSpPr/>
          <p:nvPr/>
        </p:nvSpPr>
        <p:spPr>
          <a:xfrm>
            <a:off x="406400" y="254000"/>
            <a:ext cx="254000" cy="254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560"/>
              </a:lnSpc>
              <a:spcBef>
                <a:spcPts val="0"/>
              </a:spcBef>
              <a:spcAft>
                <a:spcPts val="0"/>
              </a:spcAft>
            </a:pPr>
            <a:r>
              <a:rPr sz="1300" b="1">
                <a:solidFill>
                  <a:srgbClr val="FFFFFF"/>
                </a:solidFill>
                <a:latin typeface="Aptos"/>
              </a:rPr>
              <a:t>✓</a:t>
            </a:r>
          </a:p>
        </p:txBody>
      </p:sp>
      <p:sp>
        <p:nvSpPr>
          <p:cNvPr id="4" name="Eyebrow"/>
          <p:cNvSpPr txBox="1"/>
          <p:nvPr/>
        </p:nvSpPr>
        <p:spPr>
          <a:xfrm>
            <a:off x="762000" y="2540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0F6B4E"/>
                </a:solidFill>
                <a:latin typeface="Aptos"/>
              </a:rPr>
              <a:t>GUIDELINE / SOURCE REVEAL</a:t>
            </a:r>
          </a:p>
        </p:txBody>
      </p:sp>
      <p:sp>
        <p:nvSpPr>
          <p:cNvPr id="5" name="Title"/>
          <p:cNvSpPr txBox="1"/>
          <p:nvPr/>
        </p:nvSpPr>
        <p:spPr>
          <a:xfrm>
            <a:off x="406400" y="520700"/>
            <a:ext cx="11379200" cy="635000"/>
          </a:xfrm>
          <a:prstGeom prst="rect">
            <a:avLst/>
          </a:prstGeom>
          <a:noFill/>
        </p:spPr>
        <p:txBody>
          <a:bodyPr wrap="none" lIns="0" rIns="0" tIns="0" bIns="0" anchor="ctr">
            <a:noAutofit/>
          </a:bodyPr>
          <a:lstStyle/>
          <a:p>
            <a:pPr algn="l">
              <a:lnSpc>
                <a:spcPts val="3840"/>
              </a:lnSpc>
              <a:spcBef>
                <a:spcPts val="0"/>
              </a:spcBef>
              <a:spcAft>
                <a:spcPts val="0"/>
              </a:spcAft>
            </a:pPr>
            <a:r>
              <a:rPr sz="3200" b="1">
                <a:solidFill>
                  <a:srgbClr val="0B1F33"/>
                </a:solidFill>
                <a:latin typeface="Aptos Display"/>
              </a:rPr>
              <a:t>SOURCE REVEAL — SAMS, Safety &amp; Drug Interactions</a:t>
            </a:r>
          </a:p>
        </p:txBody>
      </p:sp>
      <p:sp>
        <p:nvSpPr>
          <p:cNvPr id="6" name="Progress track"/>
          <p:cNvSpPr/>
          <p:nvPr/>
        </p:nvSpPr>
        <p:spPr>
          <a:xfrm>
            <a:off x="406400" y="1181100"/>
            <a:ext cx="11379200" cy="50800"/>
          </a:xfrm>
          <a:prstGeom prst="roundRect">
            <a:avLst>
              <a:gd name="adj" fmla="val 50000"/>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 fill"/>
          <p:cNvSpPr/>
          <p:nvPr/>
        </p:nvSpPr>
        <p:spPr>
          <a:xfrm>
            <a:off x="406400" y="1181100"/>
            <a:ext cx="11379200" cy="508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CASE 158"/>
          <p:cNvSpPr/>
          <p:nvPr/>
        </p:nvSpPr>
        <p:spPr>
          <a:xfrm>
            <a:off x="406400"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header tint"/>
          <p:cNvSpPr/>
          <p:nvPr/>
        </p:nvSpPr>
        <p:spPr>
          <a:xfrm>
            <a:off x="469900"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hase stripe"/>
          <p:cNvSpPr/>
          <p:nvPr/>
        </p:nvSpPr>
        <p:spPr>
          <a:xfrm>
            <a:off x="406400"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id"/>
          <p:cNvSpPr/>
          <p:nvPr/>
        </p:nvSpPr>
        <p:spPr>
          <a:xfrm>
            <a:off x="622300"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158</a:t>
            </a:r>
          </a:p>
        </p:txBody>
      </p:sp>
      <p:sp>
        <p:nvSpPr>
          <p:cNvPr id="12" name="Phase badge"/>
          <p:cNvSpPr/>
          <p:nvPr/>
        </p:nvSpPr>
        <p:spPr>
          <a:xfrm>
            <a:off x="2852486"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3" name="Body CASE 158"/>
          <p:cNvSpPr txBox="1"/>
          <p:nvPr/>
        </p:nvSpPr>
        <p:spPr>
          <a:xfrm>
            <a:off x="622300"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Assess source-listed factors associated with increased risk of statin-attributed muscle symptoms.</a:t>
            </a:r>
          </a:p>
        </p:txBody>
      </p:sp>
      <p:sp>
        <p:nvSpPr>
          <p:cNvPr id="14" name="Card CASE 172"/>
          <p:cNvSpPr/>
          <p:nvPr/>
        </p:nvSpPr>
        <p:spPr>
          <a:xfrm>
            <a:off x="4258733"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header tint"/>
          <p:cNvSpPr/>
          <p:nvPr/>
        </p:nvSpPr>
        <p:spPr>
          <a:xfrm>
            <a:off x="4322233"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hase stripe"/>
          <p:cNvSpPr/>
          <p:nvPr/>
        </p:nvSpPr>
        <p:spPr>
          <a:xfrm>
            <a:off x="4258733"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se id"/>
          <p:cNvSpPr/>
          <p:nvPr/>
        </p:nvSpPr>
        <p:spPr>
          <a:xfrm>
            <a:off x="4474633"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172</a:t>
            </a:r>
          </a:p>
        </p:txBody>
      </p:sp>
      <p:sp>
        <p:nvSpPr>
          <p:cNvPr id="18" name="Phase badge"/>
          <p:cNvSpPr/>
          <p:nvPr/>
        </p:nvSpPr>
        <p:spPr>
          <a:xfrm>
            <a:off x="6704819"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19" name="Body CASE 172"/>
          <p:cNvSpPr txBox="1"/>
          <p:nvPr/>
        </p:nvSpPr>
        <p:spPr>
          <a:xfrm>
            <a:off x="4474633"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Patients with statin-associated rhabdomyolysis may need indefinite statin discontinuation after reversible causes are managed; rechallenge should be approached cautiously.</a:t>
            </a:r>
          </a:p>
        </p:txBody>
      </p:sp>
      <p:sp>
        <p:nvSpPr>
          <p:cNvPr id="20" name="Card CASE 173"/>
          <p:cNvSpPr/>
          <p:nvPr/>
        </p:nvSpPr>
        <p:spPr>
          <a:xfrm>
            <a:off x="8111067" y="1346200"/>
            <a:ext cx="3674533" cy="4673600"/>
          </a:xfrm>
          <a:prstGeom prst="roundRect">
            <a:avLst>
              <a:gd name="adj" fmla="val 2073"/>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header tint"/>
          <p:cNvSpPr/>
          <p:nvPr/>
        </p:nvSpPr>
        <p:spPr>
          <a:xfrm>
            <a:off x="8174567" y="1355725"/>
            <a:ext cx="3601508" cy="600075"/>
          </a:xfrm>
          <a:prstGeom prst="rect">
            <a:avLst/>
          </a:prstGeom>
          <a:solidFill>
            <a:srgbClr val="F2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hase stripe"/>
          <p:cNvSpPr/>
          <p:nvPr/>
        </p:nvSpPr>
        <p:spPr>
          <a:xfrm>
            <a:off x="8111067" y="1346200"/>
            <a:ext cx="63500" cy="4673600"/>
          </a:xfrm>
          <a:prstGeom prst="rect">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se id"/>
          <p:cNvSpPr/>
          <p:nvPr/>
        </p:nvSpPr>
        <p:spPr>
          <a:xfrm>
            <a:off x="8326967" y="1498600"/>
            <a:ext cx="1203205" cy="304800"/>
          </a:xfrm>
          <a:prstGeom prst="roundRect">
            <a:avLst>
              <a:gd name="adj" fmla="val 16666"/>
            </a:avLst>
          </a:prstGeom>
          <a:solidFill>
            <a:srgbClr val="FFFFFF"/>
          </a:solidFill>
          <a:ln w="9525">
            <a:solidFill>
              <a:srgbClr val="B9CF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50">
                <a:solidFill>
                  <a:srgbClr val="175CD3"/>
                </a:solidFill>
                <a:latin typeface="Aptos"/>
              </a:rPr>
              <a:t>CASE 173</a:t>
            </a:r>
          </a:p>
        </p:txBody>
      </p:sp>
      <p:sp>
        <p:nvSpPr>
          <p:cNvPr id="24" name="Phase badge"/>
          <p:cNvSpPr/>
          <p:nvPr/>
        </p:nvSpPr>
        <p:spPr>
          <a:xfrm>
            <a:off x="10557152" y="1498600"/>
            <a:ext cx="1076048" cy="304800"/>
          </a:xfrm>
          <a:prstGeom prst="roundRect">
            <a:avLst>
              <a:gd name="adj" fmla="val 50000"/>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spc="100">
                <a:solidFill>
                  <a:srgbClr val="0F6B4E"/>
                </a:solidFill>
                <a:latin typeface="Aptos"/>
              </a:rPr>
              <a:t>REVEAL</a:t>
            </a:r>
          </a:p>
        </p:txBody>
      </p:sp>
      <p:sp>
        <p:nvSpPr>
          <p:cNvPr id="25" name="Body CASE 173"/>
          <p:cNvSpPr txBox="1"/>
          <p:nvPr/>
        </p:nvSpPr>
        <p:spPr>
          <a:xfrm>
            <a:off x="8326967" y="2108200"/>
            <a:ext cx="3306233" cy="3759200"/>
          </a:xfrm>
          <a:prstGeom prst="rect">
            <a:avLst/>
          </a:prstGeom>
          <a:noFill/>
        </p:spPr>
        <p:txBody>
          <a:bodyPr wrap="square" lIns="0" rIns="0" tIns="0" bIns="0" anchor="t">
            <a:noAutofit/>
          </a:bodyPr>
          <a:lstStyle/>
          <a:p>
            <a:pPr algn="l">
              <a:lnSpc>
                <a:spcPts val="2875"/>
              </a:lnSpc>
              <a:spcBef>
                <a:spcPts val="0"/>
              </a:spcBef>
              <a:spcAft>
                <a:spcPts val="0"/>
              </a:spcAft>
            </a:pPr>
            <a:r>
              <a:rPr sz="2300" b="0">
                <a:solidFill>
                  <a:srgbClr val="17212B"/>
                </a:solidFill>
                <a:latin typeface="Aptos"/>
              </a:rPr>
              <a:t>Statin-associated autoimmune myopathy requires statin cessation, avoidance of potential myotoxic pharmacotherapy, and may require additional therapy directed at the autoimmune process.</a:t>
            </a:r>
          </a:p>
        </p:txBody>
      </p:sp>
      <p:sp>
        <p:nvSpPr>
          <p:cNvPr id="26" name="Source line"/>
          <p:cNvSpPr txBox="1"/>
          <p:nvPr/>
        </p:nvSpPr>
        <p:spPr>
          <a:xfrm>
            <a:off x="406400" y="6096000"/>
            <a:ext cx="11379200" cy="279400"/>
          </a:xfrm>
          <a:prstGeom prst="rect">
            <a:avLst/>
          </a:prstGeom>
          <a:noFill/>
        </p:spPr>
        <p:txBody>
          <a:bodyPr wrap="none" lIns="0" rIns="0" tIns="0" bIns="0" anchor="ctr">
            <a:noAutofit/>
          </a:bodyPr>
          <a:lstStyle/>
          <a:p>
            <a:pPr algn="l">
              <a:lnSpc>
                <a:spcPts val="1920"/>
              </a:lnSpc>
              <a:spcBef>
                <a:spcPts val="0"/>
              </a:spcBef>
              <a:spcAft>
                <a:spcPts val="0"/>
              </a:spcAft>
            </a:pPr>
            <a:r>
              <a:rPr sz="1600" b="0">
                <a:solidFill>
                  <a:srgbClr val="536273"/>
                </a:solidFill>
                <a:latin typeface="Aptos"/>
              </a:rPr>
              <a:t>SOURCE A: 2026 ACC/AHA Multisociety Dyslipidemia Guideline</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5F7FA"/>
        </a:solidFill>
        <a:effectLst/>
      </p:bgPr>
    </p:bg>
    <p:spTree>
      <p:nvGrpSpPr>
        <p:cNvPr id="1" name=""/>
        <p:cNvGrpSpPr/>
        <p:nvPr/>
      </p:nvGrpSpPr>
      <p:grpSpPr>
        <a:xfrm>
          <a:off x="0" y="0"/>
          <a:ext cx="0" cy="0"/>
          <a:chOff x="0" y="0"/>
          <a:chExt cx="0" cy="0"/>
        </a:xfrm>
      </p:grpSpPr>
      <p:sp>
        <p:nvSpPr>
          <p:cNvPr id="2" name="Eyebrow"/>
          <p:cNvSpPr txBox="1"/>
          <p:nvPr/>
        </p:nvSpPr>
        <p:spPr>
          <a:xfrm>
            <a:off x="406400" y="279400"/>
            <a:ext cx="7620000" cy="254000"/>
          </a:xfrm>
          <a:prstGeom prst="rect">
            <a:avLst/>
          </a:prstGeom>
          <a:noFill/>
        </p:spPr>
        <p:txBody>
          <a:bodyPr wrap="none" lIns="0" rIns="0" tIns="0" bIns="0" anchor="ctr">
            <a:noAutofit/>
          </a:bodyPr>
          <a:lstStyle/>
          <a:p>
            <a:pPr algn="l">
              <a:lnSpc>
                <a:spcPts val="1920"/>
              </a:lnSpc>
              <a:spcBef>
                <a:spcPts val="0"/>
              </a:spcBef>
              <a:spcAft>
                <a:spcPts val="0"/>
              </a:spcAft>
            </a:pPr>
            <a:r>
              <a:rPr sz="1600" b="1" spc="150">
                <a:solidFill>
                  <a:srgbClr val="175CD3"/>
                </a:solidFill>
                <a:latin typeface="Aptos"/>
              </a:rPr>
              <a:t>CLOSURE</a:t>
            </a:r>
          </a:p>
        </p:txBody>
      </p:sp>
      <p:sp>
        <p:nvSpPr>
          <p:cNvPr id="3" name="Title"/>
          <p:cNvSpPr txBox="1"/>
          <p:nvPr/>
        </p:nvSpPr>
        <p:spPr>
          <a:xfrm>
            <a:off x="406400" y="609600"/>
            <a:ext cx="11379200" cy="584200"/>
          </a:xfrm>
          <a:prstGeom prst="rect">
            <a:avLst/>
          </a:prstGeom>
          <a:noFill/>
        </p:spPr>
        <p:txBody>
          <a:bodyPr wrap="none" lIns="0" rIns="0" tIns="0" bIns="0" anchor="ctr">
            <a:noAutofit/>
          </a:bodyPr>
          <a:lstStyle/>
          <a:p>
            <a:pPr algn="l">
              <a:lnSpc>
                <a:spcPts val="4320"/>
              </a:lnSpc>
              <a:spcBef>
                <a:spcPts val="0"/>
              </a:spcBef>
              <a:spcAft>
                <a:spcPts val="0"/>
              </a:spcAft>
            </a:pPr>
            <a:r>
              <a:rPr sz="3600" b="1">
                <a:solidFill>
                  <a:srgbClr val="0B1F33"/>
                </a:solidFill>
                <a:latin typeface="Aptos Display"/>
              </a:rPr>
              <a:t>Practice checklist &amp; evidence boundary</a:t>
            </a:r>
          </a:p>
        </p:txBody>
      </p:sp>
      <p:sp>
        <p:nvSpPr>
          <p:cNvPr id="4" name="Row card"/>
          <p:cNvSpPr/>
          <p:nvPr/>
        </p:nvSpPr>
        <p:spPr>
          <a:xfrm>
            <a:off x="406400" y="1371600"/>
            <a:ext cx="11379200" cy="687832"/>
          </a:xfrm>
          <a:prstGeom prst="roundRect">
            <a:avLst>
              <a:gd name="adj" fmla="val 11078"/>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heck"/>
          <p:cNvSpPr/>
          <p:nvPr/>
        </p:nvSpPr>
        <p:spPr>
          <a:xfrm>
            <a:off x="635000" y="1525016"/>
            <a:ext cx="381000" cy="381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FFFFFF"/>
                </a:solidFill>
                <a:latin typeface="Aptos"/>
              </a:rPr>
              <a:t>✓</a:t>
            </a:r>
          </a:p>
        </p:txBody>
      </p:sp>
      <p:sp>
        <p:nvSpPr>
          <p:cNvPr id="6" name="Row text"/>
          <p:cNvSpPr txBox="1"/>
          <p:nvPr/>
        </p:nvSpPr>
        <p:spPr>
          <a:xfrm>
            <a:off x="1193800" y="1371600"/>
            <a:ext cx="10414000" cy="687832"/>
          </a:xfrm>
          <a:prstGeom prst="rect">
            <a:avLst/>
          </a:prstGeom>
          <a:noFill/>
        </p:spPr>
        <p:txBody>
          <a:bodyPr wrap="square" lIns="0" rIns="0" tIns="0" bIns="0" anchor="ctr">
            <a:noAutofit/>
          </a:bodyPr>
          <a:lstStyle/>
          <a:p>
            <a:pPr algn="l">
              <a:lnSpc>
                <a:spcPts val="2300"/>
              </a:lnSpc>
              <a:spcBef>
                <a:spcPts val="0"/>
              </a:spcBef>
              <a:spcAft>
                <a:spcPts val="0"/>
              </a:spcAft>
            </a:pPr>
            <a:r>
              <a:rPr sz="2000" b="0">
                <a:solidFill>
                  <a:srgbClr val="17212B"/>
                </a:solidFill>
                <a:latin typeface="Aptos"/>
              </a:rPr>
              <a:t>Use the guideline’s source-defined populations, thresholds, timing, and treatment goals.</a:t>
            </a:r>
          </a:p>
        </p:txBody>
      </p:sp>
      <p:sp>
        <p:nvSpPr>
          <p:cNvPr id="7" name="Row card"/>
          <p:cNvSpPr/>
          <p:nvPr/>
        </p:nvSpPr>
        <p:spPr>
          <a:xfrm>
            <a:off x="406400" y="2186432"/>
            <a:ext cx="11379200" cy="687832"/>
          </a:xfrm>
          <a:prstGeom prst="roundRect">
            <a:avLst>
              <a:gd name="adj" fmla="val 11078"/>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ck"/>
          <p:cNvSpPr/>
          <p:nvPr/>
        </p:nvSpPr>
        <p:spPr>
          <a:xfrm>
            <a:off x="635000" y="2339848"/>
            <a:ext cx="381000" cy="381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FFFFFF"/>
                </a:solidFill>
                <a:latin typeface="Aptos"/>
              </a:rPr>
              <a:t>✓</a:t>
            </a:r>
          </a:p>
        </p:txBody>
      </p:sp>
      <p:sp>
        <p:nvSpPr>
          <p:cNvPr id="9" name="Row text"/>
          <p:cNvSpPr txBox="1"/>
          <p:nvPr/>
        </p:nvSpPr>
        <p:spPr>
          <a:xfrm>
            <a:off x="1193800" y="2186432"/>
            <a:ext cx="10414000" cy="687832"/>
          </a:xfrm>
          <a:prstGeom prst="rect">
            <a:avLst/>
          </a:prstGeom>
          <a:noFill/>
        </p:spPr>
        <p:txBody>
          <a:bodyPr wrap="square" lIns="0" rIns="0" tIns="0" bIns="0" anchor="ctr">
            <a:noAutofit/>
          </a:bodyPr>
          <a:lstStyle/>
          <a:p>
            <a:pPr algn="l">
              <a:lnSpc>
                <a:spcPts val="2300"/>
              </a:lnSpc>
              <a:spcBef>
                <a:spcPts val="0"/>
              </a:spcBef>
              <a:spcAft>
                <a:spcPts val="0"/>
              </a:spcAft>
            </a:pPr>
            <a:r>
              <a:rPr sz="2000" b="0">
                <a:solidFill>
                  <a:srgbClr val="17212B"/>
                </a:solidFill>
                <a:latin typeface="Aptos"/>
              </a:rPr>
              <a:t>Preserve COR/LOE and recommendation strength where present.</a:t>
            </a:r>
          </a:p>
        </p:txBody>
      </p:sp>
      <p:sp>
        <p:nvSpPr>
          <p:cNvPr id="10" name="Row card"/>
          <p:cNvSpPr/>
          <p:nvPr/>
        </p:nvSpPr>
        <p:spPr>
          <a:xfrm>
            <a:off x="406400" y="3001264"/>
            <a:ext cx="11379200" cy="687832"/>
          </a:xfrm>
          <a:prstGeom prst="roundRect">
            <a:avLst>
              <a:gd name="adj" fmla="val 11078"/>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ck"/>
          <p:cNvSpPr/>
          <p:nvPr/>
        </p:nvSpPr>
        <p:spPr>
          <a:xfrm>
            <a:off x="635000" y="3154680"/>
            <a:ext cx="381000" cy="381000"/>
          </a:xfrm>
          <a:prstGeom prst="roundRect">
            <a:avLst>
              <a:gd name="adj" fmla="val 50000"/>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FFFFFF"/>
                </a:solidFill>
                <a:latin typeface="Aptos"/>
              </a:rPr>
              <a:t>✓</a:t>
            </a:r>
          </a:p>
        </p:txBody>
      </p:sp>
      <p:sp>
        <p:nvSpPr>
          <p:cNvPr id="12" name="Row text"/>
          <p:cNvSpPr txBox="1"/>
          <p:nvPr/>
        </p:nvSpPr>
        <p:spPr>
          <a:xfrm>
            <a:off x="1193800" y="3001264"/>
            <a:ext cx="10414000" cy="687832"/>
          </a:xfrm>
          <a:prstGeom prst="rect">
            <a:avLst/>
          </a:prstGeom>
          <a:noFill/>
        </p:spPr>
        <p:txBody>
          <a:bodyPr wrap="square" lIns="0" rIns="0" tIns="0" bIns="0" anchor="ctr">
            <a:noAutofit/>
          </a:bodyPr>
          <a:lstStyle/>
          <a:p>
            <a:pPr algn="l">
              <a:lnSpc>
                <a:spcPts val="2300"/>
              </a:lnSpc>
              <a:spcBef>
                <a:spcPts val="0"/>
              </a:spcBef>
              <a:spcAft>
                <a:spcPts val="0"/>
              </a:spcAft>
            </a:pPr>
            <a:r>
              <a:rPr sz="2000" b="0">
                <a:solidFill>
                  <a:srgbClr val="17212B"/>
                </a:solidFill>
                <a:latin typeface="Aptos"/>
              </a:rPr>
              <a:t>Apply SOURCE_B only to its four explicit Table 5 bile-acid-sequestrant corrections.</a:t>
            </a:r>
          </a:p>
        </p:txBody>
      </p:sp>
      <p:sp>
        <p:nvSpPr>
          <p:cNvPr id="13" name="Row card"/>
          <p:cNvSpPr/>
          <p:nvPr/>
        </p:nvSpPr>
        <p:spPr>
          <a:xfrm>
            <a:off x="406400" y="3816096"/>
            <a:ext cx="11379200" cy="687832"/>
          </a:xfrm>
          <a:prstGeom prst="roundRect">
            <a:avLst>
              <a:gd name="adj" fmla="val 11078"/>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heck"/>
          <p:cNvSpPr/>
          <p:nvPr/>
        </p:nvSpPr>
        <p:spPr>
          <a:xfrm>
            <a:off x="635000" y="3969512"/>
            <a:ext cx="381000" cy="381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FFFFFF"/>
                </a:solidFill>
                <a:latin typeface="Aptos"/>
              </a:rPr>
              <a:t>✓</a:t>
            </a:r>
          </a:p>
        </p:txBody>
      </p:sp>
      <p:sp>
        <p:nvSpPr>
          <p:cNvPr id="15" name="Row text"/>
          <p:cNvSpPr txBox="1"/>
          <p:nvPr/>
        </p:nvSpPr>
        <p:spPr>
          <a:xfrm>
            <a:off x="1193800" y="3816096"/>
            <a:ext cx="10414000" cy="687832"/>
          </a:xfrm>
          <a:prstGeom prst="rect">
            <a:avLst/>
          </a:prstGeom>
          <a:noFill/>
        </p:spPr>
        <p:txBody>
          <a:bodyPr wrap="square" lIns="0" rIns="0" tIns="0" bIns="0" anchor="ctr">
            <a:noAutofit/>
          </a:bodyPr>
          <a:lstStyle/>
          <a:p>
            <a:pPr algn="l">
              <a:lnSpc>
                <a:spcPts val="2300"/>
              </a:lnSpc>
              <a:spcBef>
                <a:spcPts val="0"/>
              </a:spcBef>
              <a:spcAft>
                <a:spcPts val="0"/>
              </a:spcAft>
            </a:pPr>
            <a:r>
              <a:rPr sz="2000" b="0">
                <a:solidFill>
                  <a:srgbClr val="17212B"/>
                </a:solidFill>
                <a:latin typeface="Aptos"/>
              </a:rPr>
              <a:t>Do not treat local workflow, visual design, or outside knowledge as guideline evidence.</a:t>
            </a:r>
          </a:p>
        </p:txBody>
      </p:sp>
      <p:sp>
        <p:nvSpPr>
          <p:cNvPr id="16" name="Row card"/>
          <p:cNvSpPr/>
          <p:nvPr/>
        </p:nvSpPr>
        <p:spPr>
          <a:xfrm>
            <a:off x="406400" y="4630928"/>
            <a:ext cx="11379200" cy="687832"/>
          </a:xfrm>
          <a:prstGeom prst="roundRect">
            <a:avLst>
              <a:gd name="adj" fmla="val 11078"/>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eck"/>
          <p:cNvSpPr/>
          <p:nvPr/>
        </p:nvSpPr>
        <p:spPr>
          <a:xfrm>
            <a:off x="635000" y="4784344"/>
            <a:ext cx="381000" cy="381000"/>
          </a:xfrm>
          <a:prstGeom prst="roundRect">
            <a:avLst>
              <a:gd name="adj" fmla="val 50000"/>
            </a:avLst>
          </a:prstGeom>
          <a:solidFill>
            <a:srgbClr val="1E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ts val="1920"/>
              </a:lnSpc>
              <a:spcBef>
                <a:spcPts val="0"/>
              </a:spcBef>
              <a:spcAft>
                <a:spcPts val="0"/>
              </a:spcAft>
            </a:pPr>
            <a:r>
              <a:rPr sz="1600" b="1">
                <a:solidFill>
                  <a:srgbClr val="FFFFFF"/>
                </a:solidFill>
                <a:latin typeface="Aptos"/>
              </a:rPr>
              <a:t>✓</a:t>
            </a:r>
          </a:p>
        </p:txBody>
      </p:sp>
      <p:sp>
        <p:nvSpPr>
          <p:cNvPr id="18" name="Row text"/>
          <p:cNvSpPr txBox="1"/>
          <p:nvPr/>
        </p:nvSpPr>
        <p:spPr>
          <a:xfrm>
            <a:off x="1193800" y="4630928"/>
            <a:ext cx="10414000" cy="687832"/>
          </a:xfrm>
          <a:prstGeom prst="rect">
            <a:avLst/>
          </a:prstGeom>
          <a:noFill/>
        </p:spPr>
        <p:txBody>
          <a:bodyPr wrap="square" lIns="0" rIns="0" tIns="0" bIns="0" anchor="ctr">
            <a:noAutofit/>
          </a:bodyPr>
          <a:lstStyle/>
          <a:p>
            <a:pPr algn="l">
              <a:lnSpc>
                <a:spcPts val="2300"/>
              </a:lnSpc>
              <a:spcBef>
                <a:spcPts val="0"/>
              </a:spcBef>
              <a:spcAft>
                <a:spcPts val="0"/>
              </a:spcAft>
            </a:pPr>
            <a:r>
              <a:rPr sz="2000" b="0">
                <a:solidFill>
                  <a:srgbClr val="17212B"/>
                </a:solidFill>
                <a:latin typeface="Aptos"/>
              </a:rPr>
              <a:t>Use the frozen Advanced/Reference routes for specialist-depth material not projected here.</a:t>
            </a:r>
          </a:p>
        </p:txBody>
      </p:sp>
      <p:sp>
        <p:nvSpPr>
          <p:cNvPr id="19" name="Note"/>
          <p:cNvSpPr/>
          <p:nvPr/>
        </p:nvSpPr>
        <p:spPr>
          <a:xfrm>
            <a:off x="406400" y="5471160"/>
            <a:ext cx="11379200" cy="751840"/>
          </a:xfrm>
          <a:prstGeom prst="roundRect">
            <a:avLst>
              <a:gd name="adj" fmla="val 10135"/>
            </a:avLst>
          </a:prstGeom>
          <a:solidFill>
            <a:srgbClr val="EAF7F1"/>
          </a:solidFill>
          <a:ln w="9525">
            <a:solidFill>
              <a:srgbClr val="9FD8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0" bIns="0">
            <a:noAutofit/>
          </a:bodyPr>
          <a:lstStyle/>
          <a:p>
            <a:pPr algn="l">
              <a:lnSpc>
                <a:spcPts val="2160"/>
              </a:lnSpc>
              <a:spcBef>
                <a:spcPts val="0"/>
              </a:spcBef>
              <a:spcAft>
                <a:spcPts val="0"/>
              </a:spcAft>
            </a:pPr>
            <a:r>
              <a:rPr sz="1800" b="1">
                <a:solidFill>
                  <a:srgbClr val="0F6B4E"/>
                </a:solidFill>
                <a:latin typeface="Aptos"/>
              </a:rPr>
              <a:t>Master/Core route is a teaching product. The full 173-case corpus remains the clinical knowledge base.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193</Slides>
  <Notes>193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193</vt:i4>
      </vt:variant>
    </vt:vector>
  </HeadingPairs>
  <TitlesOfParts>
    <vt:vector size="1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 ACC/AHA Multisociety Dyslipidemia Guideline — Case-Based Clinical Presentation</dc:title>
  <dc:subject>Evidence-locked case-based clinical presentation</dc:subject>
  <dc:creator>OpenAI</dc:creator>
  <cp:lastModifiedBy>OpenAI</cp:lastModifiedBy>
  <cp:revision>1</cp:revision>
  <dcterms:created xsi:type="dcterms:W3CDTF">2026-09-29T15:29:28Z</dcterms:created>
  <dcterms:modified xsi:type="dcterms:W3CDTF">2026-09-29T15:29:28Z</dcterms:modified>
</cp:coreProperties>
</file>