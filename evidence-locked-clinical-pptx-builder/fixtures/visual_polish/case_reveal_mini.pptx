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FIXTURE NOTES for DECIDE — Fixture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FIXTURE NOTES for SOURCE REVEAL — Fixture Module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FIXTURE NOTES for SOURCE REVEAL — Fixture Single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FIXTURE NOTES for DECIDE — Fixture Overflow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FIXTURE NOTES for DECIDE — Fixture Extra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4825" y="323850"/>
            <a:ext cx="566737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800" b="1">
                <a:solidFill>
                  <a:srgbClr val="17212B"/>
                </a:solidFill>
              </a:rPr>
              <a:t>CASE / DECIDE</a:t>
            </a:r>
          </a:p>
        </p:txBody>
      </p:sp>
      <p:sp>
        <p:nvSpPr>
          <p:cNvPr id="3" name="Rectangle 2"/>
          <p:cNvSpPr/>
          <p:nvPr/>
        </p:nvSpPr>
        <p:spPr>
          <a:xfrm>
            <a:off x="504825" y="657225"/>
            <a:ext cx="10839450" cy="5524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3600" b="1">
                <a:solidFill>
                  <a:srgbClr val="17212B"/>
                </a:solidFill>
              </a:rPr>
              <a:t>DECIDE — Fixture Module</a:t>
            </a:r>
          </a:p>
        </p:txBody>
      </p:sp>
      <p:sp>
        <p:nvSpPr>
          <p:cNvPr id="4" name="Rectangle 3"/>
          <p:cNvSpPr/>
          <p:nvPr/>
        </p:nvSpPr>
        <p:spPr>
          <a:xfrm>
            <a:off x="533400" y="1333500"/>
            <a:ext cx="11106150" cy="66675"/>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333500"/>
            <a:ext cx="1104900" cy="66675"/>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33400" y="1571625"/>
            <a:ext cx="3552825"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3400"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3425"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0100"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001</a:t>
            </a:r>
          </a:p>
        </p:txBody>
      </p:sp>
      <p:sp>
        <p:nvSpPr>
          <p:cNvPr id="10" name="Rectangle 9"/>
          <p:cNvSpPr/>
          <p:nvPr/>
        </p:nvSpPr>
        <p:spPr>
          <a:xfrm>
            <a:off x="2952750"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28950"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DECIDE</a:t>
            </a:r>
          </a:p>
        </p:txBody>
      </p:sp>
      <p:sp>
        <p:nvSpPr>
          <p:cNvPr id="12" name="Rectangle 11"/>
          <p:cNvSpPr/>
          <p:nvPr/>
        </p:nvSpPr>
        <p:spPr>
          <a:xfrm>
            <a:off x="657225" y="2247900"/>
            <a:ext cx="3305175"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scenario one. Which decision applies?</a:t>
            </a:r>
          </a:p>
        </p:txBody>
      </p:sp>
      <p:sp>
        <p:nvSpPr>
          <p:cNvPr id="13" name="Rectangle 12"/>
          <p:cNvSpPr/>
          <p:nvPr/>
        </p:nvSpPr>
        <p:spPr>
          <a:xfrm>
            <a:off x="4305300" y="1571625"/>
            <a:ext cx="3552825"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5300"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05325"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0"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002</a:t>
            </a:r>
          </a:p>
        </p:txBody>
      </p:sp>
      <p:sp>
        <p:nvSpPr>
          <p:cNvPr id="17" name="Rectangle 16"/>
          <p:cNvSpPr/>
          <p:nvPr/>
        </p:nvSpPr>
        <p:spPr>
          <a:xfrm>
            <a:off x="6724650"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00850"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DECIDE</a:t>
            </a:r>
          </a:p>
        </p:txBody>
      </p:sp>
      <p:sp>
        <p:nvSpPr>
          <p:cNvPr id="19" name="Rectangle 18"/>
          <p:cNvSpPr/>
          <p:nvPr/>
        </p:nvSpPr>
        <p:spPr>
          <a:xfrm>
            <a:off x="4429125" y="2247900"/>
            <a:ext cx="3305175"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scenario two with x₂ subscript. Which decision applies?</a:t>
            </a:r>
          </a:p>
        </p:txBody>
      </p:sp>
      <p:sp>
        <p:nvSpPr>
          <p:cNvPr id="20" name="Rectangle 19"/>
          <p:cNvSpPr/>
          <p:nvPr/>
        </p:nvSpPr>
        <p:spPr>
          <a:xfrm>
            <a:off x="8086725" y="1571625"/>
            <a:ext cx="3552825"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86725"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86750"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53425"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003</a:t>
            </a:r>
          </a:p>
        </p:txBody>
      </p:sp>
      <p:sp>
        <p:nvSpPr>
          <p:cNvPr id="24" name="Rectangle 23"/>
          <p:cNvSpPr/>
          <p:nvPr/>
        </p:nvSpPr>
        <p:spPr>
          <a:xfrm>
            <a:off x="10506075"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82275"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DECIDE</a:t>
            </a:r>
          </a:p>
        </p:txBody>
      </p:sp>
      <p:sp>
        <p:nvSpPr>
          <p:cNvPr id="26" name="Rectangle 25"/>
          <p:cNvSpPr/>
          <p:nvPr/>
        </p:nvSpPr>
        <p:spPr>
          <a:xfrm>
            <a:off x="8210550" y="2247900"/>
            <a:ext cx="3305175"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scenario three. Which decision applies?</a:t>
            </a:r>
          </a:p>
        </p:txBody>
      </p:sp>
      <p:sp>
        <p:nvSpPr>
          <p:cNvPr id="27" name="Rectangle 26"/>
          <p:cNvSpPr/>
          <p:nvPr/>
        </p:nvSpPr>
        <p:spPr>
          <a:xfrm>
            <a:off x="533400" y="5915025"/>
            <a:ext cx="1110615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50" b="0">
                <a:solidFill>
                  <a:srgbClr val="17212B"/>
                </a:solidFill>
              </a:rPr>
              <a:t>SOURCE A: FIXTURE GUIDELINE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4825" y="323850"/>
            <a:ext cx="566737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800" b="1">
                <a:solidFill>
                  <a:srgbClr val="17212B"/>
                </a:solidFill>
              </a:rPr>
              <a:t>GUIDELINE / SOURCE REVEAL</a:t>
            </a:r>
          </a:p>
        </p:txBody>
      </p:sp>
      <p:sp>
        <p:nvSpPr>
          <p:cNvPr id="3" name="Rectangle 2"/>
          <p:cNvSpPr/>
          <p:nvPr/>
        </p:nvSpPr>
        <p:spPr>
          <a:xfrm>
            <a:off x="504825" y="657225"/>
            <a:ext cx="10839450" cy="5524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3600" b="1">
                <a:solidFill>
                  <a:srgbClr val="17212B"/>
                </a:solidFill>
              </a:rPr>
              <a:t>SOURCE REVEAL — Fixture Module</a:t>
            </a:r>
          </a:p>
        </p:txBody>
      </p:sp>
      <p:sp>
        <p:nvSpPr>
          <p:cNvPr id="4" name="Rectangle 3"/>
          <p:cNvSpPr/>
          <p:nvPr/>
        </p:nvSpPr>
        <p:spPr>
          <a:xfrm>
            <a:off x="533400" y="1333500"/>
            <a:ext cx="11106150" cy="66675"/>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333500"/>
            <a:ext cx="1104900" cy="66675"/>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33400" y="1571625"/>
            <a:ext cx="3552825"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3400"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3425"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0100"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001</a:t>
            </a:r>
          </a:p>
        </p:txBody>
      </p:sp>
      <p:sp>
        <p:nvSpPr>
          <p:cNvPr id="10" name="Rectangle 9"/>
          <p:cNvSpPr/>
          <p:nvPr/>
        </p:nvSpPr>
        <p:spPr>
          <a:xfrm>
            <a:off x="2952750"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28950"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REVEAL • 1/B-NR</a:t>
            </a:r>
          </a:p>
        </p:txBody>
      </p:sp>
      <p:sp>
        <p:nvSpPr>
          <p:cNvPr id="12" name="Rectangle 11"/>
          <p:cNvSpPr/>
          <p:nvPr/>
        </p:nvSpPr>
        <p:spPr>
          <a:xfrm>
            <a:off x="657225" y="2247900"/>
            <a:ext cx="3305175"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reveal one is recommended.</a:t>
            </a:r>
          </a:p>
        </p:txBody>
      </p:sp>
      <p:sp>
        <p:nvSpPr>
          <p:cNvPr id="13" name="Rectangle 12"/>
          <p:cNvSpPr/>
          <p:nvPr/>
        </p:nvSpPr>
        <p:spPr>
          <a:xfrm>
            <a:off x="4305300" y="1571625"/>
            <a:ext cx="3552825"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5300"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05325"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0"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002</a:t>
            </a:r>
          </a:p>
        </p:txBody>
      </p:sp>
      <p:sp>
        <p:nvSpPr>
          <p:cNvPr id="17" name="Rectangle 16"/>
          <p:cNvSpPr/>
          <p:nvPr/>
        </p:nvSpPr>
        <p:spPr>
          <a:xfrm>
            <a:off x="6724650"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00850"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REVEAL • 2a/B-R</a:t>
            </a:r>
          </a:p>
        </p:txBody>
      </p:sp>
      <p:sp>
        <p:nvSpPr>
          <p:cNvPr id="19" name="Rectangle 18"/>
          <p:cNvSpPr/>
          <p:nvPr/>
        </p:nvSpPr>
        <p:spPr>
          <a:xfrm>
            <a:off x="4429125" y="2247900"/>
            <a:ext cx="3305175"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reveal two is reasonable.</a:t>
            </a:r>
          </a:p>
        </p:txBody>
      </p:sp>
      <p:sp>
        <p:nvSpPr>
          <p:cNvPr id="20" name="Rectangle 19"/>
          <p:cNvSpPr/>
          <p:nvPr/>
        </p:nvSpPr>
        <p:spPr>
          <a:xfrm>
            <a:off x="8086725" y="1571625"/>
            <a:ext cx="3552825"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86725"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86750"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53425"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003</a:t>
            </a:r>
          </a:p>
        </p:txBody>
      </p:sp>
      <p:sp>
        <p:nvSpPr>
          <p:cNvPr id="24" name="Rectangle 23"/>
          <p:cNvSpPr/>
          <p:nvPr/>
        </p:nvSpPr>
        <p:spPr>
          <a:xfrm>
            <a:off x="10506075"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82275"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REVEAL • 3: No Benefit/A; 1/C-LD</a:t>
            </a:r>
          </a:p>
        </p:txBody>
      </p:sp>
      <p:sp>
        <p:nvSpPr>
          <p:cNvPr id="26" name="Rectangle 25"/>
          <p:cNvSpPr/>
          <p:nvPr/>
        </p:nvSpPr>
        <p:spPr>
          <a:xfrm>
            <a:off x="8210550" y="2247900"/>
            <a:ext cx="3305175"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reveal three.</a:t>
            </a:r>
          </a:p>
        </p:txBody>
      </p:sp>
      <p:sp>
        <p:nvSpPr>
          <p:cNvPr id="27" name="Rectangle 26"/>
          <p:cNvSpPr/>
          <p:nvPr/>
        </p:nvSpPr>
        <p:spPr>
          <a:xfrm>
            <a:off x="533400" y="5915025"/>
            <a:ext cx="1110615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50" b="0">
                <a:solidFill>
                  <a:srgbClr val="17212B"/>
                </a:solidFill>
              </a:rPr>
              <a:t>SOURCE A: FIXTURE GUIDELINE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4825" y="323850"/>
            <a:ext cx="566737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800" b="1">
                <a:solidFill>
                  <a:srgbClr val="17212B"/>
                </a:solidFill>
              </a:rPr>
              <a:t>GUIDELINE / SOURCE REVEAL</a:t>
            </a:r>
          </a:p>
        </p:txBody>
      </p:sp>
      <p:sp>
        <p:nvSpPr>
          <p:cNvPr id="3" name="Rectangle 2"/>
          <p:cNvSpPr/>
          <p:nvPr/>
        </p:nvSpPr>
        <p:spPr>
          <a:xfrm>
            <a:off x="504825" y="657225"/>
            <a:ext cx="10839450" cy="5524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3600" b="1">
                <a:solidFill>
                  <a:srgbClr val="17212B"/>
                </a:solidFill>
              </a:rPr>
              <a:t>SOURCE REVEAL — Fixture Single</a:t>
            </a:r>
          </a:p>
        </p:txBody>
      </p:sp>
      <p:sp>
        <p:nvSpPr>
          <p:cNvPr id="4" name="Rectangle 3"/>
          <p:cNvSpPr/>
          <p:nvPr/>
        </p:nvSpPr>
        <p:spPr>
          <a:xfrm>
            <a:off x="533400" y="1333500"/>
            <a:ext cx="11106150" cy="66675"/>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333500"/>
            <a:ext cx="2219325" cy="66675"/>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33400" y="1571625"/>
            <a:ext cx="11106150"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3400"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3425"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0100"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004</a:t>
            </a:r>
          </a:p>
        </p:txBody>
      </p:sp>
      <p:sp>
        <p:nvSpPr>
          <p:cNvPr id="10" name="Rectangle 9"/>
          <p:cNvSpPr/>
          <p:nvPr/>
        </p:nvSpPr>
        <p:spPr>
          <a:xfrm>
            <a:off x="10506075"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82275"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REVEAL • 2b/C-LD</a:t>
            </a:r>
          </a:p>
        </p:txBody>
      </p:sp>
      <p:sp>
        <p:nvSpPr>
          <p:cNvPr id="12" name="Rectangle 11"/>
          <p:cNvSpPr/>
          <p:nvPr/>
        </p:nvSpPr>
        <p:spPr>
          <a:xfrm>
            <a:off x="657225" y="2247900"/>
            <a:ext cx="10858500"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single reveal body text.</a:t>
            </a:r>
          </a:p>
        </p:txBody>
      </p:sp>
      <p:sp>
        <p:nvSpPr>
          <p:cNvPr id="13" name="Rectangle 12"/>
          <p:cNvSpPr/>
          <p:nvPr/>
        </p:nvSpPr>
        <p:spPr>
          <a:xfrm>
            <a:off x="533400" y="5915025"/>
            <a:ext cx="1110615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50" b="0">
                <a:solidFill>
                  <a:srgbClr val="17212B"/>
                </a:solidFill>
              </a:rPr>
              <a:t>SOURCE A: FIXTURE GUIDELINE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4825" y="323850"/>
            <a:ext cx="566737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800" b="1">
                <a:solidFill>
                  <a:srgbClr val="17212B"/>
                </a:solidFill>
              </a:rPr>
              <a:t>CASE / DECIDE</a:t>
            </a:r>
          </a:p>
        </p:txBody>
      </p:sp>
      <p:sp>
        <p:nvSpPr>
          <p:cNvPr id="3" name="Rectangle 2"/>
          <p:cNvSpPr/>
          <p:nvPr/>
        </p:nvSpPr>
        <p:spPr>
          <a:xfrm>
            <a:off x="504825" y="657225"/>
            <a:ext cx="10839450" cy="5524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3600" b="1">
                <a:solidFill>
                  <a:srgbClr val="17212B"/>
                </a:solidFill>
              </a:rPr>
              <a:t>DECIDE — Fixture Overflow</a:t>
            </a:r>
          </a:p>
        </p:txBody>
      </p:sp>
      <p:sp>
        <p:nvSpPr>
          <p:cNvPr id="4" name="Rectangle 3"/>
          <p:cNvSpPr/>
          <p:nvPr/>
        </p:nvSpPr>
        <p:spPr>
          <a:xfrm>
            <a:off x="533400" y="1333500"/>
            <a:ext cx="11106150" cy="66675"/>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333500"/>
            <a:ext cx="3324225" cy="66675"/>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33400" y="1571625"/>
            <a:ext cx="3552825"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3400"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3425"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0100"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005</a:t>
            </a:r>
          </a:p>
        </p:txBody>
      </p:sp>
      <p:sp>
        <p:nvSpPr>
          <p:cNvPr id="10" name="Rectangle 9"/>
          <p:cNvSpPr/>
          <p:nvPr/>
        </p:nvSpPr>
        <p:spPr>
          <a:xfrm>
            <a:off x="2952750"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28950"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DECIDE</a:t>
            </a:r>
          </a:p>
        </p:txBody>
      </p:sp>
      <p:sp>
        <p:nvSpPr>
          <p:cNvPr id="12" name="Rectangle 11"/>
          <p:cNvSpPr/>
          <p:nvPr/>
        </p:nvSpPr>
        <p:spPr>
          <a:xfrm>
            <a:off x="657225" y="2247900"/>
            <a:ext cx="3305175"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overflow sentence that is deliberately very long. FIXTURE overflow sentence that is deliberately very long. FIXTURE overflow sentence that is deliberately very long. FIXTURE overflow sentence that is deliberately very long. FIXTURE overflow sentence that is deliberately very long. FIXTURE overflow sentence that is deliberately very long. FIXTURE overflow sentence that is deliberately very long. FIXTURE overflow sentence that is deliberately very long. FIXTURE overflow sentence that is deliberately very long. FIXTURE overflow sentence that is deliberately very long. FIXTURE overflow sentence that is deliberately very long. FIXTURE overflow sentence that is deliberately very long. FIXTURE overflow sentence that is deliberately very long. FIXTURE overflow sentence that is deliberately very long.</a:t>
            </a:r>
          </a:p>
        </p:txBody>
      </p:sp>
      <p:sp>
        <p:nvSpPr>
          <p:cNvPr id="13" name="Rectangle 12"/>
          <p:cNvSpPr/>
          <p:nvPr/>
        </p:nvSpPr>
        <p:spPr>
          <a:xfrm>
            <a:off x="4305300" y="1571625"/>
            <a:ext cx="3552825"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5300"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05325"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0"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006</a:t>
            </a:r>
          </a:p>
        </p:txBody>
      </p:sp>
      <p:sp>
        <p:nvSpPr>
          <p:cNvPr id="17" name="Rectangle 16"/>
          <p:cNvSpPr/>
          <p:nvPr/>
        </p:nvSpPr>
        <p:spPr>
          <a:xfrm>
            <a:off x="6724650"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00850"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DECIDE</a:t>
            </a:r>
          </a:p>
        </p:txBody>
      </p:sp>
      <p:sp>
        <p:nvSpPr>
          <p:cNvPr id="19" name="Rectangle 18"/>
          <p:cNvSpPr/>
          <p:nvPr/>
        </p:nvSpPr>
        <p:spPr>
          <a:xfrm>
            <a:off x="4429125" y="2247900"/>
            <a:ext cx="3305175"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short.</a:t>
            </a:r>
          </a:p>
        </p:txBody>
      </p:sp>
      <p:sp>
        <p:nvSpPr>
          <p:cNvPr id="20" name="Rectangle 19"/>
          <p:cNvSpPr/>
          <p:nvPr/>
        </p:nvSpPr>
        <p:spPr>
          <a:xfrm>
            <a:off x="8086725" y="1571625"/>
            <a:ext cx="3552825"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86725"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86750"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53425"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007</a:t>
            </a:r>
          </a:p>
        </p:txBody>
      </p:sp>
      <p:sp>
        <p:nvSpPr>
          <p:cNvPr id="24" name="Rectangle 23"/>
          <p:cNvSpPr/>
          <p:nvPr/>
        </p:nvSpPr>
        <p:spPr>
          <a:xfrm>
            <a:off x="10506075"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82275"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DECIDE</a:t>
            </a:r>
          </a:p>
        </p:txBody>
      </p:sp>
      <p:sp>
        <p:nvSpPr>
          <p:cNvPr id="26" name="Rectangle 25"/>
          <p:cNvSpPr/>
          <p:nvPr/>
        </p:nvSpPr>
        <p:spPr>
          <a:xfrm>
            <a:off x="8210550" y="2247900"/>
            <a:ext cx="3305175"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short.</a:t>
            </a:r>
          </a:p>
        </p:txBody>
      </p:sp>
      <p:sp>
        <p:nvSpPr>
          <p:cNvPr id="27" name="Rectangle 26"/>
          <p:cNvSpPr/>
          <p:nvPr/>
        </p:nvSpPr>
        <p:spPr>
          <a:xfrm>
            <a:off x="533400" y="5915025"/>
            <a:ext cx="1110615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50" b="0">
                <a:solidFill>
                  <a:srgbClr val="17212B"/>
                </a:solidFill>
              </a:rPr>
              <a:t>SOURCE A: FIXTURE GUIDELINE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4825" y="657225"/>
            <a:ext cx="10839450" cy="5524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3600" b="1">
                <a:solidFill>
                  <a:srgbClr val="17212B"/>
                </a:solidFill>
              </a:rPr>
              <a:t>FIXTURE free-form slide</a:t>
            </a:r>
          </a:p>
        </p:txBody>
      </p:sp>
      <p:sp>
        <p:nvSpPr>
          <p:cNvPr id="3" name="Rectangle 2"/>
          <p:cNvSpPr/>
          <p:nvPr/>
        </p:nvSpPr>
        <p:spPr>
          <a:xfrm>
            <a:off x="504825" y="1905000"/>
            <a:ext cx="10839450" cy="28575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body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4825" y="323850"/>
            <a:ext cx="566737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800" b="1">
                <a:solidFill>
                  <a:srgbClr val="17212B"/>
                </a:solidFill>
              </a:rPr>
              <a:t>CASE / DECIDE</a:t>
            </a:r>
          </a:p>
        </p:txBody>
      </p:sp>
      <p:sp>
        <p:nvSpPr>
          <p:cNvPr id="3" name="Rectangle 2"/>
          <p:cNvSpPr/>
          <p:nvPr/>
        </p:nvSpPr>
        <p:spPr>
          <a:xfrm>
            <a:off x="504825" y="657225"/>
            <a:ext cx="10839450" cy="5524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3600" b="1">
                <a:solidFill>
                  <a:srgbClr val="17212B"/>
                </a:solidFill>
              </a:rPr>
              <a:t>DECIDE — Fixture Extra</a:t>
            </a:r>
          </a:p>
        </p:txBody>
      </p:sp>
      <p:sp>
        <p:nvSpPr>
          <p:cNvPr id="4" name="Rectangle 3"/>
          <p:cNvSpPr/>
          <p:nvPr/>
        </p:nvSpPr>
        <p:spPr>
          <a:xfrm>
            <a:off x="533400" y="1333500"/>
            <a:ext cx="11106150" cy="66675"/>
          </a:xfrm>
          <a:prstGeom prst="rect">
            <a:avLst/>
          </a:prstGeom>
          <a:solidFill>
            <a:srgbClr val="DD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333500"/>
            <a:ext cx="4438650" cy="66675"/>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33400" y="1571625"/>
            <a:ext cx="11106150" cy="4191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3400" y="1571625"/>
            <a:ext cx="85725" cy="4191000"/>
          </a:xfrm>
          <a:prstGeom prst="rect">
            <a:avLst/>
          </a:prstGeom>
          <a:solidFill>
            <a:srgbClr val="175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3425" y="1733550"/>
            <a:ext cx="1114425" cy="342900"/>
          </a:xfrm>
          <a:prstGeom prst="rect">
            <a:avLst/>
          </a:prstGeom>
          <a:solidFill>
            <a:srgbClr val="EA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0100" y="1762125"/>
            <a:ext cx="971550"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CASE 008</a:t>
            </a:r>
          </a:p>
        </p:txBody>
      </p:sp>
      <p:sp>
        <p:nvSpPr>
          <p:cNvPr id="10" name="Rectangle 9"/>
          <p:cNvSpPr/>
          <p:nvPr/>
        </p:nvSpPr>
        <p:spPr>
          <a:xfrm>
            <a:off x="10506075" y="1733550"/>
            <a:ext cx="914400" cy="342900"/>
          </a:xfrm>
          <a:prstGeom prst="rect">
            <a:avLst/>
          </a:prstGeom>
          <a:solidFill>
            <a:srgbClr val="FF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82275" y="1762125"/>
            <a:ext cx="771525" cy="2571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700" b="1">
                <a:solidFill>
                  <a:srgbClr val="17212B"/>
                </a:solidFill>
              </a:rPr>
              <a:t>DECIDE</a:t>
            </a:r>
          </a:p>
        </p:txBody>
      </p:sp>
      <p:sp>
        <p:nvSpPr>
          <p:cNvPr id="12" name="Rectangle 11"/>
          <p:cNvSpPr/>
          <p:nvPr/>
        </p:nvSpPr>
        <p:spPr>
          <a:xfrm>
            <a:off x="657225" y="2247900"/>
            <a:ext cx="10858500" cy="340042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2400" b="0">
                <a:solidFill>
                  <a:srgbClr val="17212B"/>
                </a:solidFill>
              </a:rPr>
              <a:t>FIXTURE body.</a:t>
            </a:r>
          </a:p>
        </p:txBody>
      </p:sp>
      <p:sp>
        <p:nvSpPr>
          <p:cNvPr id="13" name="Rectangle 12"/>
          <p:cNvSpPr/>
          <p:nvPr/>
        </p:nvSpPr>
        <p:spPr>
          <a:xfrm>
            <a:off x="533400" y="5915025"/>
            <a:ext cx="1110615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50" b="0">
                <a:solidFill>
                  <a:srgbClr val="17212B"/>
                </a:solidFill>
              </a:rPr>
              <a:t>SOURCE A: FIXTURE GUIDELINE</a:t>
            </a:r>
          </a:p>
        </p:txBody>
      </p:sp>
      <p:sp>
        <p:nvSpPr>
          <p:cNvPr id="14" name="Rectangle 13"/>
          <p:cNvSpPr/>
          <p:nvPr/>
        </p:nvSpPr>
        <p:spPr>
          <a:xfrm>
            <a:off x="8572500" y="285750"/>
            <a:ext cx="2857500" cy="2857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00" b="0">
                <a:solidFill>
                  <a:srgbClr val="17212B"/>
                </a:solidFill>
              </a:rPr>
              <a:t>FIXTURE stray label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